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0B1D33"/>
                </a:solidFill>
                <a:latin typeface="Arial"/>
              </a:defRPr>
            </a:pPr>
            <a:r>
              <a:rPr sz="1100" b="0" i="0" u="none" strike="noStrike">
                <a:solidFill>
                  <a:srgbClr val="0B1D33"/>
                </a:solidFill>
                <a:latin typeface="Arial"/>
              </a:rPr>
              <a:t>Governor resolution tiers (relative fidelity)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Fidelity</c:v>
                </c:pt>
              </c:strCache>
            </c:strRef>
          </c:tx>
          <c:spPr>
            <a:solidFill>
              <a:srgbClr val="C9CFD6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A2B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9CFD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9CFD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9CFD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8912D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9CFD6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T1 Macro-topology</c:v>
                  </c:pt>
                  <c:pt idx="1">
                    <c:v>T2 Queue dynamics</c:v>
                  </c:pt>
                  <c:pt idx="2">
                    <c:v>T3 Physical RF</c:v>
                  </c:pt>
                  <c:pt idx="3">
                    <c:v>T4 URLLC micro-packet</c:v>
                  </c:pt>
                  <c:pt idx="4">
                    <c:v>T5 Green energy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25</c:v>
                </c:pt>
                <c:pt idx="1">
                  <c:v>55</c:v>
                </c:pt>
                <c:pt idx="2">
                  <c:v>75</c:v>
                </c:pt>
                <c:pt idx="3">
                  <c:v>95</c:v>
                </c:pt>
                <c:pt idx="4">
                  <c:v>20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1A2B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A2B3C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0B1D33"/>
                </a:solidFill>
                <a:latin typeface="Arial"/>
              </a:defRPr>
            </a:pPr>
            <a:r>
              <a:rPr sz="1100" b="0" i="0" u="none" strike="noStrike">
                <a:solidFill>
                  <a:srgbClr val="0B1D33"/>
                </a:solidFill>
                <a:latin typeface="Arial"/>
              </a:rPr>
              <a:t>Link rate (Mbps)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Rate</c:v>
                </c:pt>
              </c:strCache>
            </c:strRef>
          </c:tx>
          <c:spPr>
            <a:solidFill>
              <a:srgbClr val="9AA7B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1A2B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A7B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64545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2A06B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Clear sky</c:v>
                  </c:pt>
                  <c:pt idx="1">
                    <c:v>Rain · MCS 0 floor</c:v>
                  </c:pt>
                  <c:pt idx="2">
                    <c:v>Rain · MCS 4 floor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1000</c:v>
                </c:pt>
                <c:pt idx="1">
                  <c:v>100</c:v>
                </c:pt>
                <c:pt idx="2">
                  <c:v>500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1A2B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A2B3C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are the adapters? Software translators that bridge the different timing, data formats and control protocols of the four parts of the twin.
Standards: TM Forum TMF921, 3GPP TS 28.561, ITU-T Y.3090, IRTF NMRG digital-twin drafts, IETF RFC 8040 RESTCONF / RFC 7950 YANG 1.1, with ETSI TeraFlowSDN as the SDN controller.
Closed-loop automation: every change is predicted in a discrete-event what-if run before it is actuated on hardware with a two-phase commit.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a telecom digital twin the components speak different languages and run on very different timescales. Adapters bridge that semantic and temporal gap.
1. Declarative intent (human operator / SLA): natural language or JSON, minutes to days. Example: 'Ensure URLLC latency &lt; 1.5 ms and 99.999% availability during storms'.
2. SDN controller (ETSI TeraFlowSDN): Context DB, gRPC, CSPF; seconds (control plane). Data: device UUIDs, endpoints, topology graphs, TI-LFA backup paths.
3. Discrete simulator (ns-3 core): C++ event queue and packets; microseconds. Data: QueueDisc buffer drops, Wi-Fi EDCA AC_VO, link propagation delay.
4. Physical hardware (Ceragon MH-T261): RFC 8040 RESTCONF and PHY; sub-millisecond. Data: V-band 60.48 GHz, ACM MCS 0-9, RSSI/SNR, RF registers.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Intent adapter: translates natural-language or SLA bounds into TeraFlowSDN service and CSPF requests (TM Forum TMF921).
Simulation adapter: syncs the live TFS graph into the ns-3 C++ discrete-event engine, scopes fidelity (tiers 1-5) and returns microsecond traces. The IRTF NMRG network-digital-twin drafts describe this twin-to-simulator interface; they are research drafts, not IETF standards.
Southbound driver: stages candidate-datastore diffs and runs two-phase commits to the Ceragon MH-T261 over RFC 8040 RESTCONF.
ITU-T Y.3090 defines the layered twin reference model (physical network layer, digital twin layer, application layer). 3GPP TS 28.561 defines management of the network digital twin and its closed loop.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TMF921: REST API for declarative intent and SLA expectations. The operator sets latency and availability without low-level scripts.
3GPP TS 28.561 (Management aspects of network digital twins): twin lifecycle and closed-loop control. In our platform it governs the 4-phase pre-flight gate: latency envelope, queue stability, hardware capability, spectral mask.
ITU-T Y.3090 (Digital twin network: requirements and architecture): layered reference model and synchronisation between the physical network and the twin. Powers our real-time shadow datastore.
IRTF NMRG (Network Management Research Group) drafts: network-digital-twin architecture and interface drafts. Used as the model for the east-west protocol that injects what-if perturbations and streams discrete telemetry back. Note: these are research drafts, not standards.
RFC 8040 / RFC 7950: RESTCONF over HTTP to YANG datastores. Southbound interface to the Ceragon MH-T261 (192.168.1.225:80).
ETSI TeraFlowSDN: open-source SDN controller hosted by an ETSI Open Source Group (not a standard itself). Context (gRPC :10010), Device driver (:10020), Service/PCE (:10030), Monitoring telemetry (:10040).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1: the adapter queries the TeraFlowSDN Context service for the active 34-node graph, link bandwidths and live Ceragon RF metrics.
Step 2: the simulation resolution governor scopes the graph to the target domain instead of simulating all 34 nodes. Example: Tier 4 (URLLC micro-packet) uses 23 nodes and runs in about 1150 ms.
Step 3: what-if stress is injected into ns-3: a 3.5x bulk traffic surge (bufferbloat) or ITU-R P.838 rain fade (ACM rate falls from 1 Gbps to 100 Mbps).
Step 4: ns-3 simulates microsecond packet events on cersrv-029, writes /tmp/tsn_wifi_ceragon_anim.xml, and the adapter streams queues, drops and latencies back to the twin.
Implementation: remote execution over SSH/JSON to ns-3.45 on cersrv-029, with an analytical local fallback for standalone mode. NetAnim AnimationInterface gives timeline playback (0.000-2.500 s) with 10 buffer slots and tail-drop alerts. Deterministic TSN mapping: 802.1Q PCP class 6 and EDCA AC_VO go to PfifoFast band 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Scenario values are the ones used in this deck: rain fade (ITU-R P.838) pushes adaptive coding and modulation down so the link rate falls from about 1 Gbps to 100 Mbps. Raising the ACM floor from MCS 0 to MCS 4 keeps at least 500 Mbps.
The same candidate configuration also moves URLLC traffic into IEEE 802.1Q PCP class 6 (PfifoFast band 0) and retunes the carrier from 60.48 GHz to 64.80 GHz.
ns-3 predicts 1.12 ms latency for this configuration, inside the 1.5 ms SLA, so it passes gate 1 of the pre-flight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Stage 1, candidate datastore staging: the AI decision engine output is translated into YANG configuration and staged in the TeraFlowSDN candidate datastore. Target device: Ceragon MH-T261 (UUID f676623c...). Changes: ACM floor MCS 0 -&gt; MCS 4 (&gt;= 500 Mbps), QoS FIFO -&gt; IEEE 802.1Q PCP class 6 (PfifoFast), carrier 60.48 GHz -&gt; 64.80 GHz.
Stage 2, pre-flight safety gate (3GPP TS 28.561): gate 1 latency (predicted 1.12 ms &lt;= 1.5 ms), gate 2 queue stability (buffer occupancy &lt; 40%), gate 3 hardware capability (MH-T261 supports MCS 4), gate 4 spectral mask (64.80 GHz approved in V-band).
Stage 3, two-phase commit over RESTCONF to 192.168.1.225:80: phase 1 PATCH the candidate datastore, phase 2 POST ietf-netconf:commit, then continuous RFC 8040 telemetry polling with automatic revert if health checks fail.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loop: SLA intent is ingested (TMF921), simulated in ns-3, safety-verified against the TS 28.561 gates, actuated through TeraFlowSDN over RESTCONF, and monitored through live telemetry. End to end this takes about 1.9 to 2.2 s.
The ns-3 what-if run at Tier 4 is about 1.15 s of that; the remaining 0.75-1.05 s is topology reconciliation, gate checks and the two-phase commit (derived as total minus simulation time).
This replaces hours of manual CLI troubleshooting.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Zero-risk what-if validation: operators test severe perturbations (3.5x bulk surges, category-5 tropical rain fade, fibre cuts) in a microsecond-accurate twin without risking live production circuits.
Standardised multi-vendor interoperability: built on open telecom specifications (TMF921, 3GPP TS 28.561, ITU-T Y.3090, IRTF NMRG twin drafts, RFC 8040 RESTCONF) with the open-source ETSI TeraFlowSDN controller.
Seconds-scale closed loop: SLA intent is ingested, simulated, verified and actuated in about 1.9-2.2 s. (The original deck called this 'sub-second'; the measured end-to-end figure is about 2 s.)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5" Type="http://schemas.openxmlformats.org/officeDocument/2006/relationships/chart" Target="/ppt/charts/chart1.xml"/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image" Target="../media/image-7-9.png"/><Relationship Id="rId10" Type="http://schemas.openxmlformats.org/officeDocument/2006/relationships/image" Target="../media/image-7-10.png"/><Relationship Id="rId11" Type="http://schemas.openxmlformats.org/officeDocument/2006/relationships/image" Target="../media/image-7-11.png"/><Relationship Id="rId12" Type="http://schemas.openxmlformats.org/officeDocument/2006/relationships/image" Target="../media/image-7-12.png"/><Relationship Id="rId13" Type="http://schemas.openxmlformats.org/officeDocument/2006/relationships/image" Target="../media/image-7-13.png"/><Relationship Id="rId14" Type="http://schemas.openxmlformats.org/officeDocument/2006/relationships/image" Target="../media/image-7-14.pn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D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2296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FA3B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TELECOM DIGITAL TWIN ARCHITECTURE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5120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Digital Twin Adapters &amp; Standards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69748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D6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operator intent, ETSI TeraFlowSDN, ns-3 co-simulation and Ceragon microwave hardware work as one closed loop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34340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Ceragon Networks  ·  ETSI TeraFlowSDN research  ·  Standalone &amp; production hybrid architecture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592824" y="1060704"/>
            <a:ext cx="0" cy="2880360"/>
          </a:xfrm>
          <a:prstGeom prst="line">
            <a:avLst/>
          </a:prstGeom>
          <a:noFill/>
          <a:ln w="25400">
            <a:solidFill>
              <a:srgbClr val="3A5575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>
            <a:off x="6309360" y="777240"/>
            <a:ext cx="566928" cy="566928"/>
          </a:xfrm>
          <a:prstGeom prst="ellipse">
            <a:avLst/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51092" y="918972"/>
            <a:ext cx="283464" cy="28346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7040880" y="832104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Intent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7040880" y="1078992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 &amp; SLA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309360" y="1737360"/>
            <a:ext cx="566928" cy="566928"/>
          </a:xfrm>
          <a:prstGeom prst="ellipse">
            <a:avLst/>
          </a:prstGeom>
          <a:solidFill>
            <a:srgbClr val="0FA3B1"/>
          </a:solidFill>
          <a:ln w="12700">
            <a:solidFill>
              <a:srgbClr val="0FA3B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1092" y="1879092"/>
            <a:ext cx="283464" cy="28346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7040880" y="1792224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SDN controller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7040880" y="2039112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ETSI TeraFlowSDN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6309360" y="2697480"/>
            <a:ext cx="566928" cy="566928"/>
          </a:xfrm>
          <a:prstGeom prst="ellipse">
            <a:avLst/>
          </a:prstGeom>
          <a:solidFill>
            <a:srgbClr val="E8912D"/>
          </a:solidFill>
          <a:ln w="12700">
            <a:solidFill>
              <a:srgbClr val="E8912D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1092" y="2839212"/>
            <a:ext cx="283464" cy="28346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7040880" y="2752344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Simulator</a:t>
            </a:r>
            <a:endParaRPr lang="en-US" sz="1300" dirty="0"/>
          </a:p>
        </p:txBody>
      </p:sp>
      <p:sp>
        <p:nvSpPr>
          <p:cNvPr id="18" name="Text 13"/>
          <p:cNvSpPr txBox="1"/>
          <p:nvPr/>
        </p:nvSpPr>
        <p:spPr>
          <a:xfrm>
            <a:off x="7040880" y="2999232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ns-3 discrete events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6309360" y="3657600"/>
            <a:ext cx="566928" cy="566928"/>
          </a:xfrm>
          <a:prstGeom prst="ellipse">
            <a:avLst/>
          </a:prstGeom>
          <a:solidFill>
            <a:srgbClr val="22A06B"/>
          </a:solidFill>
          <a:ln w="12700">
            <a:solidFill>
              <a:srgbClr val="22A06B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51092" y="3799332"/>
            <a:ext cx="283464" cy="28346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040880" y="3712464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Hardware</a:t>
            </a:r>
            <a:endParaRPr lang="en-US" sz="1300" dirty="0"/>
          </a:p>
        </p:txBody>
      </p:sp>
      <p:sp>
        <p:nvSpPr>
          <p:cNvPr id="22" name="Text 16"/>
          <p:cNvSpPr txBox="1"/>
          <p:nvPr/>
        </p:nvSpPr>
        <p:spPr>
          <a:xfrm>
            <a:off x="7040880" y="3959352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Ceragon MH-T261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FA3B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1D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components, four languages, four clocks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564978" y="1234440"/>
            <a:ext cx="0" cy="2880360"/>
          </a:xfrm>
          <a:prstGeom prst="line">
            <a:avLst/>
          </a:prstGeom>
          <a:noFill/>
          <a:ln w="9525">
            <a:solidFill>
              <a:srgbClr val="D5DDE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3199218" y="416052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µs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924753" y="1234440"/>
            <a:ext cx="0" cy="2880360"/>
          </a:xfrm>
          <a:prstGeom prst="line">
            <a:avLst/>
          </a:prstGeom>
          <a:noFill/>
          <a:ln w="9525">
            <a:solidFill>
              <a:srgbClr val="D5DDE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58993" y="416052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284529" y="1234440"/>
            <a:ext cx="0" cy="2880360"/>
          </a:xfrm>
          <a:prstGeom prst="line">
            <a:avLst/>
          </a:prstGeom>
          <a:noFill/>
          <a:ln w="9525">
            <a:solidFill>
              <a:srgbClr val="D5DDE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918769" y="416052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090492" y="1234440"/>
            <a:ext cx="0" cy="2880360"/>
          </a:xfrm>
          <a:prstGeom prst="line">
            <a:avLst/>
          </a:prstGeom>
          <a:noFill/>
          <a:ln w="9525">
            <a:solidFill>
              <a:srgbClr val="D5DDE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724732" y="416052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896454" y="1234440"/>
            <a:ext cx="0" cy="2880360"/>
          </a:xfrm>
          <a:prstGeom prst="line">
            <a:avLst/>
          </a:prstGeom>
          <a:noFill/>
          <a:ln w="9525">
            <a:solidFill>
              <a:srgbClr val="D5DDE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530694" y="416052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h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8522047" y="1234440"/>
            <a:ext cx="0" cy="2880360"/>
          </a:xfrm>
          <a:prstGeom prst="line">
            <a:avLst/>
          </a:prstGeom>
          <a:noFill/>
          <a:ln w="9525">
            <a:solidFill>
              <a:srgbClr val="D5DDE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156287" y="416052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day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429000" y="4114800"/>
            <a:ext cx="5257800" cy="0"/>
          </a:xfrm>
          <a:prstGeom prst="line">
            <a:avLst/>
          </a:prstGeom>
          <a:noFill/>
          <a:ln w="12700">
            <a:solidFill>
              <a:srgbClr val="5A6B7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429000" y="4407408"/>
            <a:ext cx="525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timescale (log)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57200" y="1417320"/>
            <a:ext cx="457200" cy="457200"/>
          </a:xfrm>
          <a:prstGeom prst="ellipse">
            <a:avLst/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1500" y="1531620"/>
            <a:ext cx="228600" cy="228600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1051560" y="139903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2B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Declarative intent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1051560" y="1655064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language / JSON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7090492" y="1481328"/>
            <a:ext cx="1431555" cy="329184"/>
          </a:xfrm>
          <a:prstGeom prst="roundRect">
            <a:avLst>
              <a:gd name="adj" fmla="val 22222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090492" y="1481328"/>
            <a:ext cx="14315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minutes – days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457200" y="2103120"/>
            <a:ext cx="457200" cy="457200"/>
          </a:xfrm>
          <a:prstGeom prst="ellipse">
            <a:avLst/>
          </a:prstGeom>
          <a:solidFill>
            <a:srgbClr val="0FA3B1"/>
          </a:solidFill>
          <a:ln w="12700">
            <a:solidFill>
              <a:srgbClr val="0FA3B1"/>
            </a:solidFill>
            <a:prstDash val="solid"/>
          </a:ln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2217420"/>
            <a:ext cx="228600" cy="228600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1051560" y="208483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2B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SDN controller</a:t>
            </a:r>
            <a:endParaRPr lang="en-US" sz="1250" dirty="0"/>
          </a:p>
        </p:txBody>
      </p:sp>
      <p:sp>
        <p:nvSpPr>
          <p:cNvPr id="27" name="Text 23"/>
          <p:cNvSpPr txBox="1"/>
          <p:nvPr/>
        </p:nvSpPr>
        <p:spPr>
          <a:xfrm>
            <a:off x="1051560" y="2340864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DB · gRPC · CSPF</a:t>
            </a:r>
            <a:endParaRPr lang="en-US" sz="1050" dirty="0"/>
          </a:p>
        </p:txBody>
      </p:sp>
      <p:sp>
        <p:nvSpPr>
          <p:cNvPr id="28" name="Shape 24"/>
          <p:cNvSpPr/>
          <p:nvPr/>
        </p:nvSpPr>
        <p:spPr>
          <a:xfrm>
            <a:off x="6148552" y="2167128"/>
            <a:ext cx="941940" cy="329184"/>
          </a:xfrm>
          <a:prstGeom prst="roundRect">
            <a:avLst>
              <a:gd name="adj" fmla="val 22222"/>
            </a:avLst>
          </a:prstGeom>
          <a:solidFill>
            <a:srgbClr val="0FA3B1"/>
          </a:solidFill>
          <a:ln w="12700">
            <a:solidFill>
              <a:srgbClr val="0FA3B1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6148552" y="2167128"/>
            <a:ext cx="9419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seconds</a:t>
            </a:r>
            <a:endParaRPr lang="en-US" sz="1050" dirty="0"/>
          </a:p>
        </p:txBody>
      </p:sp>
      <p:sp>
        <p:nvSpPr>
          <p:cNvPr id="30" name="Shape 26"/>
          <p:cNvSpPr/>
          <p:nvPr/>
        </p:nvSpPr>
        <p:spPr>
          <a:xfrm>
            <a:off x="457200" y="2788920"/>
            <a:ext cx="457200" cy="457200"/>
          </a:xfrm>
          <a:prstGeom prst="ellipse">
            <a:avLst/>
          </a:prstGeom>
          <a:solidFill>
            <a:srgbClr val="E8912D"/>
          </a:solidFill>
          <a:ln w="12700">
            <a:solidFill>
              <a:srgbClr val="E8912D"/>
            </a:solidFill>
            <a:prstDash val="solid"/>
          </a:ln>
        </p:spPr>
      </p:sp>
      <p:pic>
        <p:nvPicPr>
          <p:cNvPr id="3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2903220"/>
            <a:ext cx="228600" cy="228600"/>
          </a:xfrm>
          <a:prstGeom prst="rect">
            <a:avLst/>
          </a:prstGeom>
        </p:spPr>
      </p:pic>
      <p:sp>
        <p:nvSpPr>
          <p:cNvPr id="32" name="Text 27"/>
          <p:cNvSpPr txBox="1"/>
          <p:nvPr/>
        </p:nvSpPr>
        <p:spPr>
          <a:xfrm>
            <a:off x="1051560" y="277063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2B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Discrete simulator</a:t>
            </a:r>
            <a:endParaRPr lang="en-US" sz="1250" dirty="0"/>
          </a:p>
        </p:txBody>
      </p:sp>
      <p:sp>
        <p:nvSpPr>
          <p:cNvPr id="33" name="Text 28"/>
          <p:cNvSpPr txBox="1"/>
          <p:nvPr/>
        </p:nvSpPr>
        <p:spPr>
          <a:xfrm>
            <a:off x="1051560" y="3026664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C++ event queue &amp; packets</a:t>
            </a:r>
            <a:endParaRPr lang="en-US" sz="1050" dirty="0"/>
          </a:p>
        </p:txBody>
      </p:sp>
      <p:sp>
        <p:nvSpPr>
          <p:cNvPr id="34" name="Shape 29"/>
          <p:cNvSpPr/>
          <p:nvPr/>
        </p:nvSpPr>
        <p:spPr>
          <a:xfrm>
            <a:off x="3564978" y="2852928"/>
            <a:ext cx="1359776" cy="329184"/>
          </a:xfrm>
          <a:prstGeom prst="roundRect">
            <a:avLst>
              <a:gd name="adj" fmla="val 22222"/>
            </a:avLst>
          </a:prstGeom>
          <a:solidFill>
            <a:srgbClr val="E8912D"/>
          </a:solidFill>
          <a:ln w="12700">
            <a:solidFill>
              <a:srgbClr val="E8912D"/>
            </a:solidFill>
            <a:prstDash val="solid"/>
          </a:ln>
        </p:spPr>
      </p:sp>
      <p:sp>
        <p:nvSpPr>
          <p:cNvPr id="35" name="Text 30"/>
          <p:cNvSpPr txBox="1"/>
          <p:nvPr/>
        </p:nvSpPr>
        <p:spPr>
          <a:xfrm>
            <a:off x="3564978" y="2852928"/>
            <a:ext cx="1359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microseconds</a:t>
            </a:r>
            <a:endParaRPr lang="en-US" sz="1050" dirty="0"/>
          </a:p>
        </p:txBody>
      </p:sp>
      <p:sp>
        <p:nvSpPr>
          <p:cNvPr id="36" name="Shape 31"/>
          <p:cNvSpPr/>
          <p:nvPr/>
        </p:nvSpPr>
        <p:spPr>
          <a:xfrm>
            <a:off x="457200" y="3474720"/>
            <a:ext cx="457200" cy="457200"/>
          </a:xfrm>
          <a:prstGeom prst="ellipse">
            <a:avLst/>
          </a:prstGeom>
          <a:solidFill>
            <a:srgbClr val="22A06B"/>
          </a:solidFill>
          <a:ln w="12700">
            <a:solidFill>
              <a:srgbClr val="22A06B"/>
            </a:solidFill>
            <a:prstDash val="solid"/>
          </a:ln>
        </p:spPr>
      </p:sp>
      <p:pic>
        <p:nvPicPr>
          <p:cNvPr id="3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3589020"/>
            <a:ext cx="228600" cy="228600"/>
          </a:xfrm>
          <a:prstGeom prst="rect">
            <a:avLst/>
          </a:prstGeom>
        </p:spPr>
      </p:pic>
      <p:sp>
        <p:nvSpPr>
          <p:cNvPr id="38" name="Text 32"/>
          <p:cNvSpPr txBox="1"/>
          <p:nvPr/>
        </p:nvSpPr>
        <p:spPr>
          <a:xfrm>
            <a:off x="1051560" y="345643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2B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Physical hardware</a:t>
            </a:r>
            <a:endParaRPr lang="en-US" sz="1250" dirty="0"/>
          </a:p>
        </p:txBody>
      </p:sp>
      <p:sp>
        <p:nvSpPr>
          <p:cNvPr id="39" name="Text 33"/>
          <p:cNvSpPr txBox="1"/>
          <p:nvPr/>
        </p:nvSpPr>
        <p:spPr>
          <a:xfrm>
            <a:off x="1051560" y="3712464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RESTCONF · PHY registers</a:t>
            </a:r>
            <a:endParaRPr lang="en-US" sz="1050" dirty="0"/>
          </a:p>
        </p:txBody>
      </p:sp>
      <p:sp>
        <p:nvSpPr>
          <p:cNvPr id="40" name="Shape 34"/>
          <p:cNvSpPr/>
          <p:nvPr/>
        </p:nvSpPr>
        <p:spPr>
          <a:xfrm>
            <a:off x="4018236" y="3538728"/>
            <a:ext cx="906517" cy="329184"/>
          </a:xfrm>
          <a:prstGeom prst="roundRect">
            <a:avLst>
              <a:gd name="adj" fmla="val 22222"/>
            </a:avLst>
          </a:prstGeom>
          <a:solidFill>
            <a:srgbClr val="22A06B"/>
          </a:solidFill>
          <a:ln w="12700">
            <a:solidFill>
              <a:srgbClr val="22A06B"/>
            </a:solidFill>
            <a:prstDash val="solid"/>
          </a:ln>
        </p:spPr>
      </p:sp>
      <p:sp>
        <p:nvSpPr>
          <p:cNvPr id="41" name="Text 35"/>
          <p:cNvSpPr txBox="1"/>
          <p:nvPr/>
        </p:nvSpPr>
        <p:spPr>
          <a:xfrm>
            <a:off x="4018236" y="3538728"/>
            <a:ext cx="90651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sub-ms</a:t>
            </a:r>
            <a:endParaRPr lang="en-US" sz="1050" dirty="0"/>
          </a:p>
        </p:txBody>
      </p:sp>
      <p:sp>
        <p:nvSpPr>
          <p:cNvPr id="42" name="Shape 36"/>
          <p:cNvSpPr/>
          <p:nvPr/>
        </p:nvSpPr>
        <p:spPr>
          <a:xfrm>
            <a:off x="457200" y="4434840"/>
            <a:ext cx="2788920" cy="457200"/>
          </a:xfrm>
          <a:prstGeom prst="roundRect">
            <a:avLst>
              <a:gd name="adj" fmla="val 16000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43" name="Text 37"/>
          <p:cNvSpPr txBox="1"/>
          <p:nvPr/>
        </p:nvSpPr>
        <p:spPr>
          <a:xfrm>
            <a:off x="566928" y="443484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Adapters </a:t>
            </a:r>
            <a:pPr indent="0" marL="0">
              <a:buNone/>
            </a:pPr>
            <a:r>
              <a:rPr lang="en-US" sz="10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translate both the protocol and the clock between neighbours.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FA3B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AT A GLANCE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1D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adapters connect four domains in one loop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11880" y="1188720"/>
            <a:ext cx="5120640" cy="1325880"/>
          </a:xfrm>
          <a:prstGeom prst="roundRect">
            <a:avLst>
              <a:gd name="adj" fmla="val 6897"/>
            </a:avLst>
          </a:prstGeom>
          <a:solidFill>
            <a:srgbClr val="EAF7F8"/>
          </a:solidFill>
          <a:ln w="12700">
            <a:solidFill>
              <a:srgbClr val="0FA3B1"/>
            </a:solidFill>
            <a:prstDash val="dash"/>
          </a:ln>
        </p:spPr>
      </p:sp>
      <p:sp>
        <p:nvSpPr>
          <p:cNvPr id="5" name="Text 3"/>
          <p:cNvSpPr txBox="1"/>
          <p:nvPr/>
        </p:nvSpPr>
        <p:spPr>
          <a:xfrm>
            <a:off x="3703320" y="122529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0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TWIN LAYER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3611880" y="3474720"/>
            <a:ext cx="5120640" cy="1188720"/>
          </a:xfrm>
          <a:prstGeom prst="roundRect">
            <a:avLst>
              <a:gd name="adj" fmla="val 7692"/>
            </a:avLst>
          </a:prstGeom>
          <a:solidFill>
            <a:srgbClr val="EAF6F0"/>
          </a:solidFill>
          <a:ln w="12700">
            <a:solidFill>
              <a:srgbClr val="22A06B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5532120" y="365760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22A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NETWORK LAYER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5532120" y="393192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Layers follow ITU-T Y.3090; twin lifecycle follows 3GPP TS 28.561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1463040"/>
            <a:ext cx="160020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7C5C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092708" y="1554480"/>
            <a:ext cx="329184" cy="329184"/>
          </a:xfrm>
          <a:prstGeom prst="ellipse">
            <a:avLst/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5004" y="1636776"/>
            <a:ext cx="164592" cy="164592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457200" y="1920240"/>
            <a:ext cx="1600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2B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Operator intent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2139696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 · natural language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3794760" y="1463040"/>
            <a:ext cx="160020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FA3B1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4430268" y="1554480"/>
            <a:ext cx="329184" cy="329184"/>
          </a:xfrm>
          <a:prstGeom prst="ellipse">
            <a:avLst/>
          </a:prstGeom>
          <a:solidFill>
            <a:srgbClr val="0FA3B1"/>
          </a:solidFill>
          <a:ln w="12700">
            <a:solidFill>
              <a:srgbClr val="0FA3B1"/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12564" y="1636776"/>
            <a:ext cx="164592" cy="164592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3794760" y="1920240"/>
            <a:ext cx="1600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2B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TeraFlowSDN</a:t>
            </a:r>
            <a:endParaRPr lang="en-US" sz="1100" dirty="0"/>
          </a:p>
        </p:txBody>
      </p:sp>
      <p:sp>
        <p:nvSpPr>
          <p:cNvPr id="18" name="Text 14"/>
          <p:cNvSpPr txBox="1"/>
          <p:nvPr/>
        </p:nvSpPr>
        <p:spPr>
          <a:xfrm>
            <a:off x="3794760" y="2139696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ETSI OSG SDN controller</a:t>
            </a:r>
            <a:endParaRPr lang="en-US" sz="900" dirty="0"/>
          </a:p>
        </p:txBody>
      </p:sp>
      <p:sp>
        <p:nvSpPr>
          <p:cNvPr id="19" name="Shape 15"/>
          <p:cNvSpPr/>
          <p:nvPr/>
        </p:nvSpPr>
        <p:spPr>
          <a:xfrm>
            <a:off x="6995160" y="1463040"/>
            <a:ext cx="160020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E8912D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7630668" y="1554480"/>
            <a:ext cx="329184" cy="329184"/>
          </a:xfrm>
          <a:prstGeom prst="ellipse">
            <a:avLst/>
          </a:prstGeom>
          <a:solidFill>
            <a:srgbClr val="E8912D"/>
          </a:solidFill>
          <a:ln w="12700">
            <a:solidFill>
              <a:srgbClr val="E8912D"/>
            </a:solidFill>
            <a:prstDash val="solid"/>
          </a:ln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12964" y="1636776"/>
            <a:ext cx="164592" cy="164592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6995160" y="1920240"/>
            <a:ext cx="1600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2B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ns-3 simulator</a:t>
            </a:r>
            <a:endParaRPr lang="en-US" sz="1100" dirty="0"/>
          </a:p>
        </p:txBody>
      </p:sp>
      <p:sp>
        <p:nvSpPr>
          <p:cNvPr id="23" name="Text 18"/>
          <p:cNvSpPr txBox="1"/>
          <p:nvPr/>
        </p:nvSpPr>
        <p:spPr>
          <a:xfrm>
            <a:off x="6995160" y="2139696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discrete-event core</a:t>
            </a:r>
            <a:endParaRPr lang="en-US" sz="900" dirty="0"/>
          </a:p>
        </p:txBody>
      </p:sp>
      <p:sp>
        <p:nvSpPr>
          <p:cNvPr id="24" name="Shape 19"/>
          <p:cNvSpPr/>
          <p:nvPr/>
        </p:nvSpPr>
        <p:spPr>
          <a:xfrm>
            <a:off x="3794760" y="3611880"/>
            <a:ext cx="160020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2A06B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12000"/>
              </a:srgbClr>
            </a:outerShdw>
          </a:effectLst>
        </p:spPr>
      </p:sp>
      <p:sp>
        <p:nvSpPr>
          <p:cNvPr id="25" name="Shape 20"/>
          <p:cNvSpPr/>
          <p:nvPr/>
        </p:nvSpPr>
        <p:spPr>
          <a:xfrm>
            <a:off x="4430268" y="3703320"/>
            <a:ext cx="329184" cy="329184"/>
          </a:xfrm>
          <a:prstGeom prst="ellipse">
            <a:avLst/>
          </a:prstGeom>
          <a:solidFill>
            <a:srgbClr val="22A06B"/>
          </a:solidFill>
          <a:ln w="12700">
            <a:solidFill>
              <a:srgbClr val="22A06B"/>
            </a:solidFill>
            <a:prstDash val="solid"/>
          </a:ln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12564" y="3785616"/>
            <a:ext cx="164592" cy="164592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3794760" y="4069080"/>
            <a:ext cx="1600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2B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Ceragon MH-T261</a:t>
            </a:r>
            <a:endParaRPr lang="en-US" sz="1100" dirty="0"/>
          </a:p>
        </p:txBody>
      </p:sp>
      <p:sp>
        <p:nvSpPr>
          <p:cNvPr id="28" name="Text 22"/>
          <p:cNvSpPr txBox="1"/>
          <p:nvPr/>
        </p:nvSpPr>
        <p:spPr>
          <a:xfrm>
            <a:off x="3794760" y="4288536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GHz V-band radio</a:t>
            </a:r>
            <a:endParaRPr lang="en-US" sz="900" dirty="0"/>
          </a:p>
        </p:txBody>
      </p:sp>
      <p:sp>
        <p:nvSpPr>
          <p:cNvPr id="29" name="Shape 23"/>
          <p:cNvSpPr/>
          <p:nvPr/>
        </p:nvSpPr>
        <p:spPr>
          <a:xfrm>
            <a:off x="2057400" y="1920240"/>
            <a:ext cx="1737360" cy="0"/>
          </a:xfrm>
          <a:prstGeom prst="line">
            <a:avLst/>
          </a:prstGeom>
          <a:noFill/>
          <a:ln w="22225">
            <a:solidFill>
              <a:srgbClr val="0B1D33"/>
            </a:solidFill>
            <a:prstDash val="solid"/>
            <a:headEnd type="none"/>
            <a:tailEnd type="triangle"/>
          </a:ln>
        </p:spPr>
      </p:sp>
      <p:sp>
        <p:nvSpPr>
          <p:cNvPr id="30" name="Shape 24"/>
          <p:cNvSpPr/>
          <p:nvPr/>
        </p:nvSpPr>
        <p:spPr>
          <a:xfrm>
            <a:off x="2286000" y="1737360"/>
            <a:ext cx="1325880" cy="365760"/>
          </a:xfrm>
          <a:prstGeom prst="roundRect">
            <a:avLst>
              <a:gd name="adj" fmla="val 50000"/>
            </a:avLst>
          </a:prstGeom>
          <a:solidFill>
            <a:srgbClr val="0B1D33"/>
          </a:solidFill>
          <a:ln w="12700">
            <a:solidFill>
              <a:srgbClr val="0B1D33"/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2286000" y="173736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Intent</a:t>
            </a:r>
            <a:endParaRPr lang="en-US" sz="1000" dirty="0"/>
          </a:p>
        </p:txBody>
      </p:sp>
      <p:sp>
        <p:nvSpPr>
          <p:cNvPr id="32" name="Text 26"/>
          <p:cNvSpPr txBox="1"/>
          <p:nvPr/>
        </p:nvSpPr>
        <p:spPr>
          <a:xfrm>
            <a:off x="2194560" y="214884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 Forum TMF921</a:t>
            </a:r>
            <a:endParaRPr lang="en-US" sz="900" dirty="0"/>
          </a:p>
        </p:txBody>
      </p:sp>
      <p:sp>
        <p:nvSpPr>
          <p:cNvPr id="33" name="Shape 27"/>
          <p:cNvSpPr/>
          <p:nvPr/>
        </p:nvSpPr>
        <p:spPr>
          <a:xfrm>
            <a:off x="5394960" y="1920240"/>
            <a:ext cx="1600200" cy="0"/>
          </a:xfrm>
          <a:prstGeom prst="line">
            <a:avLst/>
          </a:prstGeom>
          <a:noFill/>
          <a:ln w="22225">
            <a:solidFill>
              <a:srgbClr val="0B1D33"/>
            </a:solidFill>
            <a:prstDash val="solid"/>
            <a:headEnd type="triangle"/>
            <a:tailEnd type="triangle"/>
          </a:ln>
        </p:spPr>
      </p:sp>
      <p:sp>
        <p:nvSpPr>
          <p:cNvPr id="34" name="Shape 28"/>
          <p:cNvSpPr/>
          <p:nvPr/>
        </p:nvSpPr>
        <p:spPr>
          <a:xfrm>
            <a:off x="5532120" y="1737360"/>
            <a:ext cx="1325880" cy="365760"/>
          </a:xfrm>
          <a:prstGeom prst="roundRect">
            <a:avLst>
              <a:gd name="adj" fmla="val 50000"/>
            </a:avLst>
          </a:prstGeom>
          <a:solidFill>
            <a:srgbClr val="0B1D33"/>
          </a:solidFill>
          <a:ln w="12700">
            <a:solidFill>
              <a:srgbClr val="0B1D33"/>
            </a:solidFill>
            <a:prstDash val="solid"/>
          </a:ln>
        </p:spPr>
      </p:sp>
      <p:sp>
        <p:nvSpPr>
          <p:cNvPr id="35" name="Text 29"/>
          <p:cNvSpPr txBox="1"/>
          <p:nvPr/>
        </p:nvSpPr>
        <p:spPr>
          <a:xfrm>
            <a:off x="5532120" y="173736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Simulation</a:t>
            </a:r>
            <a:endParaRPr lang="en-US" sz="1000" dirty="0"/>
          </a:p>
        </p:txBody>
      </p:sp>
      <p:sp>
        <p:nvSpPr>
          <p:cNvPr id="36" name="Text 30"/>
          <p:cNvSpPr txBox="1"/>
          <p:nvPr/>
        </p:nvSpPr>
        <p:spPr>
          <a:xfrm>
            <a:off x="5440680" y="214884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IRTF NMRG twin interface</a:t>
            </a:r>
            <a:endParaRPr lang="en-US" sz="900" dirty="0"/>
          </a:p>
        </p:txBody>
      </p:sp>
      <p:sp>
        <p:nvSpPr>
          <p:cNvPr id="37" name="Shape 31"/>
          <p:cNvSpPr/>
          <p:nvPr/>
        </p:nvSpPr>
        <p:spPr>
          <a:xfrm>
            <a:off x="4594860" y="2377440"/>
            <a:ext cx="0" cy="1234440"/>
          </a:xfrm>
          <a:prstGeom prst="line">
            <a:avLst/>
          </a:prstGeom>
          <a:noFill/>
          <a:ln w="22225">
            <a:solidFill>
              <a:srgbClr val="0B1D33"/>
            </a:solidFill>
            <a:prstDash val="solid"/>
            <a:headEnd type="triangle"/>
            <a:tailEnd type="triangle"/>
          </a:ln>
        </p:spPr>
      </p:sp>
      <p:sp>
        <p:nvSpPr>
          <p:cNvPr id="38" name="Shape 32"/>
          <p:cNvSpPr/>
          <p:nvPr/>
        </p:nvSpPr>
        <p:spPr>
          <a:xfrm>
            <a:off x="3886200" y="2807208"/>
            <a:ext cx="1417320" cy="365760"/>
          </a:xfrm>
          <a:prstGeom prst="roundRect">
            <a:avLst>
              <a:gd name="adj" fmla="val 50000"/>
            </a:avLst>
          </a:prstGeom>
          <a:solidFill>
            <a:srgbClr val="0B1D33"/>
          </a:solidFill>
          <a:ln w="12700">
            <a:solidFill>
              <a:srgbClr val="0B1D33"/>
            </a:solidFill>
            <a:prstDash val="solid"/>
          </a:ln>
        </p:spPr>
      </p:sp>
      <p:sp>
        <p:nvSpPr>
          <p:cNvPr id="39" name="Text 33"/>
          <p:cNvSpPr txBox="1"/>
          <p:nvPr/>
        </p:nvSpPr>
        <p:spPr>
          <a:xfrm>
            <a:off x="3886200" y="2807208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Southbound</a:t>
            </a:r>
            <a:endParaRPr lang="en-US" sz="1000" dirty="0"/>
          </a:p>
        </p:txBody>
      </p:sp>
      <p:sp>
        <p:nvSpPr>
          <p:cNvPr id="40" name="Text 34"/>
          <p:cNvSpPr txBox="1"/>
          <p:nvPr/>
        </p:nvSpPr>
        <p:spPr>
          <a:xfrm>
            <a:off x="5440680" y="285292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RFC 8040 RESTCONF · YANG 1.1</a:t>
            </a:r>
            <a:endParaRPr lang="en-US" sz="900" dirty="0"/>
          </a:p>
        </p:txBody>
      </p:sp>
      <p:sp>
        <p:nvSpPr>
          <p:cNvPr id="41" name="Shape 35"/>
          <p:cNvSpPr/>
          <p:nvPr/>
        </p:nvSpPr>
        <p:spPr>
          <a:xfrm>
            <a:off x="457200" y="3063240"/>
            <a:ext cx="2743200" cy="1600200"/>
          </a:xfrm>
          <a:prstGeom prst="roundRect">
            <a:avLst>
              <a:gd name="adj" fmla="val 5714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42" name="Text 36"/>
          <p:cNvSpPr txBox="1"/>
          <p:nvPr/>
        </p:nvSpPr>
        <p:spPr>
          <a:xfrm>
            <a:off x="640080" y="320040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FA3B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 s</a:t>
            </a:r>
            <a:endParaRPr lang="en-US" sz="4000" dirty="0"/>
          </a:p>
        </p:txBody>
      </p:sp>
      <p:sp>
        <p:nvSpPr>
          <p:cNvPr id="43" name="Text 37"/>
          <p:cNvSpPr txBox="1"/>
          <p:nvPr/>
        </p:nvSpPr>
        <p:spPr>
          <a:xfrm>
            <a:off x="640080" y="393192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SLA intent to a verified configuration change on the live radio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FA3B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1D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interface is anchored in an open specification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2606040" cy="1691640"/>
          </a:xfrm>
          <a:prstGeom prst="roundRect">
            <a:avLst>
              <a:gd name="adj" fmla="val 4324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21792" y="1399032"/>
            <a:ext cx="420624" cy="420624"/>
          </a:xfrm>
          <a:prstGeom prst="ellipse">
            <a:avLst/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948" y="1504188"/>
            <a:ext cx="210312" cy="2103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70432" y="1389888"/>
            <a:ext cx="1783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B1D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TM Forum TMF921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70432" y="164592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7C5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&amp; SLA</a:t>
            </a:r>
            <a:endParaRPr lang="en-US" sz="850" dirty="0"/>
          </a:p>
        </p:txBody>
      </p:sp>
      <p:sp>
        <p:nvSpPr>
          <p:cNvPr id="9" name="Text 6"/>
          <p:cNvSpPr txBox="1"/>
          <p:nvPr/>
        </p:nvSpPr>
        <p:spPr>
          <a:xfrm>
            <a:off x="621792" y="1947672"/>
            <a:ext cx="22768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 Management API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621792" y="2194560"/>
            <a:ext cx="22768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 states latency &lt; 1.5 ms and availability. Intent state: Acknowledged → In evaluation → Compliant.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3268980" y="1234440"/>
            <a:ext cx="2606040" cy="1691640"/>
          </a:xfrm>
          <a:prstGeom prst="roundRect">
            <a:avLst>
              <a:gd name="adj" fmla="val 4324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433572" y="1399032"/>
            <a:ext cx="420624" cy="420624"/>
          </a:xfrm>
          <a:prstGeom prst="ellipse">
            <a:avLst/>
          </a:prstGeom>
          <a:solidFill>
            <a:srgbClr val="0FA3B1"/>
          </a:solidFill>
          <a:ln w="12700">
            <a:solidFill>
              <a:srgbClr val="0FA3B1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8728" y="1504188"/>
            <a:ext cx="210312" cy="210312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3982212" y="1389888"/>
            <a:ext cx="1783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B1D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3GPP TS 28.561</a:t>
            </a:r>
            <a:endParaRPr lang="en-US" sz="1250" dirty="0"/>
          </a:p>
        </p:txBody>
      </p:sp>
      <p:sp>
        <p:nvSpPr>
          <p:cNvPr id="15" name="Text 11"/>
          <p:cNvSpPr txBox="1"/>
          <p:nvPr/>
        </p:nvSpPr>
        <p:spPr>
          <a:xfrm>
            <a:off x="3982212" y="164592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0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TWIN LIFECYCLE</a:t>
            </a:r>
            <a:endParaRPr lang="en-US" sz="850" dirty="0"/>
          </a:p>
        </p:txBody>
      </p:sp>
      <p:sp>
        <p:nvSpPr>
          <p:cNvPr id="16" name="Text 12"/>
          <p:cNvSpPr txBox="1"/>
          <p:nvPr/>
        </p:nvSpPr>
        <p:spPr>
          <a:xfrm>
            <a:off x="3433572" y="1947672"/>
            <a:ext cx="22768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twin management</a:t>
            </a:r>
            <a:endParaRPr lang="en-US" sz="1100" dirty="0"/>
          </a:p>
        </p:txBody>
      </p:sp>
      <p:sp>
        <p:nvSpPr>
          <p:cNvPr id="17" name="Text 13"/>
          <p:cNvSpPr txBox="1"/>
          <p:nvPr/>
        </p:nvSpPr>
        <p:spPr>
          <a:xfrm>
            <a:off x="3433572" y="2194560"/>
            <a:ext cx="22768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Governs the 4-gate pre-flight check before any action reaches the network.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6080760" y="1234440"/>
            <a:ext cx="2606040" cy="1691640"/>
          </a:xfrm>
          <a:prstGeom prst="roundRect">
            <a:avLst>
              <a:gd name="adj" fmla="val 4324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245352" y="1399032"/>
            <a:ext cx="420624" cy="420624"/>
          </a:xfrm>
          <a:prstGeom prst="ellipse">
            <a:avLst/>
          </a:prstGeom>
          <a:solidFill>
            <a:srgbClr val="14304F"/>
          </a:solidFill>
          <a:ln w="12700">
            <a:solidFill>
              <a:srgbClr val="14304F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0508" y="1504188"/>
            <a:ext cx="210312" cy="210312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6793992" y="1389888"/>
            <a:ext cx="1783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B1D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ITU-T Y.3090</a:t>
            </a:r>
            <a:endParaRPr lang="en-US" sz="1250" dirty="0"/>
          </a:p>
        </p:txBody>
      </p:sp>
      <p:sp>
        <p:nvSpPr>
          <p:cNvPr id="22" name="Text 17"/>
          <p:cNvSpPr txBox="1"/>
          <p:nvPr/>
        </p:nvSpPr>
        <p:spPr>
          <a:xfrm>
            <a:off x="6793992" y="164592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14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850" dirty="0"/>
          </a:p>
        </p:txBody>
      </p:sp>
      <p:sp>
        <p:nvSpPr>
          <p:cNvPr id="23" name="Text 18"/>
          <p:cNvSpPr txBox="1"/>
          <p:nvPr/>
        </p:nvSpPr>
        <p:spPr>
          <a:xfrm>
            <a:off x="6245352" y="1947672"/>
            <a:ext cx="22768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Twin network architecture</a:t>
            </a:r>
            <a:endParaRPr lang="en-US" sz="1100" dirty="0"/>
          </a:p>
        </p:txBody>
      </p:sp>
      <p:sp>
        <p:nvSpPr>
          <p:cNvPr id="24" name="Text 19"/>
          <p:cNvSpPr txBox="1"/>
          <p:nvPr/>
        </p:nvSpPr>
        <p:spPr>
          <a:xfrm>
            <a:off x="6245352" y="2194560"/>
            <a:ext cx="22768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Layered reference model; keeps the real-time shadow datastore in sync with the physical network.</a:t>
            </a:r>
            <a:endParaRPr lang="en-US" sz="1000" dirty="0"/>
          </a:p>
        </p:txBody>
      </p:sp>
      <p:sp>
        <p:nvSpPr>
          <p:cNvPr id="25" name="Shape 20"/>
          <p:cNvSpPr/>
          <p:nvPr/>
        </p:nvSpPr>
        <p:spPr>
          <a:xfrm>
            <a:off x="457200" y="3108960"/>
            <a:ext cx="2606040" cy="1691640"/>
          </a:xfrm>
          <a:prstGeom prst="roundRect">
            <a:avLst>
              <a:gd name="adj" fmla="val 4324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621792" y="3273552"/>
            <a:ext cx="420624" cy="420624"/>
          </a:xfrm>
          <a:prstGeom prst="ellipse">
            <a:avLst/>
          </a:prstGeom>
          <a:solidFill>
            <a:srgbClr val="E8912D"/>
          </a:solidFill>
          <a:ln w="12700">
            <a:solidFill>
              <a:srgbClr val="E8912D"/>
            </a:solidFill>
            <a:prstDash val="solid"/>
          </a:ln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6948" y="3378708"/>
            <a:ext cx="210312" cy="210312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1170432" y="3264408"/>
            <a:ext cx="1783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B1D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IRTF NMRG drafts</a:t>
            </a:r>
            <a:endParaRPr lang="en-US" sz="1250" dirty="0"/>
          </a:p>
        </p:txBody>
      </p:sp>
      <p:sp>
        <p:nvSpPr>
          <p:cNvPr id="29" name="Text 23"/>
          <p:cNvSpPr txBox="1"/>
          <p:nvPr/>
        </p:nvSpPr>
        <p:spPr>
          <a:xfrm>
            <a:off x="1170432" y="35204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E891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SIMULATION INTERFACE</a:t>
            </a:r>
            <a:endParaRPr lang="en-US" sz="850" dirty="0"/>
          </a:p>
        </p:txBody>
      </p:sp>
      <p:sp>
        <p:nvSpPr>
          <p:cNvPr id="30" name="Text 24"/>
          <p:cNvSpPr txBox="1"/>
          <p:nvPr/>
        </p:nvSpPr>
        <p:spPr>
          <a:xfrm>
            <a:off x="621792" y="3822192"/>
            <a:ext cx="22768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Twin–simulator interface</a:t>
            </a:r>
            <a:endParaRPr lang="en-US" sz="1100" dirty="0"/>
          </a:p>
        </p:txBody>
      </p:sp>
      <p:sp>
        <p:nvSpPr>
          <p:cNvPr id="31" name="Text 25"/>
          <p:cNvSpPr txBox="1"/>
          <p:nvPr/>
        </p:nvSpPr>
        <p:spPr>
          <a:xfrm>
            <a:off x="621792" y="4069080"/>
            <a:ext cx="22768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East-west twin ↔ simulator link: inject what-ifs (surge, rain fade), stream telemetry back.</a:t>
            </a:r>
            <a:endParaRPr lang="en-US" sz="1000" dirty="0"/>
          </a:p>
        </p:txBody>
      </p:sp>
      <p:sp>
        <p:nvSpPr>
          <p:cNvPr id="32" name="Shape 26"/>
          <p:cNvSpPr/>
          <p:nvPr/>
        </p:nvSpPr>
        <p:spPr>
          <a:xfrm>
            <a:off x="3268980" y="3108960"/>
            <a:ext cx="2606040" cy="1691640"/>
          </a:xfrm>
          <a:prstGeom prst="roundRect">
            <a:avLst>
              <a:gd name="adj" fmla="val 4324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33" name="Shape 27"/>
          <p:cNvSpPr/>
          <p:nvPr/>
        </p:nvSpPr>
        <p:spPr>
          <a:xfrm>
            <a:off x="3433572" y="3273552"/>
            <a:ext cx="420624" cy="420624"/>
          </a:xfrm>
          <a:prstGeom prst="ellipse">
            <a:avLst/>
          </a:prstGeom>
          <a:solidFill>
            <a:srgbClr val="22A06B"/>
          </a:solidFill>
          <a:ln w="12700">
            <a:solidFill>
              <a:srgbClr val="22A06B"/>
            </a:solidFill>
            <a:prstDash val="solid"/>
          </a:ln>
        </p:spPr>
      </p:sp>
      <p:pic>
        <p:nvPicPr>
          <p:cNvPr id="3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38728" y="3378708"/>
            <a:ext cx="210312" cy="210312"/>
          </a:xfrm>
          <a:prstGeom prst="rect">
            <a:avLst/>
          </a:prstGeom>
        </p:spPr>
      </p:pic>
      <p:sp>
        <p:nvSpPr>
          <p:cNvPr id="35" name="Text 28"/>
          <p:cNvSpPr txBox="1"/>
          <p:nvPr/>
        </p:nvSpPr>
        <p:spPr>
          <a:xfrm>
            <a:off x="3982212" y="3264408"/>
            <a:ext cx="1783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B1D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IETF RFC 8040 / 7950</a:t>
            </a:r>
            <a:endParaRPr lang="en-US" sz="1250" dirty="0"/>
          </a:p>
        </p:txBody>
      </p:sp>
      <p:sp>
        <p:nvSpPr>
          <p:cNvPr id="36" name="Text 29"/>
          <p:cNvSpPr txBox="1"/>
          <p:nvPr/>
        </p:nvSpPr>
        <p:spPr>
          <a:xfrm>
            <a:off x="3982212" y="35204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22A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 INTERFACE</a:t>
            </a:r>
            <a:endParaRPr lang="en-US" sz="850" dirty="0"/>
          </a:p>
        </p:txBody>
      </p:sp>
      <p:sp>
        <p:nvSpPr>
          <p:cNvPr id="37" name="Text 30"/>
          <p:cNvSpPr txBox="1"/>
          <p:nvPr/>
        </p:nvSpPr>
        <p:spPr>
          <a:xfrm>
            <a:off x="3433572" y="3822192"/>
            <a:ext cx="22768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RESTCONF &amp; YANG 1.1</a:t>
            </a:r>
            <a:endParaRPr lang="en-US" sz="1100" dirty="0"/>
          </a:p>
        </p:txBody>
      </p:sp>
      <p:sp>
        <p:nvSpPr>
          <p:cNvPr id="38" name="Text 31"/>
          <p:cNvSpPr txBox="1"/>
          <p:nvPr/>
        </p:nvSpPr>
        <p:spPr>
          <a:xfrm>
            <a:off x="3433572" y="4069080"/>
            <a:ext cx="22768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Southbound to the MH-T261: candidate staging, diff validation, two-phase commit.</a:t>
            </a:r>
            <a:endParaRPr lang="en-US" sz="1000" dirty="0"/>
          </a:p>
        </p:txBody>
      </p:sp>
      <p:sp>
        <p:nvSpPr>
          <p:cNvPr id="39" name="Shape 32"/>
          <p:cNvSpPr/>
          <p:nvPr/>
        </p:nvSpPr>
        <p:spPr>
          <a:xfrm>
            <a:off x="6080760" y="3108960"/>
            <a:ext cx="2606040" cy="1691640"/>
          </a:xfrm>
          <a:prstGeom prst="roundRect">
            <a:avLst>
              <a:gd name="adj" fmla="val 4324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40" name="Shape 33"/>
          <p:cNvSpPr/>
          <p:nvPr/>
        </p:nvSpPr>
        <p:spPr>
          <a:xfrm>
            <a:off x="6245352" y="3273552"/>
            <a:ext cx="420624" cy="420624"/>
          </a:xfrm>
          <a:prstGeom prst="ellipse">
            <a:avLst/>
          </a:prstGeom>
          <a:solidFill>
            <a:srgbClr val="0FA3B1"/>
          </a:solidFill>
          <a:ln w="12700">
            <a:solidFill>
              <a:srgbClr val="0FA3B1"/>
            </a:solidFill>
            <a:prstDash val="solid"/>
          </a:ln>
        </p:spPr>
      </p:sp>
      <p:pic>
        <p:nvPicPr>
          <p:cNvPr id="4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0508" y="3378708"/>
            <a:ext cx="210312" cy="210312"/>
          </a:xfrm>
          <a:prstGeom prst="rect">
            <a:avLst/>
          </a:prstGeom>
        </p:spPr>
      </p:pic>
      <p:sp>
        <p:nvSpPr>
          <p:cNvPr id="42" name="Text 34"/>
          <p:cNvSpPr txBox="1"/>
          <p:nvPr/>
        </p:nvSpPr>
        <p:spPr>
          <a:xfrm>
            <a:off x="6793992" y="3264408"/>
            <a:ext cx="1783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B1D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ETSI TeraFlowSDN</a:t>
            </a:r>
            <a:endParaRPr lang="en-US" sz="1250" dirty="0"/>
          </a:p>
        </p:txBody>
      </p:sp>
      <p:sp>
        <p:nvSpPr>
          <p:cNvPr id="43" name="Text 35"/>
          <p:cNvSpPr txBox="1"/>
          <p:nvPr/>
        </p:nvSpPr>
        <p:spPr>
          <a:xfrm>
            <a:off x="6793992" y="35204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0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SDN CONTROL</a:t>
            </a:r>
            <a:endParaRPr lang="en-US" sz="850" dirty="0"/>
          </a:p>
        </p:txBody>
      </p:sp>
      <p:sp>
        <p:nvSpPr>
          <p:cNvPr id="44" name="Text 36"/>
          <p:cNvSpPr txBox="1"/>
          <p:nvPr/>
        </p:nvSpPr>
        <p:spPr>
          <a:xfrm>
            <a:off x="6245352" y="3822192"/>
            <a:ext cx="22768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Open-source SDN controller</a:t>
            </a:r>
            <a:endParaRPr lang="en-US" sz="1100" dirty="0"/>
          </a:p>
        </p:txBody>
      </p:sp>
      <p:sp>
        <p:nvSpPr>
          <p:cNvPr id="45" name="Text 37"/>
          <p:cNvSpPr txBox="1"/>
          <p:nvPr/>
        </p:nvSpPr>
        <p:spPr>
          <a:xfrm>
            <a:off x="6245352" y="4069080"/>
            <a:ext cx="22768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gRPC microservices: Context :10010, Device :10020, Service/PCE :10030, Monitoring :10040.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FA3B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ADAPTER ② · TFS → NS-3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1D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simulation adapter mirrors the live network in ns-3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85800" y="1463040"/>
            <a:ext cx="6309360" cy="0"/>
          </a:xfrm>
          <a:prstGeom prst="line">
            <a:avLst/>
          </a:prstGeom>
          <a:noFill/>
          <a:ln w="25400">
            <a:solidFill>
              <a:srgbClr val="D5DDE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234440"/>
            <a:ext cx="457200" cy="457200"/>
          </a:xfrm>
          <a:prstGeom prst="ellipse">
            <a:avLst/>
          </a:prstGeom>
          <a:solidFill>
            <a:srgbClr val="E8912D"/>
          </a:solidFill>
          <a:ln w="12700">
            <a:solidFill>
              <a:srgbClr val="E8912D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1500" y="1348740"/>
            <a:ext cx="228600" cy="2286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178308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B1D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 Reconcile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2057400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the live 34-node graph and RF metrics (RSSI −58 dBm, MCS 8)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2560320" y="1234440"/>
            <a:ext cx="457200" cy="457200"/>
          </a:xfrm>
          <a:prstGeom prst="ellipse">
            <a:avLst/>
          </a:prstGeom>
          <a:solidFill>
            <a:srgbClr val="E8912D"/>
          </a:solidFill>
          <a:ln w="12700">
            <a:solidFill>
              <a:srgbClr val="E8912D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4620" y="1348740"/>
            <a:ext cx="228600" cy="2286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560320" y="178308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B1D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 Scope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2560320" y="2057400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Fidelity governor trims the graph to the domain that matters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4663440" y="1234440"/>
            <a:ext cx="457200" cy="457200"/>
          </a:xfrm>
          <a:prstGeom prst="ellipse">
            <a:avLst/>
          </a:prstGeom>
          <a:solidFill>
            <a:srgbClr val="E8912D"/>
          </a:solidFill>
          <a:ln w="12700">
            <a:solidFill>
              <a:srgbClr val="E8912D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7740" y="1348740"/>
            <a:ext cx="228600" cy="22860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663440" y="178308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B1D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 Perturb</a:t>
            </a:r>
            <a:endParaRPr lang="en-US" sz="1200" dirty="0"/>
          </a:p>
        </p:txBody>
      </p:sp>
      <p:sp>
        <p:nvSpPr>
          <p:cNvPr id="16" name="Text 11"/>
          <p:cNvSpPr txBox="1"/>
          <p:nvPr/>
        </p:nvSpPr>
        <p:spPr>
          <a:xfrm>
            <a:off x="4663440" y="2057400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 what-ifs: 3.5× traffic surge, ITU-R P.838 rain fade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766560" y="1234440"/>
            <a:ext cx="457200" cy="457200"/>
          </a:xfrm>
          <a:prstGeom prst="ellipse">
            <a:avLst/>
          </a:prstGeom>
          <a:solidFill>
            <a:srgbClr val="E8912D"/>
          </a:solidFill>
          <a:ln w="12700">
            <a:solidFill>
              <a:srgbClr val="E8912D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0860" y="1348740"/>
            <a:ext cx="228600" cy="22860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766560" y="178308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B1D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 Ingest</a:t>
            </a:r>
            <a:endParaRPr lang="en-US" sz="1200" dirty="0"/>
          </a:p>
        </p:txBody>
      </p:sp>
      <p:sp>
        <p:nvSpPr>
          <p:cNvPr id="20" name="Text 14"/>
          <p:cNvSpPr txBox="1"/>
          <p:nvPr/>
        </p:nvSpPr>
        <p:spPr>
          <a:xfrm>
            <a:off x="6766560" y="2057400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 queues, drops, latency and the NetAnim trace back to the twin</a:t>
            </a:r>
            <a:endParaRPr lang="en-US" sz="10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365760" y="2743200"/>
          <a:ext cx="4937760" cy="2103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22" name="Shape 15"/>
          <p:cNvSpPr/>
          <p:nvPr/>
        </p:nvSpPr>
        <p:spPr>
          <a:xfrm>
            <a:off x="5577840" y="2788920"/>
            <a:ext cx="3108960" cy="914400"/>
          </a:xfrm>
          <a:prstGeom prst="roundRect">
            <a:avLst>
              <a:gd name="adj" fmla="val 8000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23" name="Text 16"/>
          <p:cNvSpPr txBox="1"/>
          <p:nvPr/>
        </p:nvSpPr>
        <p:spPr>
          <a:xfrm>
            <a:off x="5760720" y="2862072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91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 → 23</a:t>
            </a:r>
            <a:endParaRPr lang="en-US" sz="2400" dirty="0"/>
          </a:p>
        </p:txBody>
      </p:sp>
      <p:sp>
        <p:nvSpPr>
          <p:cNvPr id="24" name="Text 17"/>
          <p:cNvSpPr txBox="1"/>
          <p:nvPr/>
        </p:nvSpPr>
        <p:spPr>
          <a:xfrm>
            <a:off x="5760720" y="3319272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nodes simulated when scoped to Tier 4 (URLLC)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5577840" y="3840480"/>
            <a:ext cx="3108960" cy="914400"/>
          </a:xfrm>
          <a:prstGeom prst="roundRect">
            <a:avLst>
              <a:gd name="adj" fmla="val 8000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26" name="Text 19"/>
          <p:cNvSpPr txBox="1"/>
          <p:nvPr/>
        </p:nvSpPr>
        <p:spPr>
          <a:xfrm>
            <a:off x="5760720" y="3913632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91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1.15 s</a:t>
            </a:r>
            <a:endParaRPr lang="en-US" sz="2400" dirty="0"/>
          </a:p>
        </p:txBody>
      </p:sp>
      <p:sp>
        <p:nvSpPr>
          <p:cNvPr id="27" name="Text 20"/>
          <p:cNvSpPr txBox="1"/>
          <p:nvPr/>
        </p:nvSpPr>
        <p:spPr>
          <a:xfrm>
            <a:off x="5760720" y="4370832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what-if run, instead of minutes for the full graph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FA3B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WHAT-IF IN PRACTICE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1D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storm on the V-band link, tested before it happens</a:t>
            </a:r>
            <a:endParaRPr lang="en-US" sz="2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365760" y="1143000"/>
          <a:ext cx="4480560" cy="3611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212080" y="11887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B1D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 the twin recommends</a:t>
            </a:r>
            <a:endParaRPr lang="en-US" sz="1250" dirty="0"/>
          </a:p>
        </p:txBody>
      </p:sp>
      <p:sp>
        <p:nvSpPr>
          <p:cNvPr id="6" name="Text 3"/>
          <p:cNvSpPr txBox="1"/>
          <p:nvPr/>
        </p:nvSpPr>
        <p:spPr>
          <a:xfrm>
            <a:off x="5212080" y="1572768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ACM floor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6263640" y="1572768"/>
            <a:ext cx="960120" cy="347472"/>
          </a:xfrm>
          <a:prstGeom prst="roundRect">
            <a:avLst>
              <a:gd name="adj" fmla="val 15789"/>
            </a:avLst>
          </a:prstGeom>
          <a:solidFill>
            <a:srgbClr val="ECEFF2"/>
          </a:solidFill>
          <a:ln w="12700">
            <a:solidFill>
              <a:srgbClr val="ECEFF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263640" y="1572768"/>
            <a:ext cx="960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MCS 0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7269480" y="1746504"/>
            <a:ext cx="320040" cy="0"/>
          </a:xfrm>
          <a:prstGeom prst="line">
            <a:avLst/>
          </a:prstGeom>
          <a:noFill/>
          <a:ln w="22225">
            <a:solidFill>
              <a:srgbClr val="5A6B7D"/>
            </a:solidFill>
            <a:prstDash val="solid"/>
            <a:headEnd type="none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7635240" y="1572768"/>
            <a:ext cx="1051560" cy="347472"/>
          </a:xfrm>
          <a:prstGeom prst="roundRect">
            <a:avLst>
              <a:gd name="adj" fmla="val 15789"/>
            </a:avLst>
          </a:prstGeom>
          <a:solidFill>
            <a:srgbClr val="DDF3E8"/>
          </a:solidFill>
          <a:ln w="12700">
            <a:solidFill>
              <a:srgbClr val="DDF3E8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635240" y="1572768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57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MCS 4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5212080" y="2048256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QoS queue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263640" y="2048256"/>
            <a:ext cx="960120" cy="347472"/>
          </a:xfrm>
          <a:prstGeom prst="roundRect">
            <a:avLst>
              <a:gd name="adj" fmla="val 15789"/>
            </a:avLst>
          </a:prstGeom>
          <a:solidFill>
            <a:srgbClr val="ECEFF2"/>
          </a:solidFill>
          <a:ln w="12700">
            <a:solidFill>
              <a:srgbClr val="ECEFF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263640" y="2048256"/>
            <a:ext cx="960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FIFO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7269480" y="2221992"/>
            <a:ext cx="320040" cy="0"/>
          </a:xfrm>
          <a:prstGeom prst="line">
            <a:avLst/>
          </a:prstGeom>
          <a:noFill/>
          <a:ln w="22225">
            <a:solidFill>
              <a:srgbClr val="5A6B7D"/>
            </a:solidFill>
            <a:prstDash val="solid"/>
            <a:headEnd type="none"/>
            <a:tailEnd type="triangle"/>
          </a:ln>
        </p:spPr>
      </p:sp>
      <p:sp>
        <p:nvSpPr>
          <p:cNvPr id="16" name="Shape 13"/>
          <p:cNvSpPr/>
          <p:nvPr/>
        </p:nvSpPr>
        <p:spPr>
          <a:xfrm>
            <a:off x="7635240" y="2048256"/>
            <a:ext cx="1051560" cy="347472"/>
          </a:xfrm>
          <a:prstGeom prst="roundRect">
            <a:avLst>
              <a:gd name="adj" fmla="val 15789"/>
            </a:avLst>
          </a:prstGeom>
          <a:solidFill>
            <a:srgbClr val="DDF3E8"/>
          </a:solidFill>
          <a:ln w="12700">
            <a:solidFill>
              <a:srgbClr val="DDF3E8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635240" y="2048256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57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PCP 6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5212080" y="2523744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Carrier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6263640" y="2523744"/>
            <a:ext cx="960120" cy="347472"/>
          </a:xfrm>
          <a:prstGeom prst="roundRect">
            <a:avLst>
              <a:gd name="adj" fmla="val 15789"/>
            </a:avLst>
          </a:prstGeom>
          <a:solidFill>
            <a:srgbClr val="ECEFF2"/>
          </a:solidFill>
          <a:ln w="12700">
            <a:solidFill>
              <a:srgbClr val="ECEFF2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263640" y="2523744"/>
            <a:ext cx="960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60.48 GHz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7269480" y="2697480"/>
            <a:ext cx="320040" cy="0"/>
          </a:xfrm>
          <a:prstGeom prst="line">
            <a:avLst/>
          </a:prstGeom>
          <a:noFill/>
          <a:ln w="22225">
            <a:solidFill>
              <a:srgbClr val="5A6B7D"/>
            </a:solidFill>
            <a:prstDash val="solid"/>
            <a:headEnd type="none"/>
            <a:tailEnd type="triangle"/>
          </a:ln>
        </p:spPr>
      </p:sp>
      <p:sp>
        <p:nvSpPr>
          <p:cNvPr id="22" name="Shape 19"/>
          <p:cNvSpPr/>
          <p:nvPr/>
        </p:nvSpPr>
        <p:spPr>
          <a:xfrm>
            <a:off x="7635240" y="2523744"/>
            <a:ext cx="1051560" cy="347472"/>
          </a:xfrm>
          <a:prstGeom prst="roundRect">
            <a:avLst>
              <a:gd name="adj" fmla="val 15789"/>
            </a:avLst>
          </a:prstGeom>
          <a:solidFill>
            <a:srgbClr val="DDF3E8"/>
          </a:solidFill>
          <a:ln w="12700">
            <a:solidFill>
              <a:srgbClr val="DDF3E8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635240" y="2523744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57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64.80 GHz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5212080" y="3154680"/>
            <a:ext cx="3474720" cy="1600200"/>
          </a:xfrm>
          <a:prstGeom prst="roundRect">
            <a:avLst>
              <a:gd name="adj" fmla="val 4571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394960" y="329184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Predicted URLLC latency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5394960" y="353872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A3B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1.12 ms</a:t>
            </a:r>
            <a:pPr indent="0" marL="0">
              <a:buNone/>
            </a:pPr>
            <a:r>
              <a:rPr lang="en-US" sz="1100" dirty="0">
                <a:solidFill>
                  <a:srgbClr val="5A6B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of a 1.5 ms SLA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5394960" y="4114800"/>
            <a:ext cx="3108960" cy="146304"/>
          </a:xfrm>
          <a:prstGeom prst="rect">
            <a:avLst/>
          </a:prstGeom>
          <a:solidFill>
            <a:srgbClr val="D5DDE5"/>
          </a:solidFill>
          <a:ln w="12700">
            <a:solidFill>
              <a:srgbClr val="D5DDE5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5394960" y="4114800"/>
            <a:ext cx="2321357" cy="146304"/>
          </a:xfrm>
          <a:prstGeom prst="rect">
            <a:avLst/>
          </a:prstGeom>
          <a:solidFill>
            <a:srgbClr val="0FA3B1"/>
          </a:solidFill>
          <a:ln w="12700">
            <a:solidFill>
              <a:srgbClr val="0FA3B1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5394960" y="434340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25% headroom → change passes the latency gate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FA3B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ADAPTER ③ · TFS → HARDWARE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1D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→ verify → commit, with automatic rollback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2514600" cy="2514600"/>
          </a:xfrm>
          <a:prstGeom prst="roundRect">
            <a:avLst>
              <a:gd name="adj" fmla="val 3636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371600"/>
            <a:ext cx="457200" cy="457200"/>
          </a:xfrm>
          <a:prstGeom prst="ellipse">
            <a:avLst/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380" y="1485900"/>
            <a:ext cx="228600" cy="2286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34440" y="1389888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50" kern="0" dirty="0">
                <a:solidFill>
                  <a:srgbClr val="7C5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1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234440" y="15727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B1D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the candidate</a:t>
            </a:r>
            <a:endParaRPr lang="en-US" sz="115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112264"/>
            <a:ext cx="164592" cy="16459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914400" y="2057400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engine output becomes YANG config</a:t>
            </a:r>
            <a:endParaRPr lang="en-US" sz="1050" dirty="0"/>
          </a:p>
        </p:txBody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2496312"/>
            <a:ext cx="164592" cy="164592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914400" y="2441448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 in the TFS candidate datastore, not live</a:t>
            </a:r>
            <a:endParaRPr lang="en-US" sz="1050" dirty="0"/>
          </a:p>
        </p:txBody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2880360"/>
            <a:ext cx="164592" cy="164592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914400" y="2825496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 checked against the running config</a:t>
            </a:r>
            <a:endParaRPr lang="en-US" sz="1050" dirty="0"/>
          </a:p>
        </p:txBody>
      </p:sp>
      <p:sp>
        <p:nvSpPr>
          <p:cNvPr id="15" name="Shape 9"/>
          <p:cNvSpPr/>
          <p:nvPr/>
        </p:nvSpPr>
        <p:spPr>
          <a:xfrm>
            <a:off x="3017520" y="2446020"/>
            <a:ext cx="251460" cy="0"/>
          </a:xfrm>
          <a:prstGeom prst="line">
            <a:avLst/>
          </a:prstGeom>
          <a:noFill/>
          <a:ln w="22225">
            <a:solidFill>
              <a:srgbClr val="0B1D33"/>
            </a:solidFill>
            <a:prstDash val="solid"/>
            <a:headEnd type="none"/>
            <a:tailEnd type="triangle"/>
          </a:ln>
        </p:spPr>
      </p:sp>
      <p:sp>
        <p:nvSpPr>
          <p:cNvPr id="16" name="Shape 10"/>
          <p:cNvSpPr/>
          <p:nvPr/>
        </p:nvSpPr>
        <p:spPr>
          <a:xfrm>
            <a:off x="3314700" y="1188720"/>
            <a:ext cx="2514600" cy="2514600"/>
          </a:xfrm>
          <a:prstGeom prst="roundRect">
            <a:avLst>
              <a:gd name="adj" fmla="val 3636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17" name="Shape 11"/>
          <p:cNvSpPr/>
          <p:nvPr/>
        </p:nvSpPr>
        <p:spPr>
          <a:xfrm>
            <a:off x="3497580" y="1371600"/>
            <a:ext cx="457200" cy="457200"/>
          </a:xfrm>
          <a:prstGeom prst="ellipse">
            <a:avLst/>
          </a:prstGeom>
          <a:solidFill>
            <a:srgbClr val="0FA3B1"/>
          </a:solidFill>
          <a:ln w="12700">
            <a:solidFill>
              <a:srgbClr val="0FA3B1"/>
            </a:solidFill>
            <a:prstDash val="solid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11880" y="1485900"/>
            <a:ext cx="228600" cy="22860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4091940" y="1389888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50" kern="0" dirty="0">
                <a:solidFill>
                  <a:srgbClr val="0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 · TS 28.561</a:t>
            </a:r>
            <a:endParaRPr lang="en-US" sz="900" dirty="0"/>
          </a:p>
        </p:txBody>
      </p:sp>
      <p:sp>
        <p:nvSpPr>
          <p:cNvPr id="20" name="Text 13"/>
          <p:cNvSpPr txBox="1"/>
          <p:nvPr/>
        </p:nvSpPr>
        <p:spPr>
          <a:xfrm>
            <a:off x="4091940" y="15727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B1D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Pre-flight gates</a:t>
            </a:r>
            <a:endParaRPr lang="en-US" sz="1150" dirty="0"/>
          </a:p>
        </p:txBody>
      </p:sp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15868" y="2112264"/>
            <a:ext cx="164592" cy="164592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3771900" y="2057400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 1.12 ms ≤ 1.5 ms</a:t>
            </a:r>
            <a:endParaRPr lang="en-US" sz="1050" dirty="0"/>
          </a:p>
        </p:txBody>
      </p:sp>
      <p:pic>
        <p:nvPicPr>
          <p:cNvPr id="2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15868" y="2496312"/>
            <a:ext cx="164592" cy="164592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3771900" y="2441448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Buffer occupancy &lt; 40%</a:t>
            </a:r>
            <a:endParaRPr lang="en-US" sz="1050" dirty="0"/>
          </a:p>
        </p:txBody>
      </p:sp>
      <p:pic>
        <p:nvPicPr>
          <p:cNvPr id="25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515868" y="2880360"/>
            <a:ext cx="164592" cy="164592"/>
          </a:xfrm>
          <a:prstGeom prst="rect">
            <a:avLst/>
          </a:prstGeom>
        </p:spPr>
      </p:pic>
      <p:sp>
        <p:nvSpPr>
          <p:cNvPr id="26" name="Text 16"/>
          <p:cNvSpPr txBox="1"/>
          <p:nvPr/>
        </p:nvSpPr>
        <p:spPr>
          <a:xfrm>
            <a:off x="3771900" y="2825496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MH-T261 supports MCS 4</a:t>
            </a:r>
            <a:endParaRPr lang="en-US" sz="1050" dirty="0"/>
          </a:p>
        </p:txBody>
      </p:sp>
      <p:pic>
        <p:nvPicPr>
          <p:cNvPr id="27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515868" y="3264408"/>
            <a:ext cx="164592" cy="164592"/>
          </a:xfrm>
          <a:prstGeom prst="rect">
            <a:avLst/>
          </a:prstGeom>
        </p:spPr>
      </p:pic>
      <p:sp>
        <p:nvSpPr>
          <p:cNvPr id="28" name="Text 17"/>
          <p:cNvSpPr txBox="1"/>
          <p:nvPr/>
        </p:nvSpPr>
        <p:spPr>
          <a:xfrm>
            <a:off x="3771900" y="3209544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64.80 GHz inside V-band mask</a:t>
            </a:r>
            <a:endParaRPr lang="en-US" sz="1050" dirty="0"/>
          </a:p>
        </p:txBody>
      </p:sp>
      <p:sp>
        <p:nvSpPr>
          <p:cNvPr id="29" name="Shape 18"/>
          <p:cNvSpPr/>
          <p:nvPr/>
        </p:nvSpPr>
        <p:spPr>
          <a:xfrm>
            <a:off x="5875020" y="2446020"/>
            <a:ext cx="251460" cy="0"/>
          </a:xfrm>
          <a:prstGeom prst="line">
            <a:avLst/>
          </a:prstGeom>
          <a:noFill/>
          <a:ln w="22225">
            <a:solidFill>
              <a:srgbClr val="0B1D33"/>
            </a:solidFill>
            <a:prstDash val="solid"/>
            <a:headEnd type="none"/>
            <a:tailEnd type="triangle"/>
          </a:ln>
        </p:spPr>
      </p:sp>
      <p:sp>
        <p:nvSpPr>
          <p:cNvPr id="30" name="Shape 19"/>
          <p:cNvSpPr/>
          <p:nvPr/>
        </p:nvSpPr>
        <p:spPr>
          <a:xfrm>
            <a:off x="6172200" y="1188720"/>
            <a:ext cx="2514600" cy="2514600"/>
          </a:xfrm>
          <a:prstGeom prst="roundRect">
            <a:avLst>
              <a:gd name="adj" fmla="val 3636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31" name="Shape 20"/>
          <p:cNvSpPr/>
          <p:nvPr/>
        </p:nvSpPr>
        <p:spPr>
          <a:xfrm>
            <a:off x="6355080" y="1371600"/>
            <a:ext cx="457200" cy="457200"/>
          </a:xfrm>
          <a:prstGeom prst="ellipse">
            <a:avLst/>
          </a:prstGeom>
          <a:solidFill>
            <a:srgbClr val="22A06B"/>
          </a:solidFill>
          <a:ln w="12700">
            <a:solidFill>
              <a:srgbClr val="22A06B"/>
            </a:solidFill>
            <a:prstDash val="solid"/>
          </a:ln>
        </p:spPr>
      </p:sp>
      <p:pic>
        <p:nvPicPr>
          <p:cNvPr id="32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69380" y="1485900"/>
            <a:ext cx="228600" cy="228600"/>
          </a:xfrm>
          <a:prstGeom prst="rect">
            <a:avLst/>
          </a:prstGeom>
        </p:spPr>
      </p:pic>
      <p:sp>
        <p:nvSpPr>
          <p:cNvPr id="33" name="Text 21"/>
          <p:cNvSpPr txBox="1"/>
          <p:nvPr/>
        </p:nvSpPr>
        <p:spPr>
          <a:xfrm>
            <a:off x="6949440" y="1389888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50" kern="0" dirty="0">
                <a:solidFill>
                  <a:srgbClr val="22A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3 · RESTCONF</a:t>
            </a:r>
            <a:endParaRPr lang="en-US" sz="900" dirty="0"/>
          </a:p>
        </p:txBody>
      </p:sp>
      <p:sp>
        <p:nvSpPr>
          <p:cNvPr id="34" name="Text 22"/>
          <p:cNvSpPr txBox="1"/>
          <p:nvPr/>
        </p:nvSpPr>
        <p:spPr>
          <a:xfrm>
            <a:off x="6949440" y="15727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B1D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Two-phase commit</a:t>
            </a:r>
            <a:endParaRPr lang="en-US" sz="1150" dirty="0"/>
          </a:p>
        </p:txBody>
      </p:sp>
      <p:pic>
        <p:nvPicPr>
          <p:cNvPr id="35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373368" y="2112264"/>
            <a:ext cx="164592" cy="164592"/>
          </a:xfrm>
          <a:prstGeom prst="rect">
            <a:avLst/>
          </a:prstGeom>
        </p:spPr>
      </p:pic>
      <p:sp>
        <p:nvSpPr>
          <p:cNvPr id="36" name="Text 23"/>
          <p:cNvSpPr txBox="1"/>
          <p:nvPr/>
        </p:nvSpPr>
        <p:spPr>
          <a:xfrm>
            <a:off x="6629400" y="2057400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Prepare: PATCH the candidate</a:t>
            </a:r>
            <a:endParaRPr lang="en-US" sz="1050" dirty="0"/>
          </a:p>
        </p:txBody>
      </p:sp>
      <p:pic>
        <p:nvPicPr>
          <p:cNvPr id="37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373368" y="2496312"/>
            <a:ext cx="164592" cy="164592"/>
          </a:xfrm>
          <a:prstGeom prst="rect">
            <a:avLst/>
          </a:prstGeom>
        </p:spPr>
      </p:pic>
      <p:sp>
        <p:nvSpPr>
          <p:cNvPr id="38" name="Text 24"/>
          <p:cNvSpPr txBox="1"/>
          <p:nvPr/>
        </p:nvSpPr>
        <p:spPr>
          <a:xfrm>
            <a:off x="6629400" y="2441448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Commit: POST ietf-netconf:commit</a:t>
            </a:r>
            <a:endParaRPr lang="en-US" sz="1050" dirty="0"/>
          </a:p>
        </p:txBody>
      </p:sp>
      <p:pic>
        <p:nvPicPr>
          <p:cNvPr id="39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373368" y="2880360"/>
            <a:ext cx="164592" cy="164592"/>
          </a:xfrm>
          <a:prstGeom prst="rect">
            <a:avLst/>
          </a:prstGeom>
        </p:spPr>
      </p:pic>
      <p:sp>
        <p:nvSpPr>
          <p:cNvPr id="40" name="Text 25"/>
          <p:cNvSpPr txBox="1"/>
          <p:nvPr/>
        </p:nvSpPr>
        <p:spPr>
          <a:xfrm>
            <a:off x="6629400" y="2825496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Verify: poll telemetry</a:t>
            </a:r>
            <a:endParaRPr lang="en-US" sz="1050" dirty="0"/>
          </a:p>
        </p:txBody>
      </p:sp>
      <p:sp>
        <p:nvSpPr>
          <p:cNvPr id="41" name="Shape 26"/>
          <p:cNvSpPr/>
          <p:nvPr/>
        </p:nvSpPr>
        <p:spPr>
          <a:xfrm>
            <a:off x="7429500" y="3703320"/>
            <a:ext cx="0" cy="274320"/>
          </a:xfrm>
          <a:prstGeom prst="line">
            <a:avLst/>
          </a:prstGeom>
          <a:noFill/>
          <a:ln w="19050">
            <a:solidFill>
              <a:srgbClr val="D64545"/>
            </a:solidFill>
            <a:prstDash val="dash"/>
          </a:ln>
        </p:spPr>
      </p:sp>
      <p:sp>
        <p:nvSpPr>
          <p:cNvPr id="42" name="Shape 27"/>
          <p:cNvSpPr/>
          <p:nvPr/>
        </p:nvSpPr>
        <p:spPr>
          <a:xfrm>
            <a:off x="1714500" y="3977640"/>
            <a:ext cx="5715000" cy="0"/>
          </a:xfrm>
          <a:prstGeom prst="line">
            <a:avLst/>
          </a:prstGeom>
          <a:noFill/>
          <a:ln w="19050">
            <a:solidFill>
              <a:srgbClr val="D64545"/>
            </a:solidFill>
            <a:prstDash val="dash"/>
          </a:ln>
        </p:spPr>
      </p:sp>
      <p:sp>
        <p:nvSpPr>
          <p:cNvPr id="43" name="Shape 28"/>
          <p:cNvSpPr/>
          <p:nvPr/>
        </p:nvSpPr>
        <p:spPr>
          <a:xfrm flipV="1">
            <a:off x="1714500" y="3703320"/>
            <a:ext cx="0" cy="274320"/>
          </a:xfrm>
          <a:prstGeom prst="line">
            <a:avLst/>
          </a:prstGeom>
          <a:noFill/>
          <a:ln w="22225">
            <a:solidFill>
              <a:srgbClr val="D64545"/>
            </a:solidFill>
            <a:prstDash val="solid"/>
            <a:headEnd type="none"/>
            <a:tailEnd type="triangle"/>
          </a:ln>
        </p:spPr>
      </p:sp>
      <p:sp>
        <p:nvSpPr>
          <p:cNvPr id="44" name="Shape 29"/>
          <p:cNvSpPr/>
          <p:nvPr/>
        </p:nvSpPr>
        <p:spPr>
          <a:xfrm>
            <a:off x="2926080" y="3840480"/>
            <a:ext cx="329184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5" name="Text 30"/>
          <p:cNvSpPr txBox="1"/>
          <p:nvPr/>
        </p:nvSpPr>
        <p:spPr>
          <a:xfrm>
            <a:off x="2926080" y="38404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check fails → automatic rollback</a:t>
            </a:r>
            <a:endParaRPr lang="en-US" sz="1000" dirty="0"/>
          </a:p>
        </p:txBody>
      </p:sp>
      <p:sp>
        <p:nvSpPr>
          <p:cNvPr id="46" name="Shape 31"/>
          <p:cNvSpPr/>
          <p:nvPr/>
        </p:nvSpPr>
        <p:spPr>
          <a:xfrm>
            <a:off x="457200" y="4251960"/>
            <a:ext cx="8229600" cy="548640"/>
          </a:xfrm>
          <a:prstGeom prst="roundRect">
            <a:avLst>
              <a:gd name="adj" fmla="val 13333"/>
            </a:avLst>
          </a:prstGeom>
          <a:solidFill>
            <a:srgbClr val="DDF3E8"/>
          </a:solidFill>
          <a:ln w="12700">
            <a:solidFill>
              <a:srgbClr val="DDF3E8"/>
            </a:solidFill>
            <a:prstDash val="solid"/>
          </a:ln>
        </p:spPr>
      </p:sp>
      <p:pic>
        <p:nvPicPr>
          <p:cNvPr id="47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58368" y="4389120"/>
            <a:ext cx="274320" cy="274320"/>
          </a:xfrm>
          <a:prstGeom prst="rect">
            <a:avLst/>
          </a:prstGeom>
        </p:spPr>
      </p:pic>
      <p:sp>
        <p:nvSpPr>
          <p:cNvPr id="48" name="Text 32"/>
          <p:cNvSpPr txBox="1"/>
          <p:nvPr/>
        </p:nvSpPr>
        <p:spPr>
          <a:xfrm>
            <a:off x="1097280" y="4251960"/>
            <a:ext cx="7406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57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Zero-outage by design: </a:t>
            </a:r>
            <a:pPr indent="0" marL="0">
              <a:buNone/>
            </a:pPr>
            <a:r>
              <a:rPr lang="en-US" sz="11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 configurations are rejected in software before they can touch customer traffic.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FA3B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END-TO-END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1D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closed loop, seconds instead of hours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554480" y="1737360"/>
            <a:ext cx="2560320" cy="256032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D5DDE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65176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B1D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 s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1920240" y="31089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loop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551176" y="1453896"/>
            <a:ext cx="566928" cy="566928"/>
          </a:xfrm>
          <a:prstGeom prst="ellipse">
            <a:avLst/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92908" y="1595628"/>
            <a:ext cx="283464" cy="28346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3209544" y="1490472"/>
            <a:ext cx="11430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2B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Intent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3209544" y="1728216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TMF921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768681" y="2338465"/>
            <a:ext cx="566928" cy="566928"/>
          </a:xfrm>
          <a:prstGeom prst="ellipse">
            <a:avLst/>
          </a:prstGeom>
          <a:solidFill>
            <a:srgbClr val="E8912D"/>
          </a:solidFill>
          <a:ln w="12700">
            <a:solidFill>
              <a:srgbClr val="E8912D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10413" y="2480197"/>
            <a:ext cx="283464" cy="28346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427049" y="2375041"/>
            <a:ext cx="11430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2B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Simulate</a:t>
            </a:r>
            <a:endParaRPr lang="en-US" sz="1100" dirty="0"/>
          </a:p>
        </p:txBody>
      </p:sp>
      <p:sp>
        <p:nvSpPr>
          <p:cNvPr id="14" name="Text 10"/>
          <p:cNvSpPr txBox="1"/>
          <p:nvPr/>
        </p:nvSpPr>
        <p:spPr>
          <a:xfrm>
            <a:off x="4427049" y="2612785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ns-3 what-if</a:t>
            </a:r>
            <a:endParaRPr lang="en-US" sz="950" dirty="0"/>
          </a:p>
        </p:txBody>
      </p:sp>
      <p:sp>
        <p:nvSpPr>
          <p:cNvPr id="15" name="Shape 11"/>
          <p:cNvSpPr/>
          <p:nvPr/>
        </p:nvSpPr>
        <p:spPr>
          <a:xfrm>
            <a:off x="3303635" y="3769727"/>
            <a:ext cx="566928" cy="566928"/>
          </a:xfrm>
          <a:prstGeom prst="ellipse">
            <a:avLst/>
          </a:prstGeom>
          <a:solidFill>
            <a:srgbClr val="0FA3B1"/>
          </a:solidFill>
          <a:ln w="12700">
            <a:solidFill>
              <a:srgbClr val="0FA3B1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45367" y="3911459"/>
            <a:ext cx="283464" cy="28346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3962003" y="3806303"/>
            <a:ext cx="11430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2B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Verify</a:t>
            </a:r>
            <a:endParaRPr lang="en-US" sz="1100" dirty="0"/>
          </a:p>
        </p:txBody>
      </p:sp>
      <p:sp>
        <p:nvSpPr>
          <p:cNvPr id="18" name="Text 13"/>
          <p:cNvSpPr txBox="1"/>
          <p:nvPr/>
        </p:nvSpPr>
        <p:spPr>
          <a:xfrm>
            <a:off x="3962003" y="4044047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 28.561 gates</a:t>
            </a:r>
            <a:endParaRPr lang="en-US" sz="950" dirty="0"/>
          </a:p>
        </p:txBody>
      </p:sp>
      <p:sp>
        <p:nvSpPr>
          <p:cNvPr id="19" name="Shape 14"/>
          <p:cNvSpPr/>
          <p:nvPr/>
        </p:nvSpPr>
        <p:spPr>
          <a:xfrm>
            <a:off x="1798717" y="3769727"/>
            <a:ext cx="566928" cy="566928"/>
          </a:xfrm>
          <a:prstGeom prst="ellipse">
            <a:avLst/>
          </a:prstGeom>
          <a:solidFill>
            <a:srgbClr val="22A06B"/>
          </a:solidFill>
          <a:ln w="12700">
            <a:solidFill>
              <a:srgbClr val="22A06B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40449" y="3911459"/>
            <a:ext cx="283464" cy="28346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56301" y="3806303"/>
            <a:ext cx="95097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A2B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Actuate</a:t>
            </a:r>
            <a:endParaRPr lang="en-US" sz="1100" dirty="0"/>
          </a:p>
        </p:txBody>
      </p:sp>
      <p:sp>
        <p:nvSpPr>
          <p:cNvPr id="22" name="Text 16"/>
          <p:cNvSpPr txBox="1"/>
          <p:nvPr/>
        </p:nvSpPr>
        <p:spPr>
          <a:xfrm>
            <a:off x="756301" y="4044047"/>
            <a:ext cx="9509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RESTCONF 2PC</a:t>
            </a:r>
            <a:endParaRPr lang="en-US" sz="950" dirty="0"/>
          </a:p>
        </p:txBody>
      </p:sp>
      <p:sp>
        <p:nvSpPr>
          <p:cNvPr id="23" name="Shape 17"/>
          <p:cNvSpPr/>
          <p:nvPr/>
        </p:nvSpPr>
        <p:spPr>
          <a:xfrm>
            <a:off x="1333671" y="2338465"/>
            <a:ext cx="566928" cy="566928"/>
          </a:xfrm>
          <a:prstGeom prst="ellipse">
            <a:avLst/>
          </a:prstGeom>
          <a:solidFill>
            <a:srgbClr val="14304F"/>
          </a:solidFill>
          <a:ln w="12700">
            <a:solidFill>
              <a:srgbClr val="14304F"/>
            </a:solidFill>
            <a:prstDash val="solid"/>
          </a:ln>
        </p:spPr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75403" y="2480197"/>
            <a:ext cx="283464" cy="283464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291255" y="2375041"/>
            <a:ext cx="95097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A2B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Monitor</a:t>
            </a:r>
            <a:endParaRPr lang="en-US" sz="1100" dirty="0"/>
          </a:p>
        </p:txBody>
      </p:sp>
      <p:sp>
        <p:nvSpPr>
          <p:cNvPr id="26" name="Text 19"/>
          <p:cNvSpPr txBox="1"/>
          <p:nvPr/>
        </p:nvSpPr>
        <p:spPr>
          <a:xfrm>
            <a:off x="291255" y="2612785"/>
            <a:ext cx="9509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telemetry</a:t>
            </a:r>
            <a:endParaRPr lang="en-US" sz="950" dirty="0"/>
          </a:p>
        </p:txBody>
      </p:sp>
      <p:sp>
        <p:nvSpPr>
          <p:cNvPr id="27" name="Text 20"/>
          <p:cNvSpPr txBox="1"/>
          <p:nvPr/>
        </p:nvSpPr>
        <p:spPr>
          <a:xfrm>
            <a:off x="5394960" y="12344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B1D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the ~2 s go</a:t>
            </a:r>
            <a:endParaRPr lang="en-US" sz="1250" dirty="0"/>
          </a:p>
        </p:txBody>
      </p:sp>
      <p:sp>
        <p:nvSpPr>
          <p:cNvPr id="28" name="Shape 21"/>
          <p:cNvSpPr/>
          <p:nvPr/>
        </p:nvSpPr>
        <p:spPr>
          <a:xfrm>
            <a:off x="5394960" y="1645920"/>
            <a:ext cx="1720735" cy="384048"/>
          </a:xfrm>
          <a:prstGeom prst="rect">
            <a:avLst/>
          </a:prstGeom>
          <a:solidFill>
            <a:srgbClr val="E8912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2"/>
          <p:cNvSpPr/>
          <p:nvPr/>
        </p:nvSpPr>
        <p:spPr>
          <a:xfrm>
            <a:off x="7115695" y="1645920"/>
            <a:ext cx="1122218" cy="384048"/>
          </a:xfrm>
          <a:prstGeom prst="rect">
            <a:avLst/>
          </a:prstGeom>
          <a:solidFill>
            <a:srgbClr val="0FA3B1"/>
          </a:solidFill>
          <a:ln w="12700">
            <a:solidFill>
              <a:srgbClr val="0FA3B1"/>
            </a:solidFill>
            <a:prstDash val="solid"/>
          </a:ln>
        </p:spPr>
      </p:sp>
      <p:sp>
        <p:nvSpPr>
          <p:cNvPr id="30" name="Shape 23"/>
          <p:cNvSpPr/>
          <p:nvPr/>
        </p:nvSpPr>
        <p:spPr>
          <a:xfrm>
            <a:off x="8237913" y="1645920"/>
            <a:ext cx="448887" cy="384048"/>
          </a:xfrm>
          <a:prstGeom prst="rect">
            <a:avLst/>
          </a:prstGeom>
          <a:solidFill>
            <a:srgbClr val="7CCAD2"/>
          </a:solidFill>
          <a:ln w="12700">
            <a:solidFill>
              <a:srgbClr val="7CCAD2"/>
            </a:solidFill>
            <a:prstDash val="solid"/>
          </a:ln>
        </p:spPr>
      </p:sp>
      <p:sp>
        <p:nvSpPr>
          <p:cNvPr id="31" name="Text 24"/>
          <p:cNvSpPr txBox="1"/>
          <p:nvPr/>
        </p:nvSpPr>
        <p:spPr>
          <a:xfrm>
            <a:off x="5394960" y="1645920"/>
            <a:ext cx="17207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1.15 s</a:t>
            </a:r>
            <a:endParaRPr lang="en-US" sz="1100" dirty="0"/>
          </a:p>
        </p:txBody>
      </p:sp>
      <p:sp>
        <p:nvSpPr>
          <p:cNvPr id="32" name="Text 25"/>
          <p:cNvSpPr txBox="1"/>
          <p:nvPr/>
        </p:nvSpPr>
        <p:spPr>
          <a:xfrm>
            <a:off x="8237913" y="1645920"/>
            <a:ext cx="44888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+0.3</a:t>
            </a:r>
            <a:endParaRPr lang="en-US" sz="900" dirty="0"/>
          </a:p>
        </p:txBody>
      </p:sp>
      <p:sp>
        <p:nvSpPr>
          <p:cNvPr id="33" name="Text 26"/>
          <p:cNvSpPr txBox="1"/>
          <p:nvPr/>
        </p:nvSpPr>
        <p:spPr>
          <a:xfrm>
            <a:off x="7115695" y="1645920"/>
            <a:ext cx="11222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0.75 s</a:t>
            </a:r>
            <a:endParaRPr lang="en-US" sz="1050" dirty="0"/>
          </a:p>
        </p:txBody>
      </p:sp>
      <p:sp>
        <p:nvSpPr>
          <p:cNvPr id="34" name="Text 27"/>
          <p:cNvSpPr txBox="1"/>
          <p:nvPr/>
        </p:nvSpPr>
        <p:spPr>
          <a:xfrm>
            <a:off x="5394960" y="2084832"/>
            <a:ext cx="17207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ns-3 what-if (Tier 4)</a:t>
            </a:r>
            <a:endParaRPr lang="en-US" sz="950" dirty="0"/>
          </a:p>
        </p:txBody>
      </p:sp>
      <p:sp>
        <p:nvSpPr>
          <p:cNvPr id="35" name="Text 28"/>
          <p:cNvSpPr txBox="1"/>
          <p:nvPr/>
        </p:nvSpPr>
        <p:spPr>
          <a:xfrm>
            <a:off x="7115695" y="2084832"/>
            <a:ext cx="15711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reconcile · verify · commit</a:t>
            </a:r>
            <a:endParaRPr lang="en-US" sz="950" dirty="0"/>
          </a:p>
        </p:txBody>
      </p:sp>
      <p:sp>
        <p:nvSpPr>
          <p:cNvPr id="36" name="Shape 29"/>
          <p:cNvSpPr/>
          <p:nvPr/>
        </p:nvSpPr>
        <p:spPr>
          <a:xfrm>
            <a:off x="5394960" y="2697480"/>
            <a:ext cx="3291840" cy="960120"/>
          </a:xfrm>
          <a:prstGeom prst="roundRect">
            <a:avLst>
              <a:gd name="adj" fmla="val 7619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5577840" y="2770632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hours</a:t>
            </a:r>
            <a:endParaRPr lang="en-US" sz="2600" dirty="0"/>
          </a:p>
        </p:txBody>
      </p:sp>
      <p:sp>
        <p:nvSpPr>
          <p:cNvPr id="38" name="Text 31"/>
          <p:cNvSpPr txBox="1"/>
          <p:nvPr/>
        </p:nvSpPr>
        <p:spPr>
          <a:xfrm>
            <a:off x="5577840" y="32918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CLI troubleshooting</a:t>
            </a:r>
            <a:endParaRPr lang="en-US" sz="1100" dirty="0"/>
          </a:p>
        </p:txBody>
      </p:sp>
      <p:sp>
        <p:nvSpPr>
          <p:cNvPr id="39" name="Shape 32"/>
          <p:cNvSpPr/>
          <p:nvPr/>
        </p:nvSpPr>
        <p:spPr>
          <a:xfrm>
            <a:off x="5394960" y="3794760"/>
            <a:ext cx="3291840" cy="960120"/>
          </a:xfrm>
          <a:prstGeom prst="roundRect">
            <a:avLst>
              <a:gd name="adj" fmla="val 7619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5577840" y="3867912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A3B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1.9–2.2 s</a:t>
            </a:r>
            <a:endParaRPr lang="en-US" sz="2600" dirty="0"/>
          </a:p>
        </p:txBody>
      </p:sp>
      <p:sp>
        <p:nvSpPr>
          <p:cNvPr id="41" name="Text 34"/>
          <p:cNvSpPr txBox="1"/>
          <p:nvPr/>
        </p:nvSpPr>
        <p:spPr>
          <a:xfrm>
            <a:off x="5577840" y="43891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closed loop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D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FA3B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adapters deliver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502920" cy="502920"/>
          </a:xfrm>
          <a:prstGeom prst="ellipse">
            <a:avLst/>
          </a:prstGeom>
          <a:solidFill>
            <a:srgbClr val="0FA3B1"/>
          </a:solidFill>
          <a:ln w="12700">
            <a:solidFill>
              <a:srgbClr val="0FA3B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2930" y="1405890"/>
            <a:ext cx="251460" cy="2514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190195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Zero-risk what-if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19456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9D6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Surges, rain fade and fibre cuts are tested in a µs-accurate twin, never on live circuits.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3291840" y="1280160"/>
            <a:ext cx="502920" cy="502920"/>
          </a:xfrm>
          <a:prstGeom prst="ellipse">
            <a:avLst/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7570" y="1405890"/>
            <a:ext cx="251460" cy="25146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3291840" y="190195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Multi-vendor, open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3291840" y="219456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9D6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TMF921, 3GPP TS 28.561, ITU-T Y.3090, RESTCONF/YANG: no proprietary lock-in.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6126480" y="1280160"/>
            <a:ext cx="502920" cy="502920"/>
          </a:xfrm>
          <a:prstGeom prst="ellipse">
            <a:avLst/>
          </a:prstGeom>
          <a:solidFill>
            <a:srgbClr val="E8912D"/>
          </a:solidFill>
          <a:ln w="12700">
            <a:solidFill>
              <a:srgbClr val="E8912D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2210" y="1405890"/>
            <a:ext cx="251460" cy="25146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6126480" y="190195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Seconds-scale self-healing</a:t>
            </a:r>
            <a:endParaRPr lang="en-US" sz="1300" dirty="0"/>
          </a:p>
        </p:txBody>
      </p:sp>
      <p:sp>
        <p:nvSpPr>
          <p:cNvPr id="15" name="Text 10"/>
          <p:cNvSpPr txBox="1"/>
          <p:nvPr/>
        </p:nvSpPr>
        <p:spPr>
          <a:xfrm>
            <a:off x="6126480" y="219456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9D6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 to verified change in ≈2 s, replacing hours of manual CLI work.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29184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4846320"/>
                <a:gridCol w="201168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8F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ADAPTER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19050" cap="flat" cmpd="sng" algn="ctr">
                      <a:solidFill>
                        <a:srgbClr val="0B1D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D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D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D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D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8F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TRANSLATES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19050" cap="flat" cmpd="sng" algn="ctr">
                      <a:solidFill>
                        <a:srgbClr val="0B1D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D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D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D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D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8F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STANDARD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0" marB="0" anchor="ctr">
                    <a:lnL w="19050" cap="flat" cmpd="sng" algn="ctr">
                      <a:solidFill>
                        <a:srgbClr val="0B1D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D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D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D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D3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B8A8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① Intent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19050" cap="flat" cmpd="sng" algn="ctr">
                      <a:solidFill>
                        <a:srgbClr val="0B1D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D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D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D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0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Natural language / SLA bounds → TFS service &amp; CSPF requests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19050" cap="flat" cmpd="sng" algn="ctr">
                      <a:solidFill>
                        <a:srgbClr val="0B1D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D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D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D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0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TM Forum TMF921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19050" cap="flat" cmpd="sng" algn="ctr">
                      <a:solidFill>
                        <a:srgbClr val="0B1D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D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D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D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04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5B9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② Simulation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19050" cap="flat" cmpd="sng" algn="ctr">
                      <a:solidFill>
                        <a:srgbClr val="0B1D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D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D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D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0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Live TFS graph → scoped ns-3 run → µs traces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19050" cap="flat" cmpd="sng" algn="ctr">
                      <a:solidFill>
                        <a:srgbClr val="0B1D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D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D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D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0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IRTF NMRG twin drafts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19050" cap="flat" cmpd="sng" algn="ctr">
                      <a:solidFill>
                        <a:srgbClr val="0B1D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D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D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D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04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6FD3A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③ Southbound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19050" cap="flat" cmpd="sng" algn="ctr">
                      <a:solidFill>
                        <a:srgbClr val="0B1D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D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D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D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0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Candidate diff → gated two-phase commit on MH-T261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19050" cap="flat" cmpd="sng" algn="ctr">
                      <a:solidFill>
                        <a:srgbClr val="0B1D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D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D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D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0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RFC 8040 / 7950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19050" cap="flat" cmpd="sng" algn="ctr">
                      <a:solidFill>
                        <a:srgbClr val="0B1D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B1D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B1D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B1D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04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Digital Twin Adapters &amp; Standards</dc:title>
  <dc:subject>PptxGenJS Presentation</dc:subject>
  <dc:creator>PptxGenJS</dc:creator>
  <cp:lastModifiedBy>PptxGenJS</cp:lastModifiedBy>
  <cp:revision>1</cp:revision>
  <dcterms:created xsi:type="dcterms:W3CDTF">2026-09-30T06:17:34Z</dcterms:created>
  <dcterms:modified xsi:type="dcterms:W3CDTF">2026-09-30T06:17:34Z</dcterms:modified>
</cp:coreProperties>
</file>