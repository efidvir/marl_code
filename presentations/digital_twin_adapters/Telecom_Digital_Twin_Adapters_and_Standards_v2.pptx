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1D33"/>
                </a:solidFill>
                <a:latin typeface="Arial"/>
              </a:defRPr>
            </a:pPr>
            <a:r>
              <a:rPr sz="1100" b="0" i="0" u="none" strike="noStrike">
                <a:solidFill>
                  <a:srgbClr val="0B1D33"/>
                </a:solidFill>
                <a:latin typeface="Arial"/>
              </a:rPr>
              <a:t>Governor resolution tiers (relative fidelity)</a:t>
            </a:r>
          </a:p>
        </c:rich>
      </c:tx>
      <c:layout/>
      <c:overlay val="0"/>
    </c:title>
    <c:autoTitleDeleted val="0"/>
    <c:plotArea>
      <c:layout/>
      <c:barChart>
        <c:barDir val="bar"/>
        <c:grouping val="clustered"/>
        <c:varyColors val="0"/>
        <c:ser>
          <c:idx val="0"/>
          <c:order val="0"/>
          <c:tx>
            <c:strRef>
              <c:f>Sheet1!$B$1</c:f>
              <c:strCache>
                <c:ptCount val="1"/>
                <c:pt idx="0">
                  <c:v>Fidelity</c:v>
                </c:pt>
              </c:strCache>
            </c:strRef>
          </c:tx>
          <c:spPr>
            <a:solidFill>
              <a:srgbClr val="C9CFD6"/>
            </a:solidFill>
            <a:effectLst/>
          </c:spPr>
          <c:invertIfNegative val="0"/>
          <c:dLbls>
            <c:numFmt formatCode="0&quot;%&quot;" sourceLinked="0"/>
            <c:txPr>
              <a:bodyPr/>
              <a:lstStyle/>
              <a:p>
                <a:pPr>
                  <a:defRPr b="0" i="0" strike="noStrike" sz="1000" u="none">
                    <a:solidFill>
                      <a:srgbClr val="1A2B3C"/>
                    </a:solidFill>
                    <a:latin typeface="Arial"/>
                  </a:defRPr>
                </a:pPr>
              </a:p>
            </c:txPr>
            <c:showLegendKey val="0"/>
            <c:showVal val="1"/>
            <c:showCatName val="0"/>
            <c:showSerName val="0"/>
            <c:showPercent val="0"/>
            <c:showBubbleSize val="0"/>
            <c:showLeaderLines val="0"/>
          </c:dLbls>
          <c:dPt>
            <c:idx val="0"/>
            <c:invertIfNegative val="0"/>
            <c:bubble3D val="0"/>
            <c:spPr>
              <a:solidFill>
                <a:srgbClr val="C9CFD6"/>
              </a:solidFill>
              <a:effectLst/>
            </c:spPr>
          </c:dPt>
          <c:dPt>
            <c:idx val="1"/>
            <c:invertIfNegative val="0"/>
            <c:bubble3D val="0"/>
            <c:spPr>
              <a:solidFill>
                <a:srgbClr val="C9CFD6"/>
              </a:solidFill>
              <a:effectLst/>
            </c:spPr>
          </c:dPt>
          <c:dPt>
            <c:idx val="2"/>
            <c:invertIfNegative val="0"/>
            <c:bubble3D val="0"/>
            <c:spPr>
              <a:solidFill>
                <a:srgbClr val="C9CFD6"/>
              </a:solidFill>
              <a:effectLst/>
            </c:spPr>
          </c:dPt>
          <c:dPt>
            <c:idx val="3"/>
            <c:invertIfNegative val="0"/>
            <c:bubble3D val="0"/>
            <c:spPr>
              <a:solidFill>
                <a:srgbClr val="E8912D"/>
              </a:solidFill>
              <a:effectLst/>
            </c:spPr>
          </c:dPt>
          <c:dPt>
            <c:idx val="4"/>
            <c:invertIfNegative val="0"/>
            <c:bubble3D val="0"/>
            <c:spPr>
              <a:solidFill>
                <a:srgbClr val="C9CFD6"/>
              </a:solidFill>
              <a:effectLst/>
            </c:spPr>
          </c:dPt>
          <c:cat>
            <c:multiLvlStrRef>
              <c:f>Sheet1!$A$2:$A$6</c:f>
              <c:multiLvlStrCache>
                <c:ptCount val="5"/>
                <c:lvl>
                  <c:pt idx="0">
                    <c:v>T1 Macro-topology</c:v>
                  </c:pt>
                  <c:pt idx="1">
                    <c:v>T2 Queue dynamics</c:v>
                  </c:pt>
                  <c:pt idx="2">
                    <c:v>T3 Physical RF</c:v>
                  </c:pt>
                  <c:pt idx="3">
                    <c:v>T4 URLLC micro-packet</c:v>
                  </c:pt>
                  <c:pt idx="4">
                    <c:v>T5 Green energy</c:v>
                  </c:pt>
                </c:lvl>
              </c:multiLvlStrCache>
            </c:multiLvlStrRef>
          </c:cat>
          <c:val>
            <c:numRef>
              <c:f>Sheet1!$B$2:$B$6</c:f>
              <c:numCache>
                <c:formatCode>General</c:formatCode>
                <c:ptCount val="5"/>
                <c:pt idx="0">
                  <c:v>25</c:v>
                </c:pt>
                <c:pt idx="1">
                  <c:v>55</c:v>
                </c:pt>
                <c:pt idx="2">
                  <c:v>75</c:v>
                </c:pt>
                <c:pt idx="3">
                  <c:v>95</c:v>
                </c:pt>
                <c:pt idx="4">
                  <c:v>20</c:v>
                </c:pt>
              </c:numCache>
            </c:numRef>
          </c:val>
        </c:ser>
        <c:dLbls>
          <c:numFmt formatCode="0&quot;%&quot;" sourceLinked="0"/>
          <c:txPr>
            <a:bodyPr/>
            <a:lstStyle/>
            <a:p>
              <a:pPr>
                <a:defRPr b="0" i="0" strike="noStrike" sz="1000" u="none">
                  <a:solidFill>
                    <a:srgbClr val="1A2B3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A2B3C"/>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1D33"/>
                </a:solidFill>
                <a:latin typeface="Arial"/>
              </a:defRPr>
            </a:pPr>
            <a:r>
              <a:rPr sz="1100" b="0" i="0" u="none" strike="noStrike">
                <a:solidFill>
                  <a:srgbClr val="0B1D33"/>
                </a:solidFill>
                <a:latin typeface="Arial"/>
              </a:rPr>
              <a:t>Link rate (Mbps)</a:t>
            </a:r>
          </a:p>
        </c:rich>
      </c:tx>
      <c:layout/>
      <c:overlay val="0"/>
    </c:title>
    <c:autoTitleDeleted val="0"/>
    <c:plotArea>
      <c:layout/>
      <c:barChart>
        <c:barDir val="col"/>
        <c:grouping val="clustered"/>
        <c:varyColors val="0"/>
        <c:ser>
          <c:idx val="0"/>
          <c:order val="0"/>
          <c:tx>
            <c:strRef>
              <c:f>Sheet1!$B$1</c:f>
              <c:strCache>
                <c:ptCount val="1"/>
                <c:pt idx="0">
                  <c:v>Rate</c:v>
                </c:pt>
              </c:strCache>
            </c:strRef>
          </c:tx>
          <c:spPr>
            <a:solidFill>
              <a:srgbClr val="9AA7B4"/>
            </a:solidFill>
            <a:effectLst/>
          </c:spPr>
          <c:invertIfNegative val="0"/>
          <c:dLbls>
            <c:numFmt formatCode="#,##0" sourceLinked="0"/>
            <c:txPr>
              <a:bodyPr/>
              <a:lstStyle/>
              <a:p>
                <a:pPr>
                  <a:defRPr b="1" i="0" strike="noStrike" sz="1200" u="none">
                    <a:solidFill>
                      <a:srgbClr val="1A2B3C"/>
                    </a:solidFill>
                    <a:latin typeface="Arial"/>
                  </a:defRPr>
                </a:pPr>
              </a:p>
            </c:txPr>
            <c:showLegendKey val="0"/>
            <c:showVal val="1"/>
            <c:showCatName val="0"/>
            <c:showSerName val="0"/>
            <c:showPercent val="0"/>
            <c:showBubbleSize val="0"/>
            <c:showLeaderLines val="0"/>
          </c:dLbls>
          <c:dPt>
            <c:idx val="0"/>
            <c:invertIfNegative val="0"/>
            <c:bubble3D val="0"/>
            <c:spPr>
              <a:solidFill>
                <a:srgbClr val="9AA7B4"/>
              </a:solidFill>
              <a:effectLst/>
            </c:spPr>
          </c:dPt>
          <c:dPt>
            <c:idx val="1"/>
            <c:invertIfNegative val="0"/>
            <c:bubble3D val="0"/>
            <c:spPr>
              <a:solidFill>
                <a:srgbClr val="D64545"/>
              </a:solidFill>
              <a:effectLst/>
            </c:spPr>
          </c:dPt>
          <c:dPt>
            <c:idx val="2"/>
            <c:invertIfNegative val="0"/>
            <c:bubble3D val="0"/>
            <c:spPr>
              <a:solidFill>
                <a:srgbClr val="22A06B"/>
              </a:solidFill>
              <a:effectLst/>
            </c:spPr>
          </c:dPt>
          <c:cat>
            <c:multiLvlStrRef>
              <c:f>Sheet1!$A$2:$A$4</c:f>
              <c:multiLvlStrCache>
                <c:ptCount val="3"/>
                <c:lvl>
                  <c:pt idx="0">
                    <c:v>Clear sky</c:v>
                  </c:pt>
                  <c:pt idx="1">
                    <c:v>Rain · MCS 0 floor</c:v>
                  </c:pt>
                  <c:pt idx="2">
                    <c:v>Rain · MCS 4 floor</c:v>
                  </c:pt>
                </c:lvl>
              </c:multiLvlStrCache>
            </c:multiLvlStrRef>
          </c:cat>
          <c:val>
            <c:numRef>
              <c:f>Sheet1!$B$2:$B$4</c:f>
              <c:numCache>
                <c:formatCode>General</c:formatCode>
                <c:ptCount val="3"/>
                <c:pt idx="0">
                  <c:v>1000</c:v>
                </c:pt>
                <c:pt idx="1">
                  <c:v>100</c:v>
                </c:pt>
                <c:pt idx="2">
                  <c:v>500</c:v>
                </c:pt>
              </c:numCache>
            </c:numRef>
          </c:val>
        </c:ser>
        <c:dLbls>
          <c:numFmt formatCode="#,##0" sourceLinked="0"/>
          <c:txPr>
            <a:bodyPr/>
            <a:lstStyle/>
            <a:p>
              <a:pPr>
                <a:defRPr b="1" i="0" strike="noStrike" sz="1200" u="none">
                  <a:solidFill>
                    <a:srgbClr val="1A2B3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2B3C"/>
                </a:solidFill>
                <a:latin typeface="Calibri"/>
              </a:defRPr>
            </a:pPr>
            <a:endParaRPr lang="en-US"/>
          </a:p>
        </c:txPr>
        <c:crossAx val="2094734552"/>
        <c:crosses val="autoZero"/>
        <c:auto val="1"/>
        <c:lblAlgn val="ctr"/>
        <c:noMultiLvlLbl val="1"/>
      </c:catAx>
      <c:valAx>
        <c:axId val="2094734552"/>
        <c:scaling>
          <c:orientation val="minMax"/>
          <c:max val="11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the adapters? Software translators that bridge the different timing, data formats and control protocols of the four parts of the twin.
Standards: TM Forum TMF921, 3GPP TS 28.561, ITU-T Y.3090, ITU-T Y.3092, IETF RFC 8040 RESTCONF / RFC 7950 YANG 1.1, with ETSI TeraFlowSDN as the SDN controller.
Closed-loop automation: every change is predicted in a discrete-event what-if run before it is actuated on hardware with a two-phase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telecom digital twin the components speak different languages and run on very different timescales. Adapters bridge that semantic and temporal gap.
1. Declarative intent (human operator / SLA): natural language or JSON, minutes to days. Example: 'Ensure URLLC latency &lt; 1.5 ms and 99.999% availability during storms'.
2. SDN controller (ETSI TeraFlowSDN): Context DB, gRPC, CSPF; seconds (control plane). Data: device UUIDs, endpoints, topology graphs, TI-LFA backup paths.
3. Discrete simulator (ns-3 core): C++ event queue and packets; microseconds. Data: QueueDisc buffer drops, Wi-Fi EDCA AC_VO, link propagation delay.
4. Physical hardware (Ceragon MH-T261): RFC 8040 RESTCONF and PHY; sub-millisecond. Data: V-band 60.48 GHz, ACM MCS 0-9, RSSI/SNR, RF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 adapter: translates natural-language or SLA bounds into TeraFlowSDN service and CSPF requests (TM Forum TMF921).
Simulation adapter: syncs the live TFS graph into the ns-3 C++ discrete-event engine, scopes fidelity (tiers 1-5) and returns microsecond traces. Each simulation run is a 3GPP TS 28.561 NDT job over the ITU-T Y.3092 NDT-m interface (see the standards-alignment slide).
Southbound driver: stages candidate-datastore diffs and runs two-phase commits to the Ceragon MH-T261 over RFC 8040 RESTCONF.
ITU-T Y.3090 defines the layered twin reference model (physical network layer, digital twin layer, application layer). 3GPP TS 28.561 defines management of the network digital twin and its closed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TMF921: REST API for declarative intent and SLA expectations. The operator sets latency and availability without low-level scripts.
3GPP TS 28.561 (Management aspects of network digital twins): twin lifecycle and closed-loop control. In our platform it governs the 4-phase pre-flight gate: latency envelope, queue stability, hardware capability, spectral mask.
ITU-T Y.3090 (Digital twin network: requirements and architecture): layered reference model and synchronisation between the physical network and the twin. Powers our real-time shadow datastore.
ITU-T Y.3092 (09/2024, Digital twin for management and orchestration in IMT-2020 networks and beyond): defines NDT-m (management system to twin) and NDT-p (physical network to twin). Our simulation adapter uses NDT-m for what-if job control and NDT-p for live state sync. The IRTF NMRG network-digital-twin drafts describe a similar split but are research drafts.
RFC 8040 / RFC 7950: RESTCONF over HTTP to YANG datastores. Southbound interface to the Ceragon MH-T261 (192.168.1.225:80).
ETSI TeraFlowSDN: open-source SDN controller hosted by an ETSI Open Source Group (not a standard itself). Context (gRPC :10010), Device driver (:10020), Service/PCE (:10030), Monitoring telemetry (:10040).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the adapter queries the TeraFlowSDN Context service for the active 34-node graph, link bandwidths and live Ceragon RF metrics.
Step 2: the simulation resolution governor scopes the graph to the target domain instead of simulating all 34 nodes. Example: Tier 4 (URLLC micro-packet) uses 23 nodes and runs in about 1150 ms.
Step 3: what-if stress is injected into ns-3: a 3.5x bulk traffic surge (bufferbloat) or ITU-R P.838 rain fade (ACM rate falls from 1 Gbps to 100 Mbps).
Step 4: ns-3 simulates microsecond packet events on cersrv-029, writes /tmp/tsn_wifi_ceragon_anim.xml, and the adapter streams queues, drops and latencies back to the twin.
Implementation: remote execution over SSH/JSON to ns-3.45 on cersrv-029, with an analytical local fallback for standalone mode. NetAnim AnimationInterface gives timeline playback (0.000-2.500 s) with 10 buffer slots and tail-drop alerts. Deterministic TSN mapping: 802.1Q PCP class 6 and EDCA AC_VO go to PfifoFast band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the simulation adapter onto two published specifications. It is the target alignment; confirm which messages the implementation already emits.
3GPP TS 28.561 (Management aspects of network digital twins) models the twin as managed objects: NDTFunction (the twin, with supportedNDTCapabilities and nDTFunctionScope), NDTJob (one simulation/emulation run for one scenario) and NDTReport (its output). They are created, modified and deleted with the generic TS 28.532 operations (createMOI, modifyMOIAttributes, deleteMOI, getMOIAttributes).
TFS acts as the NDT MnS consumer. It creates an NDTJob whose nDTCapability is configuration verification and whose nDTJobSynchScope is the Tier-4 URLLC subgraph (23 nodes). ndtJobExecutionRequirements carries limits such as maximum run time and precision, which is where the fidelity governor's tier choice belongs. The simulation adapter plus ns-3 is the NDT MnS producer; it returns an NDTReport with predicted latency, queue occupancy and drops. After the verdict the job is suspended or deleted.
ITU-T Y.3092 (09/2024, Digital twin for management and orchestration in IMT-2020 networks and beyond) names the interfaces: NDT-m between the management system and the twin, NDT-p between the physical network and the twin. Job control (1, 3, 4) runs over NDT-m; the live topology and RF state sync (2) is the NDT-p role, relayed here through TFS Context.
The IRTF NMRG network-digital-twin drafts describe the same split informally, but they are research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TFS to ns-3 link has three jobs, and each has a standard option today and a coming one.
Job control. Now: 3GPP TS 28.561 models each what-if run as an NDTJob, created and managed with the generic TS 28.532 REST management-service operations; ITU-T Y.3092 (09/2024) calls this the NDT-m interface. Coming: 3GPP Release 20 'NDT phase 2' (study TR 28.883, completed March 2026, now normative work) adds NDT interaction with network and automation functions, multi-NDT collaboration, data collection and NDT job runtime behaviour. ITU-T Q.SDTN (SG11, 'Signalling and protocol for digital twin network supported for IMT-2020 and beyond') is still under study, target around December 2026, and defines the data-exchange interfaces between the twin, third-party applications and the physical network.
State sync. Now: TeraFlowSDN's own Context and Monitoring gRPC services are the de facto source; standard streaming alternatives are IETF YANG-Push (RFC 8641) and OpenConfig gNMI. Y.3092 names this the NDT-p interface. Coming: Rel-20 NDT data-collection enhancements; IRTF NMRG twin interface drafts (research, not standards track).
Shared models. Now: IETF RFC 8345 (ietf-network / ietf-network-topology YANG) as the common topology model; ITU-T Y.3093 (data domain, 08/2025) and Y.3094 (model domain). Coming: multi-NDT collaboration from TR 28.883; the O-RAN nGRG digital-twin research line (O-RAN co-funded the Colosseum O-RAN digital-twin platform in 2025).
Frameworks that frame all of this: ITU-T Y.3090 (digital twin network architecture), ETSI GR ZSM 015 (2024, network digital twin in zero-touch management), IRTF NMRG network digital twin architecture draft.
Recommended stack: TS 28.561 NDTJob for control, TFS gRPC for live state, RFC 8345 for the topology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keep Python AI/ML inside twin runs organised.
1. Couple in-run. The agent must exchange observations, rewards and actions with ns-3 at every simulation step. There is no SDO standard for this; the de facto options are ns3-ai (shared-memory IPC between C++ and Python, reported up to about 100x faster than socket IPC, with a Gymnasium-style interface) and ns3-gym (ZeroMQ sockets, OpenAI Gym / Gymnasium API). Recommendation: expose every scenario as a Gymnasium environment so any agent, including the MAPPO shared actor from the MARL-RIC code in this repository (ce_ck_s1234/policy_final.pt), plugs in the same way.
2. Package and serve. Export trained models to ONNX so the identical artefact runs in the twin and in the live controller; serve it behind the KServe Open Inference Protocol (REST/gRPC) when the agent runs outside the ns-3 process. These are open industry formats, not SDO standards.
3. Govern the lifecycle. 3GPP TS 28.105 (AI/ML management) covers ML training, testing, deployment and inference; Release 19 adds AI/ML inference emulation, i.e. running inference in an emulation environment to evaluate a model before it is deployed, which is exactly what a twin run is. ITU-T Y.3181 (2022) defines an ML sandbox: an isolated environment with simulators for validating ML before deployment, with reference points and APIs. ITU-T Y.3172 defines the ML pipeline architecture (sources, pre-processing, model, policy, sinks) and the ML function orchestrator.
Coming: 3GPP Rel-20 NDT phase 2 (TR 28.883) covers how NDTs work with machine-learning and automation functions, which links NDT jobs (TS 28.561) to ML entities (TS 28.105).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3GPP TS 28.561 (Management aspects of network digital twins). Made for: running network digital twins as a managed service of the 3GPP management system. Can do: NDTFunction describes what a twin supports; NDTJob is one simulation or emulation run for one scenario (for example configuration verification, signalling-storm analysis or data generation), with a scope and execution requirements such as maximum run time; NDTReport carries the result. All are created, modified and deleted with the generic TS 28.532 operations. For our link: TFS creates one NDTJob per what-if, scoped to the governor's subgraph, and reads the NDTReport with predicted latency, queue occupancy and drops. The example values are illustrative, not exact attribute encodings.
ITU-T Y.3092 (09/2024, Digital twin for management and orchestration in IMT-2020 networks and beyond). Made for: using twins inside network management and orchestration. Can do: requirements, a functional framework (management and orchestration, control, modelling, data management), the NDT-m and NDT-p interfaces, data collection and security considerations. For our link: NDT-m carries job control between TFS and the twin; NDT-p carries live state from the Ceragon radios (relayed by TFS) into the twin.
IETF RFC 8345 (A YANG Data Model for Network Topologies). Made for: a common, vendor-neutral topology model. Can do: networks, nodes, links and termination points, layered and supporting networks, and technology augmentations (L3 RFC 8346, TE RFC 8795, microwave radio links RFC 8561). For our link: TFS exports its topology once in this schema and the ns-3 scenario builder consumes it; microwave attributes can use the RFC 8561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IETF RFC 8641 (Subscription to YANG Notifications for Datastore Updates, 'YANG-Push'), built on RFC 8639 (subscribed notifications). Made for: streaming datastore changes instead of polling. Can do: periodic or on-change subscriptions to any YANG subtree, with filters. For our link: subscribe to RSSI and MCS on the microwave links so the twin resyncs on change. OpenConfig gNMI Subscribe is the equivalent streaming option used by many vendors.
3GPP TS 28.105 (AI/ML management). Made for: managing ML models in the 3GPP management system. Can do: ML training and testing, AI/ML inference emulation (Rel-19: running inference in an emulation environment to evaluate a model before deployment), deployment, inference control and performance management. For our link: register the Python models (for example the MAPPO relay policy from this repository) as ML entities, use the ns-3 twin as the emulation environment, and deploy only when emulation KPIs pass. The example values are illustrative.
ITU-T Y.3181 (2022, Architectural framework for machine learning sandbox in future networks including IMT-2020). Made for: evaluating and validating ML models in an isolated environment using simulators before deployment. Can do: requirements, high-level architecture, components, reference points and APIs. For our link: the ns-3 twin plus the Python agents is the sandbox; a model is promoted to the live TFS loop only after it meets the sandbox KPIs, such as the 1.5 ms latency SLA. It pairs with ITU-T Y.3172 (ML pipeline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values are the ones used in this deck: rain fade (ITU-R P.838) pushes adaptive coding and modulation down so the link rate falls from about 1 Gbps to 100 Mbps. Raising the ACM floor from MCS 0 to MCS 4 keeps at least 500 Mbps.
The same candidate configuration also moves URLLC traffic into IEEE 802.1Q PCP class 6 (PfifoFast band 0) and retunes the carrier from 60.48 GHz to 64.80 GHz.
ns-3 predicts 1.12 ms latency for this configuration, inside the 1.5 ms SLA, so it passes gate 1 of the pre-flight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candidate datastore staging: the AI decision engine output is translated into YANG configuration and staged in the TeraFlowSDN candidate datastore. Target device: Ceragon MH-T261 (UUID f676623c...). Changes: ACM floor MCS 0 -&gt; MCS 4 (&gt;= 500 Mbps), QoS FIFO -&gt; IEEE 802.1Q PCP class 6 (PfifoFast), carrier 60.48 GHz -&gt; 64.80 GHz.
Stage 2, pre-flight safety gate (3GPP TS 28.561): gate 1 latency (predicted 1.12 ms &lt;= 1.5 ms), gate 2 queue stability (buffer occupancy &lt; 40%), gate 3 hardware capability (MH-T261 supports MCS 4), gate 4 spectral mask (64.80 GHz approved in V-band).
Stage 3, two-phase commit over RESTCONF to 192.168.1.225:80: phase 1 PATCH the candidate datastore, phase 2 POST ietf-netconf:commit, then continuous RFC 8040 telemetry polling with automatic revert if health checks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SLA intent is ingested (TMF921), simulated in ns-3, safety-verified against the TS 28.561 gates, actuated through TeraFlowSDN over RESTCONF, and monitored through live telemetry. End to end this takes about 1.9 to 2.2 s.
The ns-3 what-if run at Tier 4 is about 1.15 s of that; the remaining 0.75-1.05 s is topology reconciliation, gate checks and the two-phase commit (derived as total minus simulation time).
This replaces hours of manual CLI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Zero-risk what-if validation: operators test severe perturbations (3.5x bulk surges, category-5 tropical rain fade, fibre cuts) in a microsecond-accurate twin without risking live production circuits.
Standardised multi-vendor interoperability: built on open telecom specifications (TMF921, 3GPP TS 28.561, ITU-T Y.3090, ITU-T Y.3092, RFC 8040 RESTCONF) with the open-source ETSI TeraFlowSDN controller.
Seconds-scale closed loop: SLA intent is ingested, simulated, verified and actuated in about 1.9-2.2 s. (The original deck called this 'sub-second'; the measured end-to-end figure is about 2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822960"/>
            <a:ext cx="5120640" cy="274320"/>
          </a:xfrm>
          <a:prstGeom prst="rect">
            <a:avLst/>
          </a:prstGeom>
          <a:noFill/>
          <a:ln/>
        </p:spPr>
        <p:txBody>
          <a:bodyPr wrap="square" lIns="0" tIns="0" rIns="0" bIns="0" rtlCol="0" anchor="t"/>
          <a:lstStyle/>
          <a:p>
            <a:pPr indent="0" marL="0">
              <a:buNone/>
            </a:pPr>
            <a:r>
              <a:rPr lang="en-US" sz="1100" b="1" spc="300" kern="0" dirty="0">
                <a:solidFill>
                  <a:srgbClr val="0FA3B1"/>
                </a:solidFill>
                <a:latin typeface="Arial" pitchFamily="34" charset="0"/>
                <a:ea typeface="Arial" pitchFamily="34" charset="-122"/>
                <a:cs typeface="Arial" pitchFamily="34" charset="-120"/>
              </a:rPr>
              <a:t>TELECOM DIGITAL TWIN ARCHITECTURE</a:t>
            </a:r>
            <a:endParaRPr lang="en-US" sz="1100" dirty="0"/>
          </a:p>
        </p:txBody>
      </p:sp>
      <p:sp>
        <p:nvSpPr>
          <p:cNvPr id="3" name="Text 1"/>
          <p:cNvSpPr txBox="1"/>
          <p:nvPr/>
        </p:nvSpPr>
        <p:spPr>
          <a:xfrm>
            <a:off x="548640" y="1188720"/>
            <a:ext cx="5120640" cy="13716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Digital Twin Adapters &amp; Standards</a:t>
            </a:r>
            <a:endParaRPr lang="en-US" sz="3800" dirty="0"/>
          </a:p>
        </p:txBody>
      </p:sp>
      <p:sp>
        <p:nvSpPr>
          <p:cNvPr id="4" name="Text 2"/>
          <p:cNvSpPr txBox="1"/>
          <p:nvPr/>
        </p:nvSpPr>
        <p:spPr>
          <a:xfrm>
            <a:off x="548640" y="2697480"/>
            <a:ext cx="4937760" cy="731520"/>
          </a:xfrm>
          <a:prstGeom prst="rect">
            <a:avLst/>
          </a:prstGeom>
          <a:noFill/>
          <a:ln/>
        </p:spPr>
        <p:txBody>
          <a:bodyPr wrap="square" lIns="0" tIns="0" rIns="0" bIns="0" rtlCol="0" anchor="t"/>
          <a:lstStyle/>
          <a:p>
            <a:pPr indent="0" marL="0">
              <a:buNone/>
            </a:pPr>
            <a:r>
              <a:rPr lang="en-US" sz="1500" dirty="0">
                <a:solidFill>
                  <a:srgbClr val="C9D6E3"/>
                </a:solidFill>
                <a:latin typeface="Calibri" pitchFamily="34" charset="0"/>
                <a:ea typeface="Calibri" pitchFamily="34" charset="-122"/>
                <a:cs typeface="Calibri" pitchFamily="34" charset="-120"/>
              </a:rPr>
              <a:t>How operator intent, ETSI TeraFlowSDN, ns-3 co-simulation and Ceragon microwave hardware work as one closed loop</a:t>
            </a:r>
            <a:endParaRPr lang="en-US" sz="1500" dirty="0"/>
          </a:p>
        </p:txBody>
      </p:sp>
      <p:sp>
        <p:nvSpPr>
          <p:cNvPr id="5" name="Text 3"/>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000" dirty="0">
                <a:solidFill>
                  <a:srgbClr val="8FA3B8"/>
                </a:solidFill>
                <a:latin typeface="Calibri" pitchFamily="34" charset="0"/>
                <a:ea typeface="Calibri" pitchFamily="34" charset="-122"/>
                <a:cs typeface="Calibri" pitchFamily="34" charset="-120"/>
              </a:rPr>
              <a:t>Ceragon Networks  ·  ETSI TeraFlowSDN research  ·  Standalone &amp; production hybrid architecture</a:t>
            </a:r>
            <a:endParaRPr lang="en-US" sz="1000" dirty="0"/>
          </a:p>
        </p:txBody>
      </p:sp>
      <p:sp>
        <p:nvSpPr>
          <p:cNvPr id="6" name="Shape 4"/>
          <p:cNvSpPr/>
          <p:nvPr/>
        </p:nvSpPr>
        <p:spPr>
          <a:xfrm>
            <a:off x="6592824" y="1060704"/>
            <a:ext cx="0" cy="2880360"/>
          </a:xfrm>
          <a:prstGeom prst="line">
            <a:avLst/>
          </a:prstGeom>
          <a:noFill/>
          <a:ln w="25400">
            <a:solidFill>
              <a:srgbClr val="3A5575"/>
            </a:solidFill>
            <a:prstDash val="dash"/>
          </a:ln>
        </p:spPr>
      </p:sp>
      <p:sp>
        <p:nvSpPr>
          <p:cNvPr id="7" name="Shape 5"/>
          <p:cNvSpPr/>
          <p:nvPr/>
        </p:nvSpPr>
        <p:spPr>
          <a:xfrm>
            <a:off x="6309360" y="777240"/>
            <a:ext cx="566928" cy="566928"/>
          </a:xfrm>
          <a:prstGeom prst="ellipse">
            <a:avLst/>
          </a:prstGeom>
          <a:solidFill>
            <a:srgbClr val="7C5CFF"/>
          </a:solidFill>
          <a:ln w="12700">
            <a:solidFill>
              <a:srgbClr val="7C5CFF"/>
            </a:solidFill>
            <a:prstDash val="solid"/>
          </a:ln>
        </p:spPr>
      </p:sp>
      <p:pic>
        <p:nvPicPr>
          <p:cNvPr id="8" name="Image 0" descr="preencoded.png">    </p:cNvPr>
          <p:cNvPicPr>
            <a:picLocks noChangeAspect="1"/>
          </p:cNvPicPr>
          <p:nvPr/>
        </p:nvPicPr>
        <p:blipFill>
          <a:blip r:embed="rId1"/>
          <a:stretch>
            <a:fillRect/>
          </a:stretch>
        </p:blipFill>
        <p:spPr>
          <a:xfrm>
            <a:off x="6451092" y="918972"/>
            <a:ext cx="283464" cy="283464"/>
          </a:xfrm>
          <a:prstGeom prst="rect">
            <a:avLst/>
          </a:prstGeom>
        </p:spPr>
      </p:pic>
      <p:sp>
        <p:nvSpPr>
          <p:cNvPr id="9" name="Text 6"/>
          <p:cNvSpPr txBox="1"/>
          <p:nvPr/>
        </p:nvSpPr>
        <p:spPr>
          <a:xfrm>
            <a:off x="7040880" y="83210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Intent</a:t>
            </a:r>
            <a:endParaRPr lang="en-US" sz="1300" dirty="0"/>
          </a:p>
        </p:txBody>
      </p:sp>
      <p:sp>
        <p:nvSpPr>
          <p:cNvPr id="10" name="Text 7"/>
          <p:cNvSpPr txBox="1"/>
          <p:nvPr/>
        </p:nvSpPr>
        <p:spPr>
          <a:xfrm>
            <a:off x="7040880" y="107899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Operator &amp; SLA</a:t>
            </a:r>
            <a:endParaRPr lang="en-US" sz="1050" dirty="0"/>
          </a:p>
        </p:txBody>
      </p:sp>
      <p:sp>
        <p:nvSpPr>
          <p:cNvPr id="11" name="Shape 8"/>
          <p:cNvSpPr/>
          <p:nvPr/>
        </p:nvSpPr>
        <p:spPr>
          <a:xfrm>
            <a:off x="6309360" y="1737360"/>
            <a:ext cx="566928" cy="566928"/>
          </a:xfrm>
          <a:prstGeom prst="ellipse">
            <a:avLst/>
          </a:prstGeom>
          <a:solidFill>
            <a:srgbClr val="0FA3B1"/>
          </a:solidFill>
          <a:ln w="12700">
            <a:solidFill>
              <a:srgbClr val="0FA3B1"/>
            </a:solidFill>
            <a:prstDash val="solid"/>
          </a:ln>
        </p:spPr>
      </p:sp>
      <p:pic>
        <p:nvPicPr>
          <p:cNvPr id="12" name="Image 1" descr="preencoded.png">    </p:cNvPr>
          <p:cNvPicPr>
            <a:picLocks noChangeAspect="1"/>
          </p:cNvPicPr>
          <p:nvPr/>
        </p:nvPicPr>
        <p:blipFill>
          <a:blip r:embed="rId2"/>
          <a:stretch>
            <a:fillRect/>
          </a:stretch>
        </p:blipFill>
        <p:spPr>
          <a:xfrm>
            <a:off x="6451092" y="1879092"/>
            <a:ext cx="283464" cy="283464"/>
          </a:xfrm>
          <a:prstGeom prst="rect">
            <a:avLst/>
          </a:prstGeom>
        </p:spPr>
      </p:pic>
      <p:sp>
        <p:nvSpPr>
          <p:cNvPr id="13" name="Text 9"/>
          <p:cNvSpPr txBox="1"/>
          <p:nvPr/>
        </p:nvSpPr>
        <p:spPr>
          <a:xfrm>
            <a:off x="7040880" y="179222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SDN controller</a:t>
            </a:r>
            <a:endParaRPr lang="en-US" sz="1300" dirty="0"/>
          </a:p>
        </p:txBody>
      </p:sp>
      <p:sp>
        <p:nvSpPr>
          <p:cNvPr id="14" name="Text 10"/>
          <p:cNvSpPr txBox="1"/>
          <p:nvPr/>
        </p:nvSpPr>
        <p:spPr>
          <a:xfrm>
            <a:off x="7040880" y="203911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ETSI TeraFlowSDN</a:t>
            </a:r>
            <a:endParaRPr lang="en-US" sz="1050" dirty="0"/>
          </a:p>
        </p:txBody>
      </p:sp>
      <p:sp>
        <p:nvSpPr>
          <p:cNvPr id="15" name="Shape 11"/>
          <p:cNvSpPr/>
          <p:nvPr/>
        </p:nvSpPr>
        <p:spPr>
          <a:xfrm>
            <a:off x="6309360" y="2697480"/>
            <a:ext cx="566928" cy="566928"/>
          </a:xfrm>
          <a:prstGeom prst="ellipse">
            <a:avLst/>
          </a:prstGeom>
          <a:solidFill>
            <a:srgbClr val="E8912D"/>
          </a:solidFill>
          <a:ln w="12700">
            <a:solidFill>
              <a:srgbClr val="E8912D"/>
            </a:solidFill>
            <a:prstDash val="solid"/>
          </a:ln>
        </p:spPr>
      </p:sp>
      <p:pic>
        <p:nvPicPr>
          <p:cNvPr id="16" name="Image 2" descr="preencoded.png">    </p:cNvPr>
          <p:cNvPicPr>
            <a:picLocks noChangeAspect="1"/>
          </p:cNvPicPr>
          <p:nvPr/>
        </p:nvPicPr>
        <p:blipFill>
          <a:blip r:embed="rId3"/>
          <a:stretch>
            <a:fillRect/>
          </a:stretch>
        </p:blipFill>
        <p:spPr>
          <a:xfrm>
            <a:off x="6451092" y="2839212"/>
            <a:ext cx="283464" cy="283464"/>
          </a:xfrm>
          <a:prstGeom prst="rect">
            <a:avLst/>
          </a:prstGeom>
        </p:spPr>
      </p:pic>
      <p:sp>
        <p:nvSpPr>
          <p:cNvPr id="17" name="Text 12"/>
          <p:cNvSpPr txBox="1"/>
          <p:nvPr/>
        </p:nvSpPr>
        <p:spPr>
          <a:xfrm>
            <a:off x="7040880" y="275234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Simulator</a:t>
            </a:r>
            <a:endParaRPr lang="en-US" sz="1300" dirty="0"/>
          </a:p>
        </p:txBody>
      </p:sp>
      <p:sp>
        <p:nvSpPr>
          <p:cNvPr id="18" name="Text 13"/>
          <p:cNvSpPr txBox="1"/>
          <p:nvPr/>
        </p:nvSpPr>
        <p:spPr>
          <a:xfrm>
            <a:off x="7040880" y="299923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ns-3 discrete events</a:t>
            </a:r>
            <a:endParaRPr lang="en-US" sz="1050" dirty="0"/>
          </a:p>
        </p:txBody>
      </p:sp>
      <p:sp>
        <p:nvSpPr>
          <p:cNvPr id="19" name="Shape 14"/>
          <p:cNvSpPr/>
          <p:nvPr/>
        </p:nvSpPr>
        <p:spPr>
          <a:xfrm>
            <a:off x="6309360" y="3657600"/>
            <a:ext cx="566928" cy="566928"/>
          </a:xfrm>
          <a:prstGeom prst="ellipse">
            <a:avLst/>
          </a:prstGeom>
          <a:solidFill>
            <a:srgbClr val="22A06B"/>
          </a:solidFill>
          <a:ln w="12700">
            <a:solidFill>
              <a:srgbClr val="22A06B"/>
            </a:solidFill>
            <a:prstDash val="solid"/>
          </a:ln>
        </p:spPr>
      </p:sp>
      <p:pic>
        <p:nvPicPr>
          <p:cNvPr id="20" name="Image 3" descr="preencoded.png">    </p:cNvPr>
          <p:cNvPicPr>
            <a:picLocks noChangeAspect="1"/>
          </p:cNvPicPr>
          <p:nvPr/>
        </p:nvPicPr>
        <p:blipFill>
          <a:blip r:embed="rId4"/>
          <a:stretch>
            <a:fillRect/>
          </a:stretch>
        </p:blipFill>
        <p:spPr>
          <a:xfrm>
            <a:off x="6451092" y="3799332"/>
            <a:ext cx="283464" cy="283464"/>
          </a:xfrm>
          <a:prstGeom prst="rect">
            <a:avLst/>
          </a:prstGeom>
        </p:spPr>
      </p:pic>
      <p:sp>
        <p:nvSpPr>
          <p:cNvPr id="21" name="Text 15"/>
          <p:cNvSpPr txBox="1"/>
          <p:nvPr/>
        </p:nvSpPr>
        <p:spPr>
          <a:xfrm>
            <a:off x="7040880" y="371246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Hardware</a:t>
            </a:r>
            <a:endParaRPr lang="en-US" sz="1300" dirty="0"/>
          </a:p>
        </p:txBody>
      </p:sp>
      <p:sp>
        <p:nvSpPr>
          <p:cNvPr id="22" name="Text 16"/>
          <p:cNvSpPr txBox="1"/>
          <p:nvPr/>
        </p:nvSpPr>
        <p:spPr>
          <a:xfrm>
            <a:off x="7040880" y="395935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Ceragon MH-T261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THE PROBLEM</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Four components, four languages, four clocks</a:t>
            </a:r>
            <a:endParaRPr lang="en-US" sz="2400" dirty="0"/>
          </a:p>
        </p:txBody>
      </p:sp>
      <p:sp>
        <p:nvSpPr>
          <p:cNvPr id="4" name="Shape 2"/>
          <p:cNvSpPr/>
          <p:nvPr/>
        </p:nvSpPr>
        <p:spPr>
          <a:xfrm>
            <a:off x="3564978" y="1234440"/>
            <a:ext cx="0" cy="2880360"/>
          </a:xfrm>
          <a:prstGeom prst="line">
            <a:avLst/>
          </a:prstGeom>
          <a:noFill/>
          <a:ln w="9525">
            <a:solidFill>
              <a:srgbClr val="D5DDE5"/>
            </a:solidFill>
            <a:prstDash val="solid"/>
          </a:ln>
        </p:spPr>
      </p:sp>
      <p:sp>
        <p:nvSpPr>
          <p:cNvPr id="5" name="Text 3"/>
          <p:cNvSpPr txBox="1"/>
          <p:nvPr/>
        </p:nvSpPr>
        <p:spPr>
          <a:xfrm>
            <a:off x="3199218"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µs</a:t>
            </a:r>
            <a:endParaRPr lang="en-US" sz="1000" dirty="0"/>
          </a:p>
        </p:txBody>
      </p:sp>
      <p:sp>
        <p:nvSpPr>
          <p:cNvPr id="6" name="Shape 4"/>
          <p:cNvSpPr/>
          <p:nvPr/>
        </p:nvSpPr>
        <p:spPr>
          <a:xfrm>
            <a:off x="4924753" y="1234440"/>
            <a:ext cx="0" cy="2880360"/>
          </a:xfrm>
          <a:prstGeom prst="line">
            <a:avLst/>
          </a:prstGeom>
          <a:noFill/>
          <a:ln w="9525">
            <a:solidFill>
              <a:srgbClr val="D5DDE5"/>
            </a:solidFill>
            <a:prstDash val="solid"/>
          </a:ln>
        </p:spPr>
      </p:sp>
      <p:sp>
        <p:nvSpPr>
          <p:cNvPr id="7" name="Text 5"/>
          <p:cNvSpPr txBox="1"/>
          <p:nvPr/>
        </p:nvSpPr>
        <p:spPr>
          <a:xfrm>
            <a:off x="4558993"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ms</a:t>
            </a:r>
            <a:endParaRPr lang="en-US" sz="1000" dirty="0"/>
          </a:p>
        </p:txBody>
      </p:sp>
      <p:sp>
        <p:nvSpPr>
          <p:cNvPr id="8" name="Shape 6"/>
          <p:cNvSpPr/>
          <p:nvPr/>
        </p:nvSpPr>
        <p:spPr>
          <a:xfrm>
            <a:off x="6284529" y="1234440"/>
            <a:ext cx="0" cy="2880360"/>
          </a:xfrm>
          <a:prstGeom prst="line">
            <a:avLst/>
          </a:prstGeom>
          <a:noFill/>
          <a:ln w="9525">
            <a:solidFill>
              <a:srgbClr val="D5DDE5"/>
            </a:solidFill>
            <a:prstDash val="solid"/>
          </a:ln>
        </p:spPr>
      </p:sp>
      <p:sp>
        <p:nvSpPr>
          <p:cNvPr id="9" name="Text 7"/>
          <p:cNvSpPr txBox="1"/>
          <p:nvPr/>
        </p:nvSpPr>
        <p:spPr>
          <a:xfrm>
            <a:off x="5918769"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s</a:t>
            </a:r>
            <a:endParaRPr lang="en-US" sz="1000" dirty="0"/>
          </a:p>
        </p:txBody>
      </p:sp>
      <p:sp>
        <p:nvSpPr>
          <p:cNvPr id="10" name="Shape 8"/>
          <p:cNvSpPr/>
          <p:nvPr/>
        </p:nvSpPr>
        <p:spPr>
          <a:xfrm>
            <a:off x="7090492" y="1234440"/>
            <a:ext cx="0" cy="2880360"/>
          </a:xfrm>
          <a:prstGeom prst="line">
            <a:avLst/>
          </a:prstGeom>
          <a:noFill/>
          <a:ln w="9525">
            <a:solidFill>
              <a:srgbClr val="D5DDE5"/>
            </a:solidFill>
            <a:prstDash val="solid"/>
          </a:ln>
        </p:spPr>
      </p:sp>
      <p:sp>
        <p:nvSpPr>
          <p:cNvPr id="11" name="Text 9"/>
          <p:cNvSpPr txBox="1"/>
          <p:nvPr/>
        </p:nvSpPr>
        <p:spPr>
          <a:xfrm>
            <a:off x="6724732"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min</a:t>
            </a:r>
            <a:endParaRPr lang="en-US" sz="1000" dirty="0"/>
          </a:p>
        </p:txBody>
      </p:sp>
      <p:sp>
        <p:nvSpPr>
          <p:cNvPr id="12" name="Shape 10"/>
          <p:cNvSpPr/>
          <p:nvPr/>
        </p:nvSpPr>
        <p:spPr>
          <a:xfrm>
            <a:off x="7896454" y="1234440"/>
            <a:ext cx="0" cy="2880360"/>
          </a:xfrm>
          <a:prstGeom prst="line">
            <a:avLst/>
          </a:prstGeom>
          <a:noFill/>
          <a:ln w="9525">
            <a:solidFill>
              <a:srgbClr val="D5DDE5"/>
            </a:solidFill>
            <a:prstDash val="solid"/>
          </a:ln>
        </p:spPr>
      </p:sp>
      <p:sp>
        <p:nvSpPr>
          <p:cNvPr id="13" name="Text 11"/>
          <p:cNvSpPr txBox="1"/>
          <p:nvPr/>
        </p:nvSpPr>
        <p:spPr>
          <a:xfrm>
            <a:off x="7530694"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h</a:t>
            </a:r>
            <a:endParaRPr lang="en-US" sz="1000" dirty="0"/>
          </a:p>
        </p:txBody>
      </p:sp>
      <p:sp>
        <p:nvSpPr>
          <p:cNvPr id="14" name="Shape 12"/>
          <p:cNvSpPr/>
          <p:nvPr/>
        </p:nvSpPr>
        <p:spPr>
          <a:xfrm>
            <a:off x="8522047" y="1234440"/>
            <a:ext cx="0" cy="2880360"/>
          </a:xfrm>
          <a:prstGeom prst="line">
            <a:avLst/>
          </a:prstGeom>
          <a:noFill/>
          <a:ln w="9525">
            <a:solidFill>
              <a:srgbClr val="D5DDE5"/>
            </a:solidFill>
            <a:prstDash val="solid"/>
          </a:ln>
        </p:spPr>
      </p:sp>
      <p:sp>
        <p:nvSpPr>
          <p:cNvPr id="15" name="Text 13"/>
          <p:cNvSpPr txBox="1"/>
          <p:nvPr/>
        </p:nvSpPr>
        <p:spPr>
          <a:xfrm>
            <a:off x="8156287"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day</a:t>
            </a:r>
            <a:endParaRPr lang="en-US" sz="1000" dirty="0"/>
          </a:p>
        </p:txBody>
      </p:sp>
      <p:sp>
        <p:nvSpPr>
          <p:cNvPr id="16" name="Shape 14"/>
          <p:cNvSpPr/>
          <p:nvPr/>
        </p:nvSpPr>
        <p:spPr>
          <a:xfrm>
            <a:off x="3429000" y="4114800"/>
            <a:ext cx="5257800" cy="0"/>
          </a:xfrm>
          <a:prstGeom prst="line">
            <a:avLst/>
          </a:prstGeom>
          <a:noFill/>
          <a:ln w="12700">
            <a:solidFill>
              <a:srgbClr val="5A6B7D"/>
            </a:solidFill>
            <a:prstDash val="solid"/>
          </a:ln>
        </p:spPr>
      </p:sp>
      <p:sp>
        <p:nvSpPr>
          <p:cNvPr id="17" name="Text 15"/>
          <p:cNvSpPr txBox="1"/>
          <p:nvPr/>
        </p:nvSpPr>
        <p:spPr>
          <a:xfrm>
            <a:off x="3429000" y="4407408"/>
            <a:ext cx="5257800" cy="228600"/>
          </a:xfrm>
          <a:prstGeom prst="rect">
            <a:avLst/>
          </a:prstGeom>
          <a:noFill/>
          <a:ln/>
        </p:spPr>
        <p:txBody>
          <a:bodyPr wrap="square" lIns="0" tIns="0" rIns="0" bIns="0" rtlCol="0" anchor="t"/>
          <a:lstStyle/>
          <a:p>
            <a:pPr algn="ctr" indent="0" marL="0">
              <a:buNone/>
            </a:pPr>
            <a:r>
              <a:rPr lang="en-US" sz="950" i="1" dirty="0">
                <a:solidFill>
                  <a:srgbClr val="5A6B7D"/>
                </a:solidFill>
                <a:latin typeface="Calibri" pitchFamily="34" charset="0"/>
                <a:ea typeface="Calibri" pitchFamily="34" charset="-122"/>
                <a:cs typeface="Calibri" pitchFamily="34" charset="-120"/>
              </a:rPr>
              <a:t>Operating timescale (log)</a:t>
            </a:r>
            <a:endParaRPr lang="en-US" sz="950" dirty="0"/>
          </a:p>
        </p:txBody>
      </p:sp>
      <p:sp>
        <p:nvSpPr>
          <p:cNvPr id="18" name="Shape 16"/>
          <p:cNvSpPr/>
          <p:nvPr/>
        </p:nvSpPr>
        <p:spPr>
          <a:xfrm>
            <a:off x="457200" y="1417320"/>
            <a:ext cx="457200" cy="457200"/>
          </a:xfrm>
          <a:prstGeom prst="ellipse">
            <a:avLst/>
          </a:prstGeom>
          <a:solidFill>
            <a:srgbClr val="7C5CFF"/>
          </a:solidFill>
          <a:ln w="12700">
            <a:solidFill>
              <a:srgbClr val="7C5CFF"/>
            </a:solidFill>
            <a:prstDash val="solid"/>
          </a:ln>
        </p:spPr>
      </p:sp>
      <p:pic>
        <p:nvPicPr>
          <p:cNvPr id="19" name="Image 0" descr="preencoded.png">    </p:cNvPr>
          <p:cNvPicPr>
            <a:picLocks noChangeAspect="1"/>
          </p:cNvPicPr>
          <p:nvPr/>
        </p:nvPicPr>
        <p:blipFill>
          <a:blip r:embed="rId1"/>
          <a:stretch>
            <a:fillRect/>
          </a:stretch>
        </p:blipFill>
        <p:spPr>
          <a:xfrm>
            <a:off x="571500" y="1531620"/>
            <a:ext cx="228600" cy="228600"/>
          </a:xfrm>
          <a:prstGeom prst="rect">
            <a:avLst/>
          </a:prstGeom>
        </p:spPr>
      </p:pic>
      <p:sp>
        <p:nvSpPr>
          <p:cNvPr id="20" name="Text 17"/>
          <p:cNvSpPr txBox="1"/>
          <p:nvPr/>
        </p:nvSpPr>
        <p:spPr>
          <a:xfrm>
            <a:off x="1051560" y="13990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Declarative intent</a:t>
            </a:r>
            <a:endParaRPr lang="en-US" sz="1250" dirty="0"/>
          </a:p>
        </p:txBody>
      </p:sp>
      <p:sp>
        <p:nvSpPr>
          <p:cNvPr id="21" name="Text 18"/>
          <p:cNvSpPr txBox="1"/>
          <p:nvPr/>
        </p:nvSpPr>
        <p:spPr>
          <a:xfrm>
            <a:off x="1051560" y="16550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Natural language / JSON</a:t>
            </a:r>
            <a:endParaRPr lang="en-US" sz="1050" dirty="0"/>
          </a:p>
        </p:txBody>
      </p:sp>
      <p:sp>
        <p:nvSpPr>
          <p:cNvPr id="22" name="Shape 19"/>
          <p:cNvSpPr/>
          <p:nvPr/>
        </p:nvSpPr>
        <p:spPr>
          <a:xfrm>
            <a:off x="7090492" y="1481328"/>
            <a:ext cx="1431555" cy="329184"/>
          </a:xfrm>
          <a:prstGeom prst="roundRect">
            <a:avLst>
              <a:gd name="adj" fmla="val 22222"/>
            </a:avLst>
          </a:prstGeom>
          <a:solidFill>
            <a:srgbClr val="7C5CFF"/>
          </a:solidFill>
          <a:ln w="12700">
            <a:solidFill>
              <a:srgbClr val="7C5CFF"/>
            </a:solidFill>
            <a:prstDash val="solid"/>
          </a:ln>
        </p:spPr>
      </p:sp>
      <p:sp>
        <p:nvSpPr>
          <p:cNvPr id="23" name="Text 20"/>
          <p:cNvSpPr txBox="1"/>
          <p:nvPr/>
        </p:nvSpPr>
        <p:spPr>
          <a:xfrm>
            <a:off x="7090492" y="1481328"/>
            <a:ext cx="1431555"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minutes – days</a:t>
            </a:r>
            <a:endParaRPr lang="en-US" sz="1050" dirty="0"/>
          </a:p>
        </p:txBody>
      </p:sp>
      <p:sp>
        <p:nvSpPr>
          <p:cNvPr id="24" name="Shape 21"/>
          <p:cNvSpPr/>
          <p:nvPr/>
        </p:nvSpPr>
        <p:spPr>
          <a:xfrm>
            <a:off x="457200" y="2103120"/>
            <a:ext cx="457200" cy="457200"/>
          </a:xfrm>
          <a:prstGeom prst="ellipse">
            <a:avLst/>
          </a:prstGeom>
          <a:solidFill>
            <a:srgbClr val="0FA3B1"/>
          </a:solidFill>
          <a:ln w="12700">
            <a:solidFill>
              <a:srgbClr val="0FA3B1"/>
            </a:solidFill>
            <a:prstDash val="solid"/>
          </a:ln>
        </p:spPr>
      </p:sp>
      <p:pic>
        <p:nvPicPr>
          <p:cNvPr id="25" name="Image 1" descr="preencoded.png">    </p:cNvPr>
          <p:cNvPicPr>
            <a:picLocks noChangeAspect="1"/>
          </p:cNvPicPr>
          <p:nvPr/>
        </p:nvPicPr>
        <p:blipFill>
          <a:blip r:embed="rId2"/>
          <a:stretch>
            <a:fillRect/>
          </a:stretch>
        </p:blipFill>
        <p:spPr>
          <a:xfrm>
            <a:off x="571500" y="2217420"/>
            <a:ext cx="228600" cy="228600"/>
          </a:xfrm>
          <a:prstGeom prst="rect">
            <a:avLst/>
          </a:prstGeom>
        </p:spPr>
      </p:pic>
      <p:sp>
        <p:nvSpPr>
          <p:cNvPr id="26" name="Text 22"/>
          <p:cNvSpPr txBox="1"/>
          <p:nvPr/>
        </p:nvSpPr>
        <p:spPr>
          <a:xfrm>
            <a:off x="1051560" y="20848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SDN controller</a:t>
            </a:r>
            <a:endParaRPr lang="en-US" sz="1250" dirty="0"/>
          </a:p>
        </p:txBody>
      </p:sp>
      <p:sp>
        <p:nvSpPr>
          <p:cNvPr id="27" name="Text 23"/>
          <p:cNvSpPr txBox="1"/>
          <p:nvPr/>
        </p:nvSpPr>
        <p:spPr>
          <a:xfrm>
            <a:off x="1051560" y="23408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Context DB · gRPC · CSPF</a:t>
            </a:r>
            <a:endParaRPr lang="en-US" sz="1050" dirty="0"/>
          </a:p>
        </p:txBody>
      </p:sp>
      <p:sp>
        <p:nvSpPr>
          <p:cNvPr id="28" name="Shape 24"/>
          <p:cNvSpPr/>
          <p:nvPr/>
        </p:nvSpPr>
        <p:spPr>
          <a:xfrm>
            <a:off x="6148552" y="2167128"/>
            <a:ext cx="941940" cy="329184"/>
          </a:xfrm>
          <a:prstGeom prst="roundRect">
            <a:avLst>
              <a:gd name="adj" fmla="val 22222"/>
            </a:avLst>
          </a:prstGeom>
          <a:solidFill>
            <a:srgbClr val="0FA3B1"/>
          </a:solidFill>
          <a:ln w="12700">
            <a:solidFill>
              <a:srgbClr val="0FA3B1"/>
            </a:solidFill>
            <a:prstDash val="solid"/>
          </a:ln>
        </p:spPr>
      </p:sp>
      <p:sp>
        <p:nvSpPr>
          <p:cNvPr id="29" name="Text 25"/>
          <p:cNvSpPr txBox="1"/>
          <p:nvPr/>
        </p:nvSpPr>
        <p:spPr>
          <a:xfrm>
            <a:off x="6148552" y="2167128"/>
            <a:ext cx="94194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seconds</a:t>
            </a:r>
            <a:endParaRPr lang="en-US" sz="1050" dirty="0"/>
          </a:p>
        </p:txBody>
      </p:sp>
      <p:sp>
        <p:nvSpPr>
          <p:cNvPr id="30" name="Shape 26"/>
          <p:cNvSpPr/>
          <p:nvPr/>
        </p:nvSpPr>
        <p:spPr>
          <a:xfrm>
            <a:off x="457200" y="2788920"/>
            <a:ext cx="457200" cy="457200"/>
          </a:xfrm>
          <a:prstGeom prst="ellipse">
            <a:avLst/>
          </a:prstGeom>
          <a:solidFill>
            <a:srgbClr val="E8912D"/>
          </a:solidFill>
          <a:ln w="12700">
            <a:solidFill>
              <a:srgbClr val="E8912D"/>
            </a:solidFill>
            <a:prstDash val="solid"/>
          </a:ln>
        </p:spPr>
      </p:sp>
      <p:pic>
        <p:nvPicPr>
          <p:cNvPr id="31" name="Image 2" descr="preencoded.png">    </p:cNvPr>
          <p:cNvPicPr>
            <a:picLocks noChangeAspect="1"/>
          </p:cNvPicPr>
          <p:nvPr/>
        </p:nvPicPr>
        <p:blipFill>
          <a:blip r:embed="rId3"/>
          <a:stretch>
            <a:fillRect/>
          </a:stretch>
        </p:blipFill>
        <p:spPr>
          <a:xfrm>
            <a:off x="571500" y="2903220"/>
            <a:ext cx="228600" cy="228600"/>
          </a:xfrm>
          <a:prstGeom prst="rect">
            <a:avLst/>
          </a:prstGeom>
        </p:spPr>
      </p:pic>
      <p:sp>
        <p:nvSpPr>
          <p:cNvPr id="32" name="Text 27"/>
          <p:cNvSpPr txBox="1"/>
          <p:nvPr/>
        </p:nvSpPr>
        <p:spPr>
          <a:xfrm>
            <a:off x="1051560" y="27706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Discrete simulator</a:t>
            </a:r>
            <a:endParaRPr lang="en-US" sz="1250" dirty="0"/>
          </a:p>
        </p:txBody>
      </p:sp>
      <p:sp>
        <p:nvSpPr>
          <p:cNvPr id="33" name="Text 28"/>
          <p:cNvSpPr txBox="1"/>
          <p:nvPr/>
        </p:nvSpPr>
        <p:spPr>
          <a:xfrm>
            <a:off x="1051560" y="30266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C++ event queue &amp; packets</a:t>
            </a:r>
            <a:endParaRPr lang="en-US" sz="1050" dirty="0"/>
          </a:p>
        </p:txBody>
      </p:sp>
      <p:sp>
        <p:nvSpPr>
          <p:cNvPr id="34" name="Shape 29"/>
          <p:cNvSpPr/>
          <p:nvPr/>
        </p:nvSpPr>
        <p:spPr>
          <a:xfrm>
            <a:off x="3564978" y="2852928"/>
            <a:ext cx="1359776" cy="329184"/>
          </a:xfrm>
          <a:prstGeom prst="roundRect">
            <a:avLst>
              <a:gd name="adj" fmla="val 22222"/>
            </a:avLst>
          </a:prstGeom>
          <a:solidFill>
            <a:srgbClr val="E8912D"/>
          </a:solidFill>
          <a:ln w="12700">
            <a:solidFill>
              <a:srgbClr val="E8912D"/>
            </a:solidFill>
            <a:prstDash val="solid"/>
          </a:ln>
        </p:spPr>
      </p:sp>
      <p:sp>
        <p:nvSpPr>
          <p:cNvPr id="35" name="Text 30"/>
          <p:cNvSpPr txBox="1"/>
          <p:nvPr/>
        </p:nvSpPr>
        <p:spPr>
          <a:xfrm>
            <a:off x="3564978" y="2852928"/>
            <a:ext cx="1359776"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microseconds</a:t>
            </a:r>
            <a:endParaRPr lang="en-US" sz="1050" dirty="0"/>
          </a:p>
        </p:txBody>
      </p:sp>
      <p:sp>
        <p:nvSpPr>
          <p:cNvPr id="36" name="Shape 31"/>
          <p:cNvSpPr/>
          <p:nvPr/>
        </p:nvSpPr>
        <p:spPr>
          <a:xfrm>
            <a:off x="457200" y="3474720"/>
            <a:ext cx="457200" cy="457200"/>
          </a:xfrm>
          <a:prstGeom prst="ellipse">
            <a:avLst/>
          </a:prstGeom>
          <a:solidFill>
            <a:srgbClr val="22A06B"/>
          </a:solidFill>
          <a:ln w="12700">
            <a:solidFill>
              <a:srgbClr val="22A06B"/>
            </a:solidFill>
            <a:prstDash val="solid"/>
          </a:ln>
        </p:spPr>
      </p:sp>
      <p:pic>
        <p:nvPicPr>
          <p:cNvPr id="37" name="Image 3" descr="preencoded.png">    </p:cNvPr>
          <p:cNvPicPr>
            <a:picLocks noChangeAspect="1"/>
          </p:cNvPicPr>
          <p:nvPr/>
        </p:nvPicPr>
        <p:blipFill>
          <a:blip r:embed="rId4"/>
          <a:stretch>
            <a:fillRect/>
          </a:stretch>
        </p:blipFill>
        <p:spPr>
          <a:xfrm>
            <a:off x="571500" y="3589020"/>
            <a:ext cx="228600" cy="228600"/>
          </a:xfrm>
          <a:prstGeom prst="rect">
            <a:avLst/>
          </a:prstGeom>
        </p:spPr>
      </p:pic>
      <p:sp>
        <p:nvSpPr>
          <p:cNvPr id="38" name="Text 32"/>
          <p:cNvSpPr txBox="1"/>
          <p:nvPr/>
        </p:nvSpPr>
        <p:spPr>
          <a:xfrm>
            <a:off x="1051560" y="34564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Physical hardware</a:t>
            </a:r>
            <a:endParaRPr lang="en-US" sz="1250" dirty="0"/>
          </a:p>
        </p:txBody>
      </p:sp>
      <p:sp>
        <p:nvSpPr>
          <p:cNvPr id="39" name="Text 33"/>
          <p:cNvSpPr txBox="1"/>
          <p:nvPr/>
        </p:nvSpPr>
        <p:spPr>
          <a:xfrm>
            <a:off x="1051560" y="37124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RESTCONF · PHY registers</a:t>
            </a:r>
            <a:endParaRPr lang="en-US" sz="1050" dirty="0"/>
          </a:p>
        </p:txBody>
      </p:sp>
      <p:sp>
        <p:nvSpPr>
          <p:cNvPr id="40" name="Shape 34"/>
          <p:cNvSpPr/>
          <p:nvPr/>
        </p:nvSpPr>
        <p:spPr>
          <a:xfrm>
            <a:off x="4018236" y="3538728"/>
            <a:ext cx="906517" cy="329184"/>
          </a:xfrm>
          <a:prstGeom prst="roundRect">
            <a:avLst>
              <a:gd name="adj" fmla="val 22222"/>
            </a:avLst>
          </a:prstGeom>
          <a:solidFill>
            <a:srgbClr val="22A06B"/>
          </a:solidFill>
          <a:ln w="12700">
            <a:solidFill>
              <a:srgbClr val="22A06B"/>
            </a:solidFill>
            <a:prstDash val="solid"/>
          </a:ln>
        </p:spPr>
      </p:sp>
      <p:sp>
        <p:nvSpPr>
          <p:cNvPr id="41" name="Text 35"/>
          <p:cNvSpPr txBox="1"/>
          <p:nvPr/>
        </p:nvSpPr>
        <p:spPr>
          <a:xfrm>
            <a:off x="4018236" y="3538728"/>
            <a:ext cx="906517"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sub-ms</a:t>
            </a:r>
            <a:endParaRPr lang="en-US" sz="1050" dirty="0"/>
          </a:p>
        </p:txBody>
      </p:sp>
      <p:sp>
        <p:nvSpPr>
          <p:cNvPr id="42" name="Shape 36"/>
          <p:cNvSpPr/>
          <p:nvPr/>
        </p:nvSpPr>
        <p:spPr>
          <a:xfrm>
            <a:off x="457200" y="4434840"/>
            <a:ext cx="2788920" cy="457200"/>
          </a:xfrm>
          <a:prstGeom prst="roundRect">
            <a:avLst>
              <a:gd name="adj" fmla="val 16000"/>
            </a:avLst>
          </a:prstGeom>
          <a:solidFill>
            <a:srgbClr val="F2F5F8"/>
          </a:solidFill>
          <a:ln w="12700">
            <a:solidFill>
              <a:srgbClr val="F2F5F8"/>
            </a:solidFill>
            <a:prstDash val="solid"/>
          </a:ln>
        </p:spPr>
      </p:sp>
      <p:sp>
        <p:nvSpPr>
          <p:cNvPr id="43" name="Text 37"/>
          <p:cNvSpPr txBox="1"/>
          <p:nvPr/>
        </p:nvSpPr>
        <p:spPr>
          <a:xfrm>
            <a:off x="566928" y="4434840"/>
            <a:ext cx="2606040" cy="457200"/>
          </a:xfrm>
          <a:prstGeom prst="rect">
            <a:avLst/>
          </a:prstGeom>
          <a:noFill/>
          <a:ln/>
        </p:spPr>
        <p:txBody>
          <a:bodyPr wrap="square" lIns="0" tIns="0" rIns="0" bIns="0" rtlCol="0" anchor="ctr"/>
          <a:lstStyle/>
          <a:p>
            <a:pPr indent="0" marL="0">
              <a:buNone/>
            </a:pPr>
            <a:r>
              <a:rPr lang="en-US" sz="1050" b="1" dirty="0">
                <a:solidFill>
                  <a:srgbClr val="0B1D33"/>
                </a:solidFill>
                <a:latin typeface="Calibri" pitchFamily="34" charset="0"/>
                <a:ea typeface="Calibri" pitchFamily="34" charset="-122"/>
                <a:cs typeface="Calibri" pitchFamily="34" charset="-120"/>
              </a:rPr>
              <a:t>Adapters </a:t>
            </a:r>
            <a:pPr indent="0" marL="0">
              <a:buNone/>
            </a:pPr>
            <a:r>
              <a:rPr lang="en-US" sz="1050" dirty="0">
                <a:solidFill>
                  <a:srgbClr val="1A2B3C"/>
                </a:solidFill>
                <a:latin typeface="Calibri" pitchFamily="34" charset="0"/>
                <a:ea typeface="Calibri" pitchFamily="34" charset="-122"/>
                <a:cs typeface="Calibri" pitchFamily="34" charset="-120"/>
              </a:rPr>
              <a:t>translate both the protocol and the clock between neighbours.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ARCHITECTURE AT A GLANCE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Three adapters connect four domains in one loop</a:t>
            </a:r>
            <a:endParaRPr lang="en-US" sz="2400" dirty="0"/>
          </a:p>
        </p:txBody>
      </p:sp>
      <p:sp>
        <p:nvSpPr>
          <p:cNvPr id="4" name="Shape 2"/>
          <p:cNvSpPr/>
          <p:nvPr/>
        </p:nvSpPr>
        <p:spPr>
          <a:xfrm>
            <a:off x="3611880" y="1188720"/>
            <a:ext cx="5120640" cy="1325880"/>
          </a:xfrm>
          <a:prstGeom prst="roundRect">
            <a:avLst>
              <a:gd name="adj" fmla="val 6897"/>
            </a:avLst>
          </a:prstGeom>
          <a:solidFill>
            <a:srgbClr val="EAF7F8"/>
          </a:solidFill>
          <a:ln w="12700">
            <a:solidFill>
              <a:srgbClr val="0FA3B1"/>
            </a:solidFill>
            <a:prstDash val="dash"/>
          </a:ln>
        </p:spPr>
      </p:sp>
      <p:sp>
        <p:nvSpPr>
          <p:cNvPr id="5" name="Text 3"/>
          <p:cNvSpPr txBox="1"/>
          <p:nvPr/>
        </p:nvSpPr>
        <p:spPr>
          <a:xfrm>
            <a:off x="3703320" y="1225296"/>
            <a:ext cx="2743200" cy="182880"/>
          </a:xfrm>
          <a:prstGeom prst="rect">
            <a:avLst/>
          </a:prstGeom>
          <a:noFill/>
          <a:ln/>
        </p:spPr>
        <p:txBody>
          <a:bodyPr wrap="square" lIns="0" tIns="0" rIns="0" bIns="0" rtlCol="0" anchor="t"/>
          <a:lstStyle/>
          <a:p>
            <a:pPr indent="0" marL="0">
              <a:buNone/>
            </a:pPr>
            <a:r>
              <a:rPr lang="en-US" sz="850" b="1" spc="150" kern="0" dirty="0">
                <a:solidFill>
                  <a:srgbClr val="0FA3B1"/>
                </a:solidFill>
                <a:latin typeface="Calibri" pitchFamily="34" charset="0"/>
                <a:ea typeface="Calibri" pitchFamily="34" charset="-122"/>
                <a:cs typeface="Calibri" pitchFamily="34" charset="-120"/>
              </a:rPr>
              <a:t>DIGITAL TWIN LAYER</a:t>
            </a:r>
            <a:endParaRPr lang="en-US" sz="850" dirty="0"/>
          </a:p>
        </p:txBody>
      </p:sp>
      <p:sp>
        <p:nvSpPr>
          <p:cNvPr id="6" name="Shape 4"/>
          <p:cNvSpPr/>
          <p:nvPr/>
        </p:nvSpPr>
        <p:spPr>
          <a:xfrm>
            <a:off x="3611880" y="3474720"/>
            <a:ext cx="5120640" cy="1188720"/>
          </a:xfrm>
          <a:prstGeom prst="roundRect">
            <a:avLst>
              <a:gd name="adj" fmla="val 7692"/>
            </a:avLst>
          </a:prstGeom>
          <a:solidFill>
            <a:srgbClr val="EAF6F0"/>
          </a:solidFill>
          <a:ln w="12700">
            <a:solidFill>
              <a:srgbClr val="22A06B"/>
            </a:solidFill>
            <a:prstDash val="dash"/>
          </a:ln>
        </p:spPr>
      </p:sp>
      <p:sp>
        <p:nvSpPr>
          <p:cNvPr id="7" name="Text 5"/>
          <p:cNvSpPr txBox="1"/>
          <p:nvPr/>
        </p:nvSpPr>
        <p:spPr>
          <a:xfrm>
            <a:off x="5532120" y="3657600"/>
            <a:ext cx="2743200" cy="182880"/>
          </a:xfrm>
          <a:prstGeom prst="rect">
            <a:avLst/>
          </a:prstGeom>
          <a:noFill/>
          <a:ln/>
        </p:spPr>
        <p:txBody>
          <a:bodyPr wrap="square" lIns="0" tIns="0" rIns="0" bIns="0" rtlCol="0" anchor="t"/>
          <a:lstStyle/>
          <a:p>
            <a:pPr indent="0" marL="0">
              <a:buNone/>
            </a:pPr>
            <a:r>
              <a:rPr lang="en-US" sz="850" b="1" spc="150" kern="0" dirty="0">
                <a:solidFill>
                  <a:srgbClr val="22A06B"/>
                </a:solidFill>
                <a:latin typeface="Calibri" pitchFamily="34" charset="0"/>
                <a:ea typeface="Calibri" pitchFamily="34" charset="-122"/>
                <a:cs typeface="Calibri" pitchFamily="34" charset="-120"/>
              </a:rPr>
              <a:t>PHYSICAL NETWORK LAYER</a:t>
            </a:r>
            <a:endParaRPr lang="en-US" sz="850" dirty="0"/>
          </a:p>
        </p:txBody>
      </p:sp>
      <p:sp>
        <p:nvSpPr>
          <p:cNvPr id="8" name="Text 6"/>
          <p:cNvSpPr txBox="1"/>
          <p:nvPr/>
        </p:nvSpPr>
        <p:spPr>
          <a:xfrm>
            <a:off x="5532120" y="3931920"/>
            <a:ext cx="3063240" cy="457200"/>
          </a:xfrm>
          <a:prstGeom prst="rect">
            <a:avLst/>
          </a:prstGeom>
          <a:noFill/>
          <a:ln/>
        </p:spPr>
        <p:txBody>
          <a:bodyPr wrap="square" lIns="0" tIns="0" rIns="0" bIns="0" rtlCol="0" anchor="t"/>
          <a:lstStyle/>
          <a:p>
            <a:pPr indent="0" marL="0">
              <a:buNone/>
            </a:pPr>
            <a:r>
              <a:rPr lang="en-US" sz="1000" i="1" dirty="0">
                <a:solidFill>
                  <a:srgbClr val="5A6B7D"/>
                </a:solidFill>
                <a:latin typeface="Calibri" pitchFamily="34" charset="0"/>
                <a:ea typeface="Calibri" pitchFamily="34" charset="-122"/>
                <a:cs typeface="Calibri" pitchFamily="34" charset="-120"/>
              </a:rPr>
              <a:t>Layers follow ITU-T Y.3090; twin lifecycle follows 3GPP TS 28.561</a:t>
            </a:r>
            <a:endParaRPr lang="en-US" sz="1000" dirty="0"/>
          </a:p>
        </p:txBody>
      </p:sp>
      <p:sp>
        <p:nvSpPr>
          <p:cNvPr id="9" name="Shape 7"/>
          <p:cNvSpPr/>
          <p:nvPr/>
        </p:nvSpPr>
        <p:spPr>
          <a:xfrm>
            <a:off x="457200" y="1463040"/>
            <a:ext cx="1600200" cy="914400"/>
          </a:xfrm>
          <a:prstGeom prst="roundRect">
            <a:avLst>
              <a:gd name="adj" fmla="val 10000"/>
            </a:avLst>
          </a:prstGeom>
          <a:solidFill>
            <a:srgbClr val="FFFFFF"/>
          </a:solidFill>
          <a:ln w="19050">
            <a:solidFill>
              <a:srgbClr val="7C5CFF"/>
            </a:solidFill>
            <a:prstDash val="solid"/>
          </a:ln>
          <a:effectLst>
            <a:outerShdw sx="100000" sy="100000" kx="0" ky="0" algn="bl" rotWithShape="0" blurRad="50800" dist="12700" dir="5400000">
              <a:srgbClr val="000000">
                <a:alpha val="12000"/>
              </a:srgbClr>
            </a:outerShdw>
          </a:effectLst>
        </p:spPr>
      </p:sp>
      <p:sp>
        <p:nvSpPr>
          <p:cNvPr id="10" name="Shape 8"/>
          <p:cNvSpPr/>
          <p:nvPr/>
        </p:nvSpPr>
        <p:spPr>
          <a:xfrm>
            <a:off x="1092708" y="1554480"/>
            <a:ext cx="329184" cy="329184"/>
          </a:xfrm>
          <a:prstGeom prst="ellipse">
            <a:avLst/>
          </a:prstGeom>
          <a:solidFill>
            <a:srgbClr val="7C5CFF"/>
          </a:solidFill>
          <a:ln w="12700">
            <a:solidFill>
              <a:srgbClr val="7C5CFF"/>
            </a:solidFill>
            <a:prstDash val="solid"/>
          </a:ln>
        </p:spPr>
      </p:sp>
      <p:pic>
        <p:nvPicPr>
          <p:cNvPr id="11" name="Image 0" descr="preencoded.png">    </p:cNvPr>
          <p:cNvPicPr>
            <a:picLocks noChangeAspect="1"/>
          </p:cNvPicPr>
          <p:nvPr/>
        </p:nvPicPr>
        <p:blipFill>
          <a:blip r:embed="rId1"/>
          <a:stretch>
            <a:fillRect/>
          </a:stretch>
        </p:blipFill>
        <p:spPr>
          <a:xfrm>
            <a:off x="1175004" y="1636776"/>
            <a:ext cx="164592" cy="164592"/>
          </a:xfrm>
          <a:prstGeom prst="rect">
            <a:avLst/>
          </a:prstGeom>
        </p:spPr>
      </p:pic>
      <p:sp>
        <p:nvSpPr>
          <p:cNvPr id="12" name="Text 9"/>
          <p:cNvSpPr txBox="1"/>
          <p:nvPr/>
        </p:nvSpPr>
        <p:spPr>
          <a:xfrm>
            <a:off x="457200" y="192024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Operator intent</a:t>
            </a:r>
            <a:endParaRPr lang="en-US" sz="1100" dirty="0"/>
          </a:p>
        </p:txBody>
      </p:sp>
      <p:sp>
        <p:nvSpPr>
          <p:cNvPr id="13" name="Text 10"/>
          <p:cNvSpPr txBox="1"/>
          <p:nvPr/>
        </p:nvSpPr>
        <p:spPr>
          <a:xfrm>
            <a:off x="457200" y="213969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SLA · natural language</a:t>
            </a:r>
            <a:endParaRPr lang="en-US" sz="900" dirty="0"/>
          </a:p>
        </p:txBody>
      </p:sp>
      <p:sp>
        <p:nvSpPr>
          <p:cNvPr id="14" name="Shape 11"/>
          <p:cNvSpPr/>
          <p:nvPr/>
        </p:nvSpPr>
        <p:spPr>
          <a:xfrm>
            <a:off x="3794760" y="1463040"/>
            <a:ext cx="1600200" cy="914400"/>
          </a:xfrm>
          <a:prstGeom prst="roundRect">
            <a:avLst>
              <a:gd name="adj" fmla="val 10000"/>
            </a:avLst>
          </a:prstGeom>
          <a:solidFill>
            <a:srgbClr val="FFFFFF"/>
          </a:solidFill>
          <a:ln w="19050">
            <a:solidFill>
              <a:srgbClr val="0FA3B1"/>
            </a:solidFill>
            <a:prstDash val="solid"/>
          </a:ln>
          <a:effectLst>
            <a:outerShdw sx="100000" sy="100000" kx="0" ky="0" algn="bl" rotWithShape="0" blurRad="50800" dist="12700" dir="5400000">
              <a:srgbClr val="000000">
                <a:alpha val="12000"/>
              </a:srgbClr>
            </a:outerShdw>
          </a:effectLst>
        </p:spPr>
      </p:sp>
      <p:sp>
        <p:nvSpPr>
          <p:cNvPr id="15" name="Shape 12"/>
          <p:cNvSpPr/>
          <p:nvPr/>
        </p:nvSpPr>
        <p:spPr>
          <a:xfrm>
            <a:off x="4430268" y="1554480"/>
            <a:ext cx="329184" cy="329184"/>
          </a:xfrm>
          <a:prstGeom prst="ellipse">
            <a:avLst/>
          </a:prstGeom>
          <a:solidFill>
            <a:srgbClr val="0FA3B1"/>
          </a:solidFill>
          <a:ln w="12700">
            <a:solidFill>
              <a:srgbClr val="0FA3B1"/>
            </a:solidFill>
            <a:prstDash val="solid"/>
          </a:ln>
        </p:spPr>
      </p:sp>
      <p:pic>
        <p:nvPicPr>
          <p:cNvPr id="16" name="Image 1" descr="preencoded.png">    </p:cNvPr>
          <p:cNvPicPr>
            <a:picLocks noChangeAspect="1"/>
          </p:cNvPicPr>
          <p:nvPr/>
        </p:nvPicPr>
        <p:blipFill>
          <a:blip r:embed="rId2"/>
          <a:stretch>
            <a:fillRect/>
          </a:stretch>
        </p:blipFill>
        <p:spPr>
          <a:xfrm>
            <a:off x="4512564" y="1636776"/>
            <a:ext cx="164592" cy="164592"/>
          </a:xfrm>
          <a:prstGeom prst="rect">
            <a:avLst/>
          </a:prstGeom>
        </p:spPr>
      </p:pic>
      <p:sp>
        <p:nvSpPr>
          <p:cNvPr id="17" name="Text 13"/>
          <p:cNvSpPr txBox="1"/>
          <p:nvPr/>
        </p:nvSpPr>
        <p:spPr>
          <a:xfrm>
            <a:off x="3794760" y="192024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TeraFlowSDN</a:t>
            </a:r>
            <a:endParaRPr lang="en-US" sz="1100" dirty="0"/>
          </a:p>
        </p:txBody>
      </p:sp>
      <p:sp>
        <p:nvSpPr>
          <p:cNvPr id="18" name="Text 14"/>
          <p:cNvSpPr txBox="1"/>
          <p:nvPr/>
        </p:nvSpPr>
        <p:spPr>
          <a:xfrm>
            <a:off x="3794760" y="213969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ETSI OSG SDN controller</a:t>
            </a:r>
            <a:endParaRPr lang="en-US" sz="900" dirty="0"/>
          </a:p>
        </p:txBody>
      </p:sp>
      <p:sp>
        <p:nvSpPr>
          <p:cNvPr id="19" name="Shape 15"/>
          <p:cNvSpPr/>
          <p:nvPr/>
        </p:nvSpPr>
        <p:spPr>
          <a:xfrm>
            <a:off x="6995160" y="1463040"/>
            <a:ext cx="1600200" cy="914400"/>
          </a:xfrm>
          <a:prstGeom prst="roundRect">
            <a:avLst>
              <a:gd name="adj" fmla="val 10000"/>
            </a:avLst>
          </a:prstGeom>
          <a:solidFill>
            <a:srgbClr val="FFFFFF"/>
          </a:solidFill>
          <a:ln w="19050">
            <a:solidFill>
              <a:srgbClr val="E8912D"/>
            </a:solidFill>
            <a:prstDash val="solid"/>
          </a:ln>
          <a:effectLst>
            <a:outerShdw sx="100000" sy="100000" kx="0" ky="0" algn="bl" rotWithShape="0" blurRad="50800" dist="12700" dir="5400000">
              <a:srgbClr val="000000">
                <a:alpha val="12000"/>
              </a:srgbClr>
            </a:outerShdw>
          </a:effectLst>
        </p:spPr>
      </p:sp>
      <p:sp>
        <p:nvSpPr>
          <p:cNvPr id="20" name="Shape 16"/>
          <p:cNvSpPr/>
          <p:nvPr/>
        </p:nvSpPr>
        <p:spPr>
          <a:xfrm>
            <a:off x="7630668" y="1554480"/>
            <a:ext cx="329184" cy="329184"/>
          </a:xfrm>
          <a:prstGeom prst="ellipse">
            <a:avLst/>
          </a:prstGeom>
          <a:solidFill>
            <a:srgbClr val="E8912D"/>
          </a:solidFill>
          <a:ln w="12700">
            <a:solidFill>
              <a:srgbClr val="E8912D"/>
            </a:solidFill>
            <a:prstDash val="solid"/>
          </a:ln>
        </p:spPr>
      </p:sp>
      <p:pic>
        <p:nvPicPr>
          <p:cNvPr id="21" name="Image 2" descr="preencoded.png">    </p:cNvPr>
          <p:cNvPicPr>
            <a:picLocks noChangeAspect="1"/>
          </p:cNvPicPr>
          <p:nvPr/>
        </p:nvPicPr>
        <p:blipFill>
          <a:blip r:embed="rId3"/>
          <a:stretch>
            <a:fillRect/>
          </a:stretch>
        </p:blipFill>
        <p:spPr>
          <a:xfrm>
            <a:off x="7712964" y="1636776"/>
            <a:ext cx="164592" cy="164592"/>
          </a:xfrm>
          <a:prstGeom prst="rect">
            <a:avLst/>
          </a:prstGeom>
        </p:spPr>
      </p:pic>
      <p:sp>
        <p:nvSpPr>
          <p:cNvPr id="22" name="Text 17"/>
          <p:cNvSpPr txBox="1"/>
          <p:nvPr/>
        </p:nvSpPr>
        <p:spPr>
          <a:xfrm>
            <a:off x="6995160" y="192024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ns-3 simulator</a:t>
            </a:r>
            <a:endParaRPr lang="en-US" sz="1100" dirty="0"/>
          </a:p>
        </p:txBody>
      </p:sp>
      <p:sp>
        <p:nvSpPr>
          <p:cNvPr id="23" name="Text 18"/>
          <p:cNvSpPr txBox="1"/>
          <p:nvPr/>
        </p:nvSpPr>
        <p:spPr>
          <a:xfrm>
            <a:off x="6995160" y="213969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discrete-event core</a:t>
            </a:r>
            <a:endParaRPr lang="en-US" sz="900" dirty="0"/>
          </a:p>
        </p:txBody>
      </p:sp>
      <p:sp>
        <p:nvSpPr>
          <p:cNvPr id="24" name="Shape 19"/>
          <p:cNvSpPr/>
          <p:nvPr/>
        </p:nvSpPr>
        <p:spPr>
          <a:xfrm>
            <a:off x="3794760" y="3611880"/>
            <a:ext cx="1600200" cy="914400"/>
          </a:xfrm>
          <a:prstGeom prst="roundRect">
            <a:avLst>
              <a:gd name="adj" fmla="val 10000"/>
            </a:avLst>
          </a:prstGeom>
          <a:solidFill>
            <a:srgbClr val="FFFFFF"/>
          </a:solidFill>
          <a:ln w="19050">
            <a:solidFill>
              <a:srgbClr val="22A06B"/>
            </a:solidFill>
            <a:prstDash val="solid"/>
          </a:ln>
          <a:effectLst>
            <a:outerShdw sx="100000" sy="100000" kx="0" ky="0" algn="bl" rotWithShape="0" blurRad="50800" dist="12700" dir="5400000">
              <a:srgbClr val="000000">
                <a:alpha val="12000"/>
              </a:srgbClr>
            </a:outerShdw>
          </a:effectLst>
        </p:spPr>
      </p:sp>
      <p:sp>
        <p:nvSpPr>
          <p:cNvPr id="25" name="Shape 20"/>
          <p:cNvSpPr/>
          <p:nvPr/>
        </p:nvSpPr>
        <p:spPr>
          <a:xfrm>
            <a:off x="4430268" y="3703320"/>
            <a:ext cx="329184" cy="329184"/>
          </a:xfrm>
          <a:prstGeom prst="ellipse">
            <a:avLst/>
          </a:prstGeom>
          <a:solidFill>
            <a:srgbClr val="22A06B"/>
          </a:solidFill>
          <a:ln w="12700">
            <a:solidFill>
              <a:srgbClr val="22A06B"/>
            </a:solidFill>
            <a:prstDash val="solid"/>
          </a:ln>
        </p:spPr>
      </p:sp>
      <p:pic>
        <p:nvPicPr>
          <p:cNvPr id="26" name="Image 3" descr="preencoded.png">    </p:cNvPr>
          <p:cNvPicPr>
            <a:picLocks noChangeAspect="1"/>
          </p:cNvPicPr>
          <p:nvPr/>
        </p:nvPicPr>
        <p:blipFill>
          <a:blip r:embed="rId4"/>
          <a:stretch>
            <a:fillRect/>
          </a:stretch>
        </p:blipFill>
        <p:spPr>
          <a:xfrm>
            <a:off x="4512564" y="3785616"/>
            <a:ext cx="164592" cy="164592"/>
          </a:xfrm>
          <a:prstGeom prst="rect">
            <a:avLst/>
          </a:prstGeom>
        </p:spPr>
      </p:pic>
      <p:sp>
        <p:nvSpPr>
          <p:cNvPr id="27" name="Text 21"/>
          <p:cNvSpPr txBox="1"/>
          <p:nvPr/>
        </p:nvSpPr>
        <p:spPr>
          <a:xfrm>
            <a:off x="3794760" y="406908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Ceragon MH-T261</a:t>
            </a:r>
            <a:endParaRPr lang="en-US" sz="1100" dirty="0"/>
          </a:p>
        </p:txBody>
      </p:sp>
      <p:sp>
        <p:nvSpPr>
          <p:cNvPr id="28" name="Text 22"/>
          <p:cNvSpPr txBox="1"/>
          <p:nvPr/>
        </p:nvSpPr>
        <p:spPr>
          <a:xfrm>
            <a:off x="3794760" y="428853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60 GHz V-band radio</a:t>
            </a:r>
            <a:endParaRPr lang="en-US" sz="900" dirty="0"/>
          </a:p>
        </p:txBody>
      </p:sp>
      <p:sp>
        <p:nvSpPr>
          <p:cNvPr id="29" name="Shape 23"/>
          <p:cNvSpPr/>
          <p:nvPr/>
        </p:nvSpPr>
        <p:spPr>
          <a:xfrm>
            <a:off x="2057400" y="1920240"/>
            <a:ext cx="1737360" cy="0"/>
          </a:xfrm>
          <a:prstGeom prst="line">
            <a:avLst/>
          </a:prstGeom>
          <a:noFill/>
          <a:ln w="22225">
            <a:solidFill>
              <a:srgbClr val="0B1D33"/>
            </a:solidFill>
            <a:prstDash val="solid"/>
            <a:headEnd type="none"/>
            <a:tailEnd type="triangle"/>
          </a:ln>
        </p:spPr>
      </p:sp>
      <p:sp>
        <p:nvSpPr>
          <p:cNvPr id="30" name="Shape 24"/>
          <p:cNvSpPr/>
          <p:nvPr/>
        </p:nvSpPr>
        <p:spPr>
          <a:xfrm>
            <a:off x="2286000" y="1737360"/>
            <a:ext cx="1325880" cy="365760"/>
          </a:xfrm>
          <a:prstGeom prst="roundRect">
            <a:avLst>
              <a:gd name="adj" fmla="val 50000"/>
            </a:avLst>
          </a:prstGeom>
          <a:solidFill>
            <a:srgbClr val="0B1D33"/>
          </a:solidFill>
          <a:ln w="12700">
            <a:solidFill>
              <a:srgbClr val="0B1D33"/>
            </a:solidFill>
            <a:prstDash val="solid"/>
          </a:ln>
        </p:spPr>
      </p:sp>
      <p:sp>
        <p:nvSpPr>
          <p:cNvPr id="31" name="Text 25"/>
          <p:cNvSpPr txBox="1"/>
          <p:nvPr/>
        </p:nvSpPr>
        <p:spPr>
          <a:xfrm>
            <a:off x="2286000" y="1737360"/>
            <a:ext cx="132588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① Intent</a:t>
            </a:r>
            <a:endParaRPr lang="en-US" sz="1000" dirty="0"/>
          </a:p>
        </p:txBody>
      </p:sp>
      <p:sp>
        <p:nvSpPr>
          <p:cNvPr id="32" name="Text 26"/>
          <p:cNvSpPr txBox="1"/>
          <p:nvPr/>
        </p:nvSpPr>
        <p:spPr>
          <a:xfrm>
            <a:off x="2194560" y="2148840"/>
            <a:ext cx="1508760" cy="32004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TM Forum TMF921</a:t>
            </a:r>
            <a:endParaRPr lang="en-US" sz="900" dirty="0"/>
          </a:p>
        </p:txBody>
      </p:sp>
      <p:sp>
        <p:nvSpPr>
          <p:cNvPr id="33" name="Shape 27"/>
          <p:cNvSpPr/>
          <p:nvPr/>
        </p:nvSpPr>
        <p:spPr>
          <a:xfrm>
            <a:off x="5394960" y="1920240"/>
            <a:ext cx="1600200" cy="0"/>
          </a:xfrm>
          <a:prstGeom prst="line">
            <a:avLst/>
          </a:prstGeom>
          <a:noFill/>
          <a:ln w="22225">
            <a:solidFill>
              <a:srgbClr val="0B1D33"/>
            </a:solidFill>
            <a:prstDash val="solid"/>
            <a:headEnd type="triangle"/>
            <a:tailEnd type="triangle"/>
          </a:ln>
        </p:spPr>
      </p:sp>
      <p:sp>
        <p:nvSpPr>
          <p:cNvPr id="34" name="Shape 28"/>
          <p:cNvSpPr/>
          <p:nvPr/>
        </p:nvSpPr>
        <p:spPr>
          <a:xfrm>
            <a:off x="5532120" y="1737360"/>
            <a:ext cx="1325880" cy="365760"/>
          </a:xfrm>
          <a:prstGeom prst="roundRect">
            <a:avLst>
              <a:gd name="adj" fmla="val 50000"/>
            </a:avLst>
          </a:prstGeom>
          <a:solidFill>
            <a:srgbClr val="0B1D33"/>
          </a:solidFill>
          <a:ln w="12700">
            <a:solidFill>
              <a:srgbClr val="0B1D33"/>
            </a:solidFill>
            <a:prstDash val="solid"/>
          </a:ln>
        </p:spPr>
      </p:sp>
      <p:sp>
        <p:nvSpPr>
          <p:cNvPr id="35" name="Text 29"/>
          <p:cNvSpPr txBox="1"/>
          <p:nvPr/>
        </p:nvSpPr>
        <p:spPr>
          <a:xfrm>
            <a:off x="5532120" y="1737360"/>
            <a:ext cx="132588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② Simulation</a:t>
            </a:r>
            <a:endParaRPr lang="en-US" sz="1000" dirty="0"/>
          </a:p>
        </p:txBody>
      </p:sp>
      <p:sp>
        <p:nvSpPr>
          <p:cNvPr id="36" name="Text 30"/>
          <p:cNvSpPr txBox="1"/>
          <p:nvPr/>
        </p:nvSpPr>
        <p:spPr>
          <a:xfrm>
            <a:off x="5440680" y="2148840"/>
            <a:ext cx="1508760" cy="32004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TS 28.561 · Y.3092</a:t>
            </a:r>
            <a:endParaRPr lang="en-US" sz="900" dirty="0"/>
          </a:p>
        </p:txBody>
      </p:sp>
      <p:sp>
        <p:nvSpPr>
          <p:cNvPr id="37" name="Shape 31"/>
          <p:cNvSpPr/>
          <p:nvPr/>
        </p:nvSpPr>
        <p:spPr>
          <a:xfrm>
            <a:off x="4594860" y="2377440"/>
            <a:ext cx="0" cy="1234440"/>
          </a:xfrm>
          <a:prstGeom prst="line">
            <a:avLst/>
          </a:prstGeom>
          <a:noFill/>
          <a:ln w="22225">
            <a:solidFill>
              <a:srgbClr val="0B1D33"/>
            </a:solidFill>
            <a:prstDash val="solid"/>
            <a:headEnd type="triangle"/>
            <a:tailEnd type="triangle"/>
          </a:ln>
        </p:spPr>
      </p:sp>
      <p:sp>
        <p:nvSpPr>
          <p:cNvPr id="38" name="Shape 32"/>
          <p:cNvSpPr/>
          <p:nvPr/>
        </p:nvSpPr>
        <p:spPr>
          <a:xfrm>
            <a:off x="3886200" y="2807208"/>
            <a:ext cx="1417320" cy="365760"/>
          </a:xfrm>
          <a:prstGeom prst="roundRect">
            <a:avLst>
              <a:gd name="adj" fmla="val 50000"/>
            </a:avLst>
          </a:prstGeom>
          <a:solidFill>
            <a:srgbClr val="0B1D33"/>
          </a:solidFill>
          <a:ln w="12700">
            <a:solidFill>
              <a:srgbClr val="0B1D33"/>
            </a:solidFill>
            <a:prstDash val="solid"/>
          </a:ln>
        </p:spPr>
      </p:sp>
      <p:sp>
        <p:nvSpPr>
          <p:cNvPr id="39" name="Text 33"/>
          <p:cNvSpPr txBox="1"/>
          <p:nvPr/>
        </p:nvSpPr>
        <p:spPr>
          <a:xfrm>
            <a:off x="3886200" y="2807208"/>
            <a:ext cx="14173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③ Southbound</a:t>
            </a:r>
            <a:endParaRPr lang="en-US" sz="1000" dirty="0"/>
          </a:p>
        </p:txBody>
      </p:sp>
      <p:sp>
        <p:nvSpPr>
          <p:cNvPr id="40" name="Text 34"/>
          <p:cNvSpPr txBox="1"/>
          <p:nvPr/>
        </p:nvSpPr>
        <p:spPr>
          <a:xfrm>
            <a:off x="5440680" y="2852928"/>
            <a:ext cx="2377440" cy="27432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RFC 8040 RESTCONF · YANG 1.1</a:t>
            </a:r>
            <a:endParaRPr lang="en-US" sz="900" dirty="0"/>
          </a:p>
        </p:txBody>
      </p:sp>
      <p:sp>
        <p:nvSpPr>
          <p:cNvPr id="41" name="Shape 35"/>
          <p:cNvSpPr/>
          <p:nvPr/>
        </p:nvSpPr>
        <p:spPr>
          <a:xfrm>
            <a:off x="457200" y="3063240"/>
            <a:ext cx="2743200" cy="1600200"/>
          </a:xfrm>
          <a:prstGeom prst="roundRect">
            <a:avLst>
              <a:gd name="adj" fmla="val 5714"/>
            </a:avLst>
          </a:prstGeom>
          <a:solidFill>
            <a:srgbClr val="F2F5F8"/>
          </a:solidFill>
          <a:ln w="12700">
            <a:solidFill>
              <a:srgbClr val="F2F5F8"/>
            </a:solidFill>
            <a:prstDash val="solid"/>
          </a:ln>
        </p:spPr>
      </p:sp>
      <p:sp>
        <p:nvSpPr>
          <p:cNvPr id="42" name="Text 36"/>
          <p:cNvSpPr txBox="1"/>
          <p:nvPr/>
        </p:nvSpPr>
        <p:spPr>
          <a:xfrm>
            <a:off x="640080" y="3200400"/>
            <a:ext cx="2377440" cy="685800"/>
          </a:xfrm>
          <a:prstGeom prst="rect">
            <a:avLst/>
          </a:prstGeom>
          <a:noFill/>
          <a:ln/>
        </p:spPr>
        <p:txBody>
          <a:bodyPr wrap="square" lIns="0" tIns="0" rIns="0" bIns="0" rtlCol="0" anchor="ctr"/>
          <a:lstStyle/>
          <a:p>
            <a:pPr indent="0" marL="0">
              <a:buNone/>
            </a:pPr>
            <a:r>
              <a:rPr lang="en-US" sz="4000" b="1" dirty="0">
                <a:solidFill>
                  <a:srgbClr val="0FA3B1"/>
                </a:solidFill>
                <a:latin typeface="Arial" pitchFamily="34" charset="0"/>
                <a:ea typeface="Arial" pitchFamily="34" charset="-122"/>
                <a:cs typeface="Arial" pitchFamily="34" charset="-120"/>
              </a:rPr>
              <a:t>≈ 2 s</a:t>
            </a:r>
            <a:endParaRPr lang="en-US" sz="4000" dirty="0"/>
          </a:p>
        </p:txBody>
      </p:sp>
      <p:sp>
        <p:nvSpPr>
          <p:cNvPr id="43" name="Text 37"/>
          <p:cNvSpPr txBox="1"/>
          <p:nvPr/>
        </p:nvSpPr>
        <p:spPr>
          <a:xfrm>
            <a:off x="640080" y="3931920"/>
            <a:ext cx="2377440" cy="640080"/>
          </a:xfrm>
          <a:prstGeom prst="rect">
            <a:avLst/>
          </a:prstGeom>
          <a:noFill/>
          <a:ln/>
        </p:spPr>
        <p:txBody>
          <a:bodyPr wrap="square" lIns="0" tIns="0" rIns="0" bIns="0" rtlCol="0" anchor="t"/>
          <a:lstStyle/>
          <a:p>
            <a:pPr indent="0" marL="0">
              <a:buNone/>
            </a:pPr>
            <a:r>
              <a:rPr lang="en-US" sz="1100" dirty="0">
                <a:solidFill>
                  <a:srgbClr val="1A2B3C"/>
                </a:solidFill>
                <a:latin typeface="Calibri" pitchFamily="34" charset="0"/>
                <a:ea typeface="Calibri" pitchFamily="34" charset="-122"/>
                <a:cs typeface="Calibri" pitchFamily="34" charset="-120"/>
              </a:rPr>
              <a:t>from SLA intent to a verified configuration change on the live radio</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STANDARDS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Each interface is anchored in an open specification</a:t>
            </a:r>
            <a:endParaRPr lang="en-US" sz="2400" dirty="0"/>
          </a:p>
        </p:txBody>
      </p:sp>
      <p:sp>
        <p:nvSpPr>
          <p:cNvPr id="4" name="Shape 2"/>
          <p:cNvSpPr/>
          <p:nvPr/>
        </p:nvSpPr>
        <p:spPr>
          <a:xfrm>
            <a:off x="457200" y="1234440"/>
            <a:ext cx="2606040" cy="1691640"/>
          </a:xfrm>
          <a:prstGeom prst="roundRect">
            <a:avLst>
              <a:gd name="adj" fmla="val 4324"/>
            </a:avLst>
          </a:prstGeom>
          <a:solidFill>
            <a:srgbClr val="F2F5F8"/>
          </a:solidFill>
          <a:ln w="12700">
            <a:solidFill>
              <a:srgbClr val="F2F5F8"/>
            </a:solidFill>
            <a:prstDash val="solid"/>
          </a:ln>
        </p:spPr>
      </p:sp>
      <p:sp>
        <p:nvSpPr>
          <p:cNvPr id="5" name="Shape 3"/>
          <p:cNvSpPr/>
          <p:nvPr/>
        </p:nvSpPr>
        <p:spPr>
          <a:xfrm>
            <a:off x="621792" y="1399032"/>
            <a:ext cx="420624" cy="420624"/>
          </a:xfrm>
          <a:prstGeom prst="ellipse">
            <a:avLst/>
          </a:prstGeom>
          <a:solidFill>
            <a:srgbClr val="7C5CFF"/>
          </a:solidFill>
          <a:ln w="12700">
            <a:solidFill>
              <a:srgbClr val="7C5CFF"/>
            </a:solidFill>
            <a:prstDash val="solid"/>
          </a:ln>
        </p:spPr>
      </p:sp>
      <p:pic>
        <p:nvPicPr>
          <p:cNvPr id="6" name="Image 0" descr="preencoded.png">    </p:cNvPr>
          <p:cNvPicPr>
            <a:picLocks noChangeAspect="1"/>
          </p:cNvPicPr>
          <p:nvPr/>
        </p:nvPicPr>
        <p:blipFill>
          <a:blip r:embed="rId1"/>
          <a:stretch>
            <a:fillRect/>
          </a:stretch>
        </p:blipFill>
        <p:spPr>
          <a:xfrm>
            <a:off x="726948" y="1504188"/>
            <a:ext cx="210312" cy="210312"/>
          </a:xfrm>
          <a:prstGeom prst="rect">
            <a:avLst/>
          </a:prstGeom>
        </p:spPr>
      </p:pic>
      <p:sp>
        <p:nvSpPr>
          <p:cNvPr id="7" name="Text 4"/>
          <p:cNvSpPr txBox="1"/>
          <p:nvPr/>
        </p:nvSpPr>
        <p:spPr>
          <a:xfrm>
            <a:off x="1170432" y="138988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TM Forum TMF921</a:t>
            </a:r>
            <a:endParaRPr lang="en-US" sz="1250" dirty="0"/>
          </a:p>
        </p:txBody>
      </p:sp>
      <p:sp>
        <p:nvSpPr>
          <p:cNvPr id="8" name="Text 5"/>
          <p:cNvSpPr txBox="1"/>
          <p:nvPr/>
        </p:nvSpPr>
        <p:spPr>
          <a:xfrm>
            <a:off x="1170432" y="1645920"/>
            <a:ext cx="1783080" cy="182880"/>
          </a:xfrm>
          <a:prstGeom prst="rect">
            <a:avLst/>
          </a:prstGeom>
          <a:noFill/>
          <a:ln/>
        </p:spPr>
        <p:txBody>
          <a:bodyPr wrap="square" lIns="0" tIns="0" rIns="0" bIns="0" rtlCol="0" anchor="t"/>
          <a:lstStyle/>
          <a:p>
            <a:pPr indent="0" marL="0">
              <a:buNone/>
            </a:pPr>
            <a:r>
              <a:rPr lang="en-US" sz="850" b="1" spc="100" kern="0" dirty="0">
                <a:solidFill>
                  <a:srgbClr val="7C5CFF"/>
                </a:solidFill>
                <a:latin typeface="Calibri" pitchFamily="34" charset="0"/>
                <a:ea typeface="Calibri" pitchFamily="34" charset="-122"/>
                <a:cs typeface="Calibri" pitchFamily="34" charset="-120"/>
              </a:rPr>
              <a:t>BUSINESS &amp; SLA</a:t>
            </a:r>
            <a:endParaRPr lang="en-US" sz="850" dirty="0"/>
          </a:p>
        </p:txBody>
      </p:sp>
      <p:sp>
        <p:nvSpPr>
          <p:cNvPr id="9" name="Text 6"/>
          <p:cNvSpPr txBox="1"/>
          <p:nvPr/>
        </p:nvSpPr>
        <p:spPr>
          <a:xfrm>
            <a:off x="621792" y="194767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Intent Management API</a:t>
            </a:r>
            <a:endParaRPr lang="en-US" sz="1100" dirty="0"/>
          </a:p>
        </p:txBody>
      </p:sp>
      <p:sp>
        <p:nvSpPr>
          <p:cNvPr id="10" name="Text 7"/>
          <p:cNvSpPr txBox="1"/>
          <p:nvPr/>
        </p:nvSpPr>
        <p:spPr>
          <a:xfrm>
            <a:off x="621792" y="219456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Operator states latency &lt; 1.5 ms and availability. Intent state: Acknowledged → In evaluation → Compliant.</a:t>
            </a:r>
            <a:endParaRPr lang="en-US" sz="1000" dirty="0"/>
          </a:p>
        </p:txBody>
      </p:sp>
      <p:sp>
        <p:nvSpPr>
          <p:cNvPr id="11" name="Shape 8"/>
          <p:cNvSpPr/>
          <p:nvPr/>
        </p:nvSpPr>
        <p:spPr>
          <a:xfrm>
            <a:off x="3268980" y="1234440"/>
            <a:ext cx="2606040" cy="1691640"/>
          </a:xfrm>
          <a:prstGeom prst="roundRect">
            <a:avLst>
              <a:gd name="adj" fmla="val 4324"/>
            </a:avLst>
          </a:prstGeom>
          <a:solidFill>
            <a:srgbClr val="F2F5F8"/>
          </a:solidFill>
          <a:ln w="12700">
            <a:solidFill>
              <a:srgbClr val="F2F5F8"/>
            </a:solidFill>
            <a:prstDash val="solid"/>
          </a:ln>
        </p:spPr>
      </p:sp>
      <p:sp>
        <p:nvSpPr>
          <p:cNvPr id="12" name="Shape 9"/>
          <p:cNvSpPr/>
          <p:nvPr/>
        </p:nvSpPr>
        <p:spPr>
          <a:xfrm>
            <a:off x="3433572" y="1399032"/>
            <a:ext cx="420624" cy="420624"/>
          </a:xfrm>
          <a:prstGeom prst="ellipse">
            <a:avLst/>
          </a:prstGeom>
          <a:solidFill>
            <a:srgbClr val="0FA3B1"/>
          </a:solidFill>
          <a:ln w="12700">
            <a:solidFill>
              <a:srgbClr val="0FA3B1"/>
            </a:solidFill>
            <a:prstDash val="solid"/>
          </a:ln>
        </p:spPr>
      </p:sp>
      <p:pic>
        <p:nvPicPr>
          <p:cNvPr id="13" name="Image 1" descr="preencoded.png">    </p:cNvPr>
          <p:cNvPicPr>
            <a:picLocks noChangeAspect="1"/>
          </p:cNvPicPr>
          <p:nvPr/>
        </p:nvPicPr>
        <p:blipFill>
          <a:blip r:embed="rId2"/>
          <a:stretch>
            <a:fillRect/>
          </a:stretch>
        </p:blipFill>
        <p:spPr>
          <a:xfrm>
            <a:off x="3538728" y="1504188"/>
            <a:ext cx="210312" cy="210312"/>
          </a:xfrm>
          <a:prstGeom prst="rect">
            <a:avLst/>
          </a:prstGeom>
        </p:spPr>
      </p:pic>
      <p:sp>
        <p:nvSpPr>
          <p:cNvPr id="14" name="Text 10"/>
          <p:cNvSpPr txBox="1"/>
          <p:nvPr/>
        </p:nvSpPr>
        <p:spPr>
          <a:xfrm>
            <a:off x="3982212" y="138988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3GPP TS 28.561</a:t>
            </a:r>
            <a:endParaRPr lang="en-US" sz="1250" dirty="0"/>
          </a:p>
        </p:txBody>
      </p:sp>
      <p:sp>
        <p:nvSpPr>
          <p:cNvPr id="15" name="Text 11"/>
          <p:cNvSpPr txBox="1"/>
          <p:nvPr/>
        </p:nvSpPr>
        <p:spPr>
          <a:xfrm>
            <a:off x="3982212" y="1645920"/>
            <a:ext cx="1783080" cy="182880"/>
          </a:xfrm>
          <a:prstGeom prst="rect">
            <a:avLst/>
          </a:prstGeom>
          <a:noFill/>
          <a:ln/>
        </p:spPr>
        <p:txBody>
          <a:bodyPr wrap="square" lIns="0" tIns="0" rIns="0" bIns="0" rtlCol="0" anchor="t"/>
          <a:lstStyle/>
          <a:p>
            <a:pPr indent="0" marL="0">
              <a:buNone/>
            </a:pPr>
            <a:r>
              <a:rPr lang="en-US" sz="850" b="1" spc="100" kern="0" dirty="0">
                <a:solidFill>
                  <a:srgbClr val="0FA3B1"/>
                </a:solidFill>
                <a:latin typeface="Calibri" pitchFamily="34" charset="0"/>
                <a:ea typeface="Calibri" pitchFamily="34" charset="-122"/>
                <a:cs typeface="Calibri" pitchFamily="34" charset="-120"/>
              </a:rPr>
              <a:t>TWIN LIFECYCLE</a:t>
            </a:r>
            <a:endParaRPr lang="en-US" sz="850" dirty="0"/>
          </a:p>
        </p:txBody>
      </p:sp>
      <p:sp>
        <p:nvSpPr>
          <p:cNvPr id="16" name="Text 12"/>
          <p:cNvSpPr txBox="1"/>
          <p:nvPr/>
        </p:nvSpPr>
        <p:spPr>
          <a:xfrm>
            <a:off x="3433572" y="194767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Digital twin management</a:t>
            </a:r>
            <a:endParaRPr lang="en-US" sz="1100" dirty="0"/>
          </a:p>
        </p:txBody>
      </p:sp>
      <p:sp>
        <p:nvSpPr>
          <p:cNvPr id="17" name="Text 13"/>
          <p:cNvSpPr txBox="1"/>
          <p:nvPr/>
        </p:nvSpPr>
        <p:spPr>
          <a:xfrm>
            <a:off x="3433572" y="219456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Governs the 4-gate pre-flight check before any action reaches the network.</a:t>
            </a:r>
            <a:endParaRPr lang="en-US" sz="1000" dirty="0"/>
          </a:p>
        </p:txBody>
      </p:sp>
      <p:sp>
        <p:nvSpPr>
          <p:cNvPr id="18" name="Shape 14"/>
          <p:cNvSpPr/>
          <p:nvPr/>
        </p:nvSpPr>
        <p:spPr>
          <a:xfrm>
            <a:off x="6080760" y="1234440"/>
            <a:ext cx="2606040" cy="1691640"/>
          </a:xfrm>
          <a:prstGeom prst="roundRect">
            <a:avLst>
              <a:gd name="adj" fmla="val 4324"/>
            </a:avLst>
          </a:prstGeom>
          <a:solidFill>
            <a:srgbClr val="F2F5F8"/>
          </a:solidFill>
          <a:ln w="12700">
            <a:solidFill>
              <a:srgbClr val="F2F5F8"/>
            </a:solidFill>
            <a:prstDash val="solid"/>
          </a:ln>
        </p:spPr>
      </p:sp>
      <p:sp>
        <p:nvSpPr>
          <p:cNvPr id="19" name="Shape 15"/>
          <p:cNvSpPr/>
          <p:nvPr/>
        </p:nvSpPr>
        <p:spPr>
          <a:xfrm>
            <a:off x="6245352" y="1399032"/>
            <a:ext cx="420624" cy="420624"/>
          </a:xfrm>
          <a:prstGeom prst="ellipse">
            <a:avLst/>
          </a:prstGeom>
          <a:solidFill>
            <a:srgbClr val="14304F"/>
          </a:solidFill>
          <a:ln w="12700">
            <a:solidFill>
              <a:srgbClr val="14304F"/>
            </a:solidFill>
            <a:prstDash val="solid"/>
          </a:ln>
        </p:spPr>
      </p:sp>
      <p:pic>
        <p:nvPicPr>
          <p:cNvPr id="20" name="Image 2" descr="preencoded.png">    </p:cNvPr>
          <p:cNvPicPr>
            <a:picLocks noChangeAspect="1"/>
          </p:cNvPicPr>
          <p:nvPr/>
        </p:nvPicPr>
        <p:blipFill>
          <a:blip r:embed="rId3"/>
          <a:stretch>
            <a:fillRect/>
          </a:stretch>
        </p:blipFill>
        <p:spPr>
          <a:xfrm>
            <a:off x="6350508" y="1504188"/>
            <a:ext cx="210312" cy="210312"/>
          </a:xfrm>
          <a:prstGeom prst="rect">
            <a:avLst/>
          </a:prstGeom>
        </p:spPr>
      </p:pic>
      <p:sp>
        <p:nvSpPr>
          <p:cNvPr id="21" name="Text 16"/>
          <p:cNvSpPr txBox="1"/>
          <p:nvPr/>
        </p:nvSpPr>
        <p:spPr>
          <a:xfrm>
            <a:off x="6793992" y="138988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ITU-T Y.3090</a:t>
            </a:r>
            <a:endParaRPr lang="en-US" sz="1250" dirty="0"/>
          </a:p>
        </p:txBody>
      </p:sp>
      <p:sp>
        <p:nvSpPr>
          <p:cNvPr id="22" name="Text 17"/>
          <p:cNvSpPr txBox="1"/>
          <p:nvPr/>
        </p:nvSpPr>
        <p:spPr>
          <a:xfrm>
            <a:off x="6793992" y="1645920"/>
            <a:ext cx="1783080" cy="182880"/>
          </a:xfrm>
          <a:prstGeom prst="rect">
            <a:avLst/>
          </a:prstGeom>
          <a:noFill/>
          <a:ln/>
        </p:spPr>
        <p:txBody>
          <a:bodyPr wrap="square" lIns="0" tIns="0" rIns="0" bIns="0" rtlCol="0" anchor="t"/>
          <a:lstStyle/>
          <a:p>
            <a:pPr indent="0" marL="0">
              <a:buNone/>
            </a:pPr>
            <a:r>
              <a:rPr lang="en-US" sz="850" b="1" spc="100" kern="0" dirty="0">
                <a:solidFill>
                  <a:srgbClr val="14304F"/>
                </a:solidFill>
                <a:latin typeface="Calibri" pitchFamily="34" charset="0"/>
                <a:ea typeface="Calibri" pitchFamily="34" charset="-122"/>
                <a:cs typeface="Calibri" pitchFamily="34" charset="-120"/>
              </a:rPr>
              <a:t>ARCHITECTURE</a:t>
            </a:r>
            <a:endParaRPr lang="en-US" sz="850" dirty="0"/>
          </a:p>
        </p:txBody>
      </p:sp>
      <p:sp>
        <p:nvSpPr>
          <p:cNvPr id="23" name="Text 18"/>
          <p:cNvSpPr txBox="1"/>
          <p:nvPr/>
        </p:nvSpPr>
        <p:spPr>
          <a:xfrm>
            <a:off x="6245352" y="194767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Twin network architecture</a:t>
            </a:r>
            <a:endParaRPr lang="en-US" sz="1100" dirty="0"/>
          </a:p>
        </p:txBody>
      </p:sp>
      <p:sp>
        <p:nvSpPr>
          <p:cNvPr id="24" name="Text 19"/>
          <p:cNvSpPr txBox="1"/>
          <p:nvPr/>
        </p:nvSpPr>
        <p:spPr>
          <a:xfrm>
            <a:off x="6245352" y="219456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Layered reference model; keeps the real-time shadow datastore in sync with the physical network.</a:t>
            </a:r>
            <a:endParaRPr lang="en-US" sz="1000" dirty="0"/>
          </a:p>
        </p:txBody>
      </p:sp>
      <p:sp>
        <p:nvSpPr>
          <p:cNvPr id="25" name="Shape 20"/>
          <p:cNvSpPr/>
          <p:nvPr/>
        </p:nvSpPr>
        <p:spPr>
          <a:xfrm>
            <a:off x="457200" y="3108960"/>
            <a:ext cx="2606040" cy="1691640"/>
          </a:xfrm>
          <a:prstGeom prst="roundRect">
            <a:avLst>
              <a:gd name="adj" fmla="val 4324"/>
            </a:avLst>
          </a:prstGeom>
          <a:solidFill>
            <a:srgbClr val="F2F5F8"/>
          </a:solidFill>
          <a:ln w="12700">
            <a:solidFill>
              <a:srgbClr val="F2F5F8"/>
            </a:solidFill>
            <a:prstDash val="solid"/>
          </a:ln>
        </p:spPr>
      </p:sp>
      <p:sp>
        <p:nvSpPr>
          <p:cNvPr id="26" name="Shape 21"/>
          <p:cNvSpPr/>
          <p:nvPr/>
        </p:nvSpPr>
        <p:spPr>
          <a:xfrm>
            <a:off x="621792" y="3273552"/>
            <a:ext cx="420624" cy="420624"/>
          </a:xfrm>
          <a:prstGeom prst="ellipse">
            <a:avLst/>
          </a:prstGeom>
          <a:solidFill>
            <a:srgbClr val="E8912D"/>
          </a:solidFill>
          <a:ln w="12700">
            <a:solidFill>
              <a:srgbClr val="E8912D"/>
            </a:solidFill>
            <a:prstDash val="solid"/>
          </a:ln>
        </p:spPr>
      </p:sp>
      <p:pic>
        <p:nvPicPr>
          <p:cNvPr id="27" name="Image 3" descr="preencoded.png">    </p:cNvPr>
          <p:cNvPicPr>
            <a:picLocks noChangeAspect="1"/>
          </p:cNvPicPr>
          <p:nvPr/>
        </p:nvPicPr>
        <p:blipFill>
          <a:blip r:embed="rId4"/>
          <a:stretch>
            <a:fillRect/>
          </a:stretch>
        </p:blipFill>
        <p:spPr>
          <a:xfrm>
            <a:off x="726948" y="3378708"/>
            <a:ext cx="210312" cy="210312"/>
          </a:xfrm>
          <a:prstGeom prst="rect">
            <a:avLst/>
          </a:prstGeom>
        </p:spPr>
      </p:pic>
      <p:sp>
        <p:nvSpPr>
          <p:cNvPr id="28" name="Text 22"/>
          <p:cNvSpPr txBox="1"/>
          <p:nvPr/>
        </p:nvSpPr>
        <p:spPr>
          <a:xfrm>
            <a:off x="1170432" y="326440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ITU-T Y.3092</a:t>
            </a:r>
            <a:endParaRPr lang="en-US" sz="1250" dirty="0"/>
          </a:p>
        </p:txBody>
      </p:sp>
      <p:sp>
        <p:nvSpPr>
          <p:cNvPr id="29" name="Text 23"/>
          <p:cNvSpPr txBox="1"/>
          <p:nvPr/>
        </p:nvSpPr>
        <p:spPr>
          <a:xfrm>
            <a:off x="1170432" y="3520440"/>
            <a:ext cx="1783080" cy="182880"/>
          </a:xfrm>
          <a:prstGeom prst="rect">
            <a:avLst/>
          </a:prstGeom>
          <a:noFill/>
          <a:ln/>
        </p:spPr>
        <p:txBody>
          <a:bodyPr wrap="square" lIns="0" tIns="0" rIns="0" bIns="0" rtlCol="0" anchor="t"/>
          <a:lstStyle/>
          <a:p>
            <a:pPr indent="0" marL="0">
              <a:buNone/>
            </a:pPr>
            <a:r>
              <a:rPr lang="en-US" sz="850" b="1" spc="100" kern="0" dirty="0">
                <a:solidFill>
                  <a:srgbClr val="E8912D"/>
                </a:solidFill>
                <a:latin typeface="Calibri" pitchFamily="34" charset="0"/>
                <a:ea typeface="Calibri" pitchFamily="34" charset="-122"/>
                <a:cs typeface="Calibri" pitchFamily="34" charset="-120"/>
              </a:rPr>
              <a:t>SIMULATION INTERFACE</a:t>
            </a:r>
            <a:endParaRPr lang="en-US" sz="850" dirty="0"/>
          </a:p>
        </p:txBody>
      </p:sp>
      <p:sp>
        <p:nvSpPr>
          <p:cNvPr id="30" name="Text 24"/>
          <p:cNvSpPr txBox="1"/>
          <p:nvPr/>
        </p:nvSpPr>
        <p:spPr>
          <a:xfrm>
            <a:off x="621792" y="382219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NDT-m and NDT-p interfaces</a:t>
            </a:r>
            <a:endParaRPr lang="en-US" sz="1100" dirty="0"/>
          </a:p>
        </p:txBody>
      </p:sp>
      <p:sp>
        <p:nvSpPr>
          <p:cNvPr id="31" name="Text 25"/>
          <p:cNvSpPr txBox="1"/>
          <p:nvPr/>
        </p:nvSpPr>
        <p:spPr>
          <a:xfrm>
            <a:off x="621792" y="406908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Job control to the twin (NDT-m) and live state sync (NDT-p) for the what-if runs.</a:t>
            </a:r>
            <a:endParaRPr lang="en-US" sz="1000" dirty="0"/>
          </a:p>
        </p:txBody>
      </p:sp>
      <p:sp>
        <p:nvSpPr>
          <p:cNvPr id="32" name="Shape 26"/>
          <p:cNvSpPr/>
          <p:nvPr/>
        </p:nvSpPr>
        <p:spPr>
          <a:xfrm>
            <a:off x="3268980" y="3108960"/>
            <a:ext cx="2606040" cy="1691640"/>
          </a:xfrm>
          <a:prstGeom prst="roundRect">
            <a:avLst>
              <a:gd name="adj" fmla="val 4324"/>
            </a:avLst>
          </a:prstGeom>
          <a:solidFill>
            <a:srgbClr val="F2F5F8"/>
          </a:solidFill>
          <a:ln w="12700">
            <a:solidFill>
              <a:srgbClr val="F2F5F8"/>
            </a:solidFill>
            <a:prstDash val="solid"/>
          </a:ln>
        </p:spPr>
      </p:sp>
      <p:sp>
        <p:nvSpPr>
          <p:cNvPr id="33" name="Shape 27"/>
          <p:cNvSpPr/>
          <p:nvPr/>
        </p:nvSpPr>
        <p:spPr>
          <a:xfrm>
            <a:off x="3433572" y="3273552"/>
            <a:ext cx="420624" cy="420624"/>
          </a:xfrm>
          <a:prstGeom prst="ellipse">
            <a:avLst/>
          </a:prstGeom>
          <a:solidFill>
            <a:srgbClr val="22A06B"/>
          </a:solidFill>
          <a:ln w="12700">
            <a:solidFill>
              <a:srgbClr val="22A06B"/>
            </a:solidFill>
            <a:prstDash val="solid"/>
          </a:ln>
        </p:spPr>
      </p:sp>
      <p:pic>
        <p:nvPicPr>
          <p:cNvPr id="34" name="Image 4" descr="preencoded.png">    </p:cNvPr>
          <p:cNvPicPr>
            <a:picLocks noChangeAspect="1"/>
          </p:cNvPicPr>
          <p:nvPr/>
        </p:nvPicPr>
        <p:blipFill>
          <a:blip r:embed="rId5"/>
          <a:stretch>
            <a:fillRect/>
          </a:stretch>
        </p:blipFill>
        <p:spPr>
          <a:xfrm>
            <a:off x="3538728" y="3378708"/>
            <a:ext cx="210312" cy="210312"/>
          </a:xfrm>
          <a:prstGeom prst="rect">
            <a:avLst/>
          </a:prstGeom>
        </p:spPr>
      </p:pic>
      <p:sp>
        <p:nvSpPr>
          <p:cNvPr id="35" name="Text 28"/>
          <p:cNvSpPr txBox="1"/>
          <p:nvPr/>
        </p:nvSpPr>
        <p:spPr>
          <a:xfrm>
            <a:off x="3982212" y="326440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IETF RFC 8040 / 7950</a:t>
            </a:r>
            <a:endParaRPr lang="en-US" sz="1250" dirty="0"/>
          </a:p>
        </p:txBody>
      </p:sp>
      <p:sp>
        <p:nvSpPr>
          <p:cNvPr id="36" name="Text 29"/>
          <p:cNvSpPr txBox="1"/>
          <p:nvPr/>
        </p:nvSpPr>
        <p:spPr>
          <a:xfrm>
            <a:off x="3982212" y="3520440"/>
            <a:ext cx="1783080" cy="182880"/>
          </a:xfrm>
          <a:prstGeom prst="rect">
            <a:avLst/>
          </a:prstGeom>
          <a:noFill/>
          <a:ln/>
        </p:spPr>
        <p:txBody>
          <a:bodyPr wrap="square" lIns="0" tIns="0" rIns="0" bIns="0" rtlCol="0" anchor="t"/>
          <a:lstStyle/>
          <a:p>
            <a:pPr indent="0" marL="0">
              <a:buNone/>
            </a:pPr>
            <a:r>
              <a:rPr lang="en-US" sz="850" b="1" spc="100" kern="0" dirty="0">
                <a:solidFill>
                  <a:srgbClr val="22A06B"/>
                </a:solidFill>
                <a:latin typeface="Calibri" pitchFamily="34" charset="0"/>
                <a:ea typeface="Calibri" pitchFamily="34" charset="-122"/>
                <a:cs typeface="Calibri" pitchFamily="34" charset="-120"/>
              </a:rPr>
              <a:t>HARDWARE INTERFACE</a:t>
            </a:r>
            <a:endParaRPr lang="en-US" sz="850" dirty="0"/>
          </a:p>
        </p:txBody>
      </p:sp>
      <p:sp>
        <p:nvSpPr>
          <p:cNvPr id="37" name="Text 30"/>
          <p:cNvSpPr txBox="1"/>
          <p:nvPr/>
        </p:nvSpPr>
        <p:spPr>
          <a:xfrm>
            <a:off x="3433572" y="382219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RESTCONF &amp; YANG 1.1</a:t>
            </a:r>
            <a:endParaRPr lang="en-US" sz="1100" dirty="0"/>
          </a:p>
        </p:txBody>
      </p:sp>
      <p:sp>
        <p:nvSpPr>
          <p:cNvPr id="38" name="Text 31"/>
          <p:cNvSpPr txBox="1"/>
          <p:nvPr/>
        </p:nvSpPr>
        <p:spPr>
          <a:xfrm>
            <a:off x="3433572" y="406908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Southbound to the MH-T261: candidate staging, diff validation, two-phase commit.</a:t>
            </a:r>
            <a:endParaRPr lang="en-US" sz="1000" dirty="0"/>
          </a:p>
        </p:txBody>
      </p:sp>
      <p:sp>
        <p:nvSpPr>
          <p:cNvPr id="39" name="Shape 32"/>
          <p:cNvSpPr/>
          <p:nvPr/>
        </p:nvSpPr>
        <p:spPr>
          <a:xfrm>
            <a:off x="6080760" y="3108960"/>
            <a:ext cx="2606040" cy="1691640"/>
          </a:xfrm>
          <a:prstGeom prst="roundRect">
            <a:avLst>
              <a:gd name="adj" fmla="val 4324"/>
            </a:avLst>
          </a:prstGeom>
          <a:solidFill>
            <a:srgbClr val="F2F5F8"/>
          </a:solidFill>
          <a:ln w="12700">
            <a:solidFill>
              <a:srgbClr val="F2F5F8"/>
            </a:solidFill>
            <a:prstDash val="solid"/>
          </a:ln>
        </p:spPr>
      </p:sp>
      <p:sp>
        <p:nvSpPr>
          <p:cNvPr id="40" name="Shape 33"/>
          <p:cNvSpPr/>
          <p:nvPr/>
        </p:nvSpPr>
        <p:spPr>
          <a:xfrm>
            <a:off x="6245352" y="3273552"/>
            <a:ext cx="420624" cy="420624"/>
          </a:xfrm>
          <a:prstGeom prst="ellipse">
            <a:avLst/>
          </a:prstGeom>
          <a:solidFill>
            <a:srgbClr val="0FA3B1"/>
          </a:solidFill>
          <a:ln w="12700">
            <a:solidFill>
              <a:srgbClr val="0FA3B1"/>
            </a:solidFill>
            <a:prstDash val="solid"/>
          </a:ln>
        </p:spPr>
      </p:sp>
      <p:pic>
        <p:nvPicPr>
          <p:cNvPr id="41" name="Image 5" descr="preencoded.png">    </p:cNvPr>
          <p:cNvPicPr>
            <a:picLocks noChangeAspect="1"/>
          </p:cNvPicPr>
          <p:nvPr/>
        </p:nvPicPr>
        <p:blipFill>
          <a:blip r:embed="rId6"/>
          <a:stretch>
            <a:fillRect/>
          </a:stretch>
        </p:blipFill>
        <p:spPr>
          <a:xfrm>
            <a:off x="6350508" y="3378708"/>
            <a:ext cx="210312" cy="210312"/>
          </a:xfrm>
          <a:prstGeom prst="rect">
            <a:avLst/>
          </a:prstGeom>
        </p:spPr>
      </p:pic>
      <p:sp>
        <p:nvSpPr>
          <p:cNvPr id="42" name="Text 34"/>
          <p:cNvSpPr txBox="1"/>
          <p:nvPr/>
        </p:nvSpPr>
        <p:spPr>
          <a:xfrm>
            <a:off x="6793992" y="326440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ETSI TeraFlowSDN</a:t>
            </a:r>
            <a:endParaRPr lang="en-US" sz="1250" dirty="0"/>
          </a:p>
        </p:txBody>
      </p:sp>
      <p:sp>
        <p:nvSpPr>
          <p:cNvPr id="43" name="Text 35"/>
          <p:cNvSpPr txBox="1"/>
          <p:nvPr/>
        </p:nvSpPr>
        <p:spPr>
          <a:xfrm>
            <a:off x="6793992" y="3520440"/>
            <a:ext cx="1783080" cy="182880"/>
          </a:xfrm>
          <a:prstGeom prst="rect">
            <a:avLst/>
          </a:prstGeom>
          <a:noFill/>
          <a:ln/>
        </p:spPr>
        <p:txBody>
          <a:bodyPr wrap="square" lIns="0" tIns="0" rIns="0" bIns="0" rtlCol="0" anchor="t"/>
          <a:lstStyle/>
          <a:p>
            <a:pPr indent="0" marL="0">
              <a:buNone/>
            </a:pPr>
            <a:r>
              <a:rPr lang="en-US" sz="850" b="1" spc="100" kern="0" dirty="0">
                <a:solidFill>
                  <a:srgbClr val="0FA3B1"/>
                </a:solidFill>
                <a:latin typeface="Calibri" pitchFamily="34" charset="0"/>
                <a:ea typeface="Calibri" pitchFamily="34" charset="-122"/>
                <a:cs typeface="Calibri" pitchFamily="34" charset="-120"/>
              </a:rPr>
              <a:t>SDN CONTROL</a:t>
            </a:r>
            <a:endParaRPr lang="en-US" sz="850" dirty="0"/>
          </a:p>
        </p:txBody>
      </p:sp>
      <p:sp>
        <p:nvSpPr>
          <p:cNvPr id="44" name="Text 36"/>
          <p:cNvSpPr txBox="1"/>
          <p:nvPr/>
        </p:nvSpPr>
        <p:spPr>
          <a:xfrm>
            <a:off x="6245352" y="382219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Open-source SDN controller</a:t>
            </a:r>
            <a:endParaRPr lang="en-US" sz="1100" dirty="0"/>
          </a:p>
        </p:txBody>
      </p:sp>
      <p:sp>
        <p:nvSpPr>
          <p:cNvPr id="45" name="Text 37"/>
          <p:cNvSpPr txBox="1"/>
          <p:nvPr/>
        </p:nvSpPr>
        <p:spPr>
          <a:xfrm>
            <a:off x="6245352" y="406908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gRPC microservices: Context :10010, Device :10020, Service/PCE :10030, Monitoring :10040.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② · TFS → NS-3</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The simulation adapter mirrors the live network in ns-3</a:t>
            </a:r>
            <a:endParaRPr lang="en-US" sz="2400" dirty="0"/>
          </a:p>
        </p:txBody>
      </p:sp>
      <p:sp>
        <p:nvSpPr>
          <p:cNvPr id="4" name="Shape 2"/>
          <p:cNvSpPr/>
          <p:nvPr/>
        </p:nvSpPr>
        <p:spPr>
          <a:xfrm>
            <a:off x="685800" y="1463040"/>
            <a:ext cx="6309360" cy="0"/>
          </a:xfrm>
          <a:prstGeom prst="line">
            <a:avLst/>
          </a:prstGeom>
          <a:noFill/>
          <a:ln w="25400">
            <a:solidFill>
              <a:srgbClr val="D5DDE5"/>
            </a:solidFill>
            <a:prstDash val="solid"/>
          </a:ln>
        </p:spPr>
      </p:sp>
      <p:sp>
        <p:nvSpPr>
          <p:cNvPr id="5" name="Shape 3"/>
          <p:cNvSpPr/>
          <p:nvPr/>
        </p:nvSpPr>
        <p:spPr>
          <a:xfrm>
            <a:off x="457200" y="1234440"/>
            <a:ext cx="457200" cy="457200"/>
          </a:xfrm>
          <a:prstGeom prst="ellipse">
            <a:avLst/>
          </a:prstGeom>
          <a:solidFill>
            <a:srgbClr val="E8912D"/>
          </a:solidFill>
          <a:ln w="12700">
            <a:solidFill>
              <a:srgbClr val="E8912D"/>
            </a:solidFill>
            <a:prstDash val="solid"/>
          </a:ln>
        </p:spPr>
      </p:sp>
      <p:pic>
        <p:nvPicPr>
          <p:cNvPr id="6" name="Image 0" descr="preencoded.png">    </p:cNvPr>
          <p:cNvPicPr>
            <a:picLocks noChangeAspect="1"/>
          </p:cNvPicPr>
          <p:nvPr/>
        </p:nvPicPr>
        <p:blipFill>
          <a:blip r:embed="rId1"/>
          <a:stretch>
            <a:fillRect/>
          </a:stretch>
        </p:blipFill>
        <p:spPr>
          <a:xfrm>
            <a:off x="571500" y="1348740"/>
            <a:ext cx="228600" cy="228600"/>
          </a:xfrm>
          <a:prstGeom prst="rect">
            <a:avLst/>
          </a:prstGeom>
        </p:spPr>
      </p:pic>
      <p:sp>
        <p:nvSpPr>
          <p:cNvPr id="7" name="Text 4"/>
          <p:cNvSpPr txBox="1"/>
          <p:nvPr/>
        </p:nvSpPr>
        <p:spPr>
          <a:xfrm>
            <a:off x="45720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1  Reconcile</a:t>
            </a:r>
            <a:endParaRPr lang="en-US" sz="1200" dirty="0"/>
          </a:p>
        </p:txBody>
      </p:sp>
      <p:sp>
        <p:nvSpPr>
          <p:cNvPr id="8" name="Text 5"/>
          <p:cNvSpPr txBox="1"/>
          <p:nvPr/>
        </p:nvSpPr>
        <p:spPr>
          <a:xfrm>
            <a:off x="45720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Pull the live 34-node graph and RF metrics (RSSI −58 dBm, MCS 8)</a:t>
            </a:r>
            <a:endParaRPr lang="en-US" sz="1000" dirty="0"/>
          </a:p>
        </p:txBody>
      </p:sp>
      <p:sp>
        <p:nvSpPr>
          <p:cNvPr id="9" name="Shape 6"/>
          <p:cNvSpPr/>
          <p:nvPr/>
        </p:nvSpPr>
        <p:spPr>
          <a:xfrm>
            <a:off x="2560320" y="1234440"/>
            <a:ext cx="457200" cy="457200"/>
          </a:xfrm>
          <a:prstGeom prst="ellipse">
            <a:avLst/>
          </a:prstGeom>
          <a:solidFill>
            <a:srgbClr val="E8912D"/>
          </a:solidFill>
          <a:ln w="12700">
            <a:solidFill>
              <a:srgbClr val="E8912D"/>
            </a:solidFill>
            <a:prstDash val="solid"/>
          </a:ln>
        </p:spPr>
      </p:sp>
      <p:pic>
        <p:nvPicPr>
          <p:cNvPr id="10" name="Image 1" descr="preencoded.png">    </p:cNvPr>
          <p:cNvPicPr>
            <a:picLocks noChangeAspect="1"/>
          </p:cNvPicPr>
          <p:nvPr/>
        </p:nvPicPr>
        <p:blipFill>
          <a:blip r:embed="rId2"/>
          <a:stretch>
            <a:fillRect/>
          </a:stretch>
        </p:blipFill>
        <p:spPr>
          <a:xfrm>
            <a:off x="2674620" y="1348740"/>
            <a:ext cx="228600" cy="228600"/>
          </a:xfrm>
          <a:prstGeom prst="rect">
            <a:avLst/>
          </a:prstGeom>
        </p:spPr>
      </p:pic>
      <p:sp>
        <p:nvSpPr>
          <p:cNvPr id="11" name="Text 7"/>
          <p:cNvSpPr txBox="1"/>
          <p:nvPr/>
        </p:nvSpPr>
        <p:spPr>
          <a:xfrm>
            <a:off x="256032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2  Scope</a:t>
            </a:r>
            <a:endParaRPr lang="en-US" sz="1200" dirty="0"/>
          </a:p>
        </p:txBody>
      </p:sp>
      <p:sp>
        <p:nvSpPr>
          <p:cNvPr id="12" name="Text 8"/>
          <p:cNvSpPr txBox="1"/>
          <p:nvPr/>
        </p:nvSpPr>
        <p:spPr>
          <a:xfrm>
            <a:off x="256032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Fidelity governor trims the graph to the domain that matters</a:t>
            </a:r>
            <a:endParaRPr lang="en-US" sz="1000" dirty="0"/>
          </a:p>
        </p:txBody>
      </p:sp>
      <p:sp>
        <p:nvSpPr>
          <p:cNvPr id="13" name="Shape 9"/>
          <p:cNvSpPr/>
          <p:nvPr/>
        </p:nvSpPr>
        <p:spPr>
          <a:xfrm>
            <a:off x="4663440" y="1234440"/>
            <a:ext cx="457200" cy="457200"/>
          </a:xfrm>
          <a:prstGeom prst="ellipse">
            <a:avLst/>
          </a:prstGeom>
          <a:solidFill>
            <a:srgbClr val="E8912D"/>
          </a:solidFill>
          <a:ln w="12700">
            <a:solidFill>
              <a:srgbClr val="E8912D"/>
            </a:solidFill>
            <a:prstDash val="solid"/>
          </a:ln>
        </p:spPr>
      </p:sp>
      <p:pic>
        <p:nvPicPr>
          <p:cNvPr id="14" name="Image 2" descr="preencoded.png">    </p:cNvPr>
          <p:cNvPicPr>
            <a:picLocks noChangeAspect="1"/>
          </p:cNvPicPr>
          <p:nvPr/>
        </p:nvPicPr>
        <p:blipFill>
          <a:blip r:embed="rId3"/>
          <a:stretch>
            <a:fillRect/>
          </a:stretch>
        </p:blipFill>
        <p:spPr>
          <a:xfrm>
            <a:off x="4777740" y="1348740"/>
            <a:ext cx="228600" cy="228600"/>
          </a:xfrm>
          <a:prstGeom prst="rect">
            <a:avLst/>
          </a:prstGeom>
        </p:spPr>
      </p:pic>
      <p:sp>
        <p:nvSpPr>
          <p:cNvPr id="15" name="Text 10"/>
          <p:cNvSpPr txBox="1"/>
          <p:nvPr/>
        </p:nvSpPr>
        <p:spPr>
          <a:xfrm>
            <a:off x="466344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3  Perturb</a:t>
            </a:r>
            <a:endParaRPr lang="en-US" sz="1200" dirty="0"/>
          </a:p>
        </p:txBody>
      </p:sp>
      <p:sp>
        <p:nvSpPr>
          <p:cNvPr id="16" name="Text 11"/>
          <p:cNvSpPr txBox="1"/>
          <p:nvPr/>
        </p:nvSpPr>
        <p:spPr>
          <a:xfrm>
            <a:off x="466344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Inject what-ifs: 3.5× traffic surge, ITU-R P.838 rain fade</a:t>
            </a:r>
            <a:endParaRPr lang="en-US" sz="1000" dirty="0"/>
          </a:p>
        </p:txBody>
      </p:sp>
      <p:sp>
        <p:nvSpPr>
          <p:cNvPr id="17" name="Shape 12"/>
          <p:cNvSpPr/>
          <p:nvPr/>
        </p:nvSpPr>
        <p:spPr>
          <a:xfrm>
            <a:off x="6766560" y="1234440"/>
            <a:ext cx="457200" cy="457200"/>
          </a:xfrm>
          <a:prstGeom prst="ellipse">
            <a:avLst/>
          </a:prstGeom>
          <a:solidFill>
            <a:srgbClr val="E8912D"/>
          </a:solidFill>
          <a:ln w="12700">
            <a:solidFill>
              <a:srgbClr val="E8912D"/>
            </a:solidFill>
            <a:prstDash val="solid"/>
          </a:ln>
        </p:spPr>
      </p:sp>
      <p:pic>
        <p:nvPicPr>
          <p:cNvPr id="18" name="Image 3" descr="preencoded.png">    </p:cNvPr>
          <p:cNvPicPr>
            <a:picLocks noChangeAspect="1"/>
          </p:cNvPicPr>
          <p:nvPr/>
        </p:nvPicPr>
        <p:blipFill>
          <a:blip r:embed="rId4"/>
          <a:stretch>
            <a:fillRect/>
          </a:stretch>
        </p:blipFill>
        <p:spPr>
          <a:xfrm>
            <a:off x="6880860" y="1348740"/>
            <a:ext cx="228600" cy="228600"/>
          </a:xfrm>
          <a:prstGeom prst="rect">
            <a:avLst/>
          </a:prstGeom>
        </p:spPr>
      </p:pic>
      <p:sp>
        <p:nvSpPr>
          <p:cNvPr id="19" name="Text 13"/>
          <p:cNvSpPr txBox="1"/>
          <p:nvPr/>
        </p:nvSpPr>
        <p:spPr>
          <a:xfrm>
            <a:off x="676656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4  Ingest</a:t>
            </a:r>
            <a:endParaRPr lang="en-US" sz="1200" dirty="0"/>
          </a:p>
        </p:txBody>
      </p:sp>
      <p:sp>
        <p:nvSpPr>
          <p:cNvPr id="20" name="Text 14"/>
          <p:cNvSpPr txBox="1"/>
          <p:nvPr/>
        </p:nvSpPr>
        <p:spPr>
          <a:xfrm>
            <a:off x="676656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Stream queues, drops, latency and the NetAnim trace back to the twin</a:t>
            </a:r>
            <a:endParaRPr lang="en-US" sz="1000" dirty="0"/>
          </a:p>
        </p:txBody>
      </p:sp>
      <p:graphicFrame>
        <p:nvGraphicFramePr>
          <p:cNvPr id="21" name="Chart 0" descr=""/>
          <p:cNvGraphicFramePr/>
          <p:nvPr/>
        </p:nvGraphicFramePr>
        <p:xfrm>
          <a:off x="365760" y="2743200"/>
          <a:ext cx="4937760" cy="2103120"/>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5577840" y="2788920"/>
            <a:ext cx="3108960" cy="914400"/>
          </a:xfrm>
          <a:prstGeom prst="roundRect">
            <a:avLst>
              <a:gd name="adj" fmla="val 8000"/>
            </a:avLst>
          </a:prstGeom>
          <a:solidFill>
            <a:srgbClr val="F2F5F8"/>
          </a:solidFill>
          <a:ln w="12700">
            <a:solidFill>
              <a:srgbClr val="F2F5F8"/>
            </a:solidFill>
            <a:prstDash val="solid"/>
          </a:ln>
        </p:spPr>
      </p:sp>
      <p:sp>
        <p:nvSpPr>
          <p:cNvPr id="23" name="Text 16"/>
          <p:cNvSpPr txBox="1"/>
          <p:nvPr/>
        </p:nvSpPr>
        <p:spPr>
          <a:xfrm>
            <a:off x="5760720" y="2862072"/>
            <a:ext cx="2834640" cy="457200"/>
          </a:xfrm>
          <a:prstGeom prst="rect">
            <a:avLst/>
          </a:prstGeom>
          <a:noFill/>
          <a:ln/>
        </p:spPr>
        <p:txBody>
          <a:bodyPr wrap="square" lIns="0" tIns="0" rIns="0" bIns="0" rtlCol="0" anchor="ctr"/>
          <a:lstStyle/>
          <a:p>
            <a:pPr indent="0" marL="0">
              <a:buNone/>
            </a:pPr>
            <a:r>
              <a:rPr lang="en-US" sz="2400" b="1" dirty="0">
                <a:solidFill>
                  <a:srgbClr val="E8912D"/>
                </a:solidFill>
                <a:latin typeface="Arial" pitchFamily="34" charset="0"/>
                <a:ea typeface="Arial" pitchFamily="34" charset="-122"/>
                <a:cs typeface="Arial" pitchFamily="34" charset="-120"/>
              </a:rPr>
              <a:t>34 → 23</a:t>
            </a:r>
            <a:endParaRPr lang="en-US" sz="2400" dirty="0"/>
          </a:p>
        </p:txBody>
      </p:sp>
      <p:sp>
        <p:nvSpPr>
          <p:cNvPr id="24" name="Text 17"/>
          <p:cNvSpPr txBox="1"/>
          <p:nvPr/>
        </p:nvSpPr>
        <p:spPr>
          <a:xfrm>
            <a:off x="5760720" y="3319272"/>
            <a:ext cx="2834640" cy="329184"/>
          </a:xfrm>
          <a:prstGeom prst="rect">
            <a:avLst/>
          </a:prstGeom>
          <a:noFill/>
          <a:ln/>
        </p:spPr>
        <p:txBody>
          <a:bodyPr wrap="square" lIns="0" tIns="0" rIns="0" bIns="0" rtlCol="0" anchor="t"/>
          <a:lstStyle/>
          <a:p>
            <a:pPr indent="0" marL="0">
              <a:buNone/>
            </a:pPr>
            <a:r>
              <a:rPr lang="en-US" sz="1000" dirty="0">
                <a:solidFill>
                  <a:srgbClr val="1A2B3C"/>
                </a:solidFill>
                <a:latin typeface="Calibri" pitchFamily="34" charset="0"/>
                <a:ea typeface="Calibri" pitchFamily="34" charset="-122"/>
                <a:cs typeface="Calibri" pitchFamily="34" charset="-120"/>
              </a:rPr>
              <a:t>nodes simulated when scoped to Tier 4 (URLLC)</a:t>
            </a:r>
            <a:endParaRPr lang="en-US" sz="1000" dirty="0"/>
          </a:p>
        </p:txBody>
      </p:sp>
      <p:sp>
        <p:nvSpPr>
          <p:cNvPr id="25" name="Shape 18"/>
          <p:cNvSpPr/>
          <p:nvPr/>
        </p:nvSpPr>
        <p:spPr>
          <a:xfrm>
            <a:off x="5577840" y="3840480"/>
            <a:ext cx="3108960" cy="914400"/>
          </a:xfrm>
          <a:prstGeom prst="roundRect">
            <a:avLst>
              <a:gd name="adj" fmla="val 8000"/>
            </a:avLst>
          </a:prstGeom>
          <a:solidFill>
            <a:srgbClr val="F2F5F8"/>
          </a:solidFill>
          <a:ln w="12700">
            <a:solidFill>
              <a:srgbClr val="F2F5F8"/>
            </a:solidFill>
            <a:prstDash val="solid"/>
          </a:ln>
        </p:spPr>
      </p:sp>
      <p:sp>
        <p:nvSpPr>
          <p:cNvPr id="26" name="Text 19"/>
          <p:cNvSpPr txBox="1"/>
          <p:nvPr/>
        </p:nvSpPr>
        <p:spPr>
          <a:xfrm>
            <a:off x="5760720" y="3913632"/>
            <a:ext cx="2834640" cy="457200"/>
          </a:xfrm>
          <a:prstGeom prst="rect">
            <a:avLst/>
          </a:prstGeom>
          <a:noFill/>
          <a:ln/>
        </p:spPr>
        <p:txBody>
          <a:bodyPr wrap="square" lIns="0" tIns="0" rIns="0" bIns="0" rtlCol="0" anchor="ctr"/>
          <a:lstStyle/>
          <a:p>
            <a:pPr indent="0" marL="0">
              <a:buNone/>
            </a:pPr>
            <a:r>
              <a:rPr lang="en-US" sz="2400" b="1" dirty="0">
                <a:solidFill>
                  <a:srgbClr val="E8912D"/>
                </a:solidFill>
                <a:latin typeface="Arial" pitchFamily="34" charset="0"/>
                <a:ea typeface="Arial" pitchFamily="34" charset="-122"/>
                <a:cs typeface="Arial" pitchFamily="34" charset="-120"/>
              </a:rPr>
              <a:t>≈ 1.15 s</a:t>
            </a:r>
            <a:endParaRPr lang="en-US" sz="2400" dirty="0"/>
          </a:p>
        </p:txBody>
      </p:sp>
      <p:sp>
        <p:nvSpPr>
          <p:cNvPr id="27" name="Text 20"/>
          <p:cNvSpPr txBox="1"/>
          <p:nvPr/>
        </p:nvSpPr>
        <p:spPr>
          <a:xfrm>
            <a:off x="5760720" y="4370832"/>
            <a:ext cx="2834640" cy="329184"/>
          </a:xfrm>
          <a:prstGeom prst="rect">
            <a:avLst/>
          </a:prstGeom>
          <a:noFill/>
          <a:ln/>
        </p:spPr>
        <p:txBody>
          <a:bodyPr wrap="square" lIns="0" tIns="0" rIns="0" bIns="0" rtlCol="0" anchor="t"/>
          <a:lstStyle/>
          <a:p>
            <a:pPr indent="0" marL="0">
              <a:buNone/>
            </a:pPr>
            <a:r>
              <a:rPr lang="en-US" sz="1000" dirty="0">
                <a:solidFill>
                  <a:srgbClr val="1A2B3C"/>
                </a:solidFill>
                <a:latin typeface="Calibri" pitchFamily="34" charset="0"/>
                <a:ea typeface="Calibri" pitchFamily="34" charset="-122"/>
                <a:cs typeface="Calibri" pitchFamily="34" charset="-120"/>
              </a:rPr>
              <a:t>per what-if run, instead of minutes for the full graph</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② · STANDARDS ALIGNMENT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TFS ↔ ns-3 as a standard NDT job</a:t>
            </a:r>
            <a:endParaRPr lang="en-US" sz="2400" dirty="0"/>
          </a:p>
        </p:txBody>
      </p:sp>
      <p:sp>
        <p:nvSpPr>
          <p:cNvPr id="4" name="Shape 2"/>
          <p:cNvSpPr/>
          <p:nvPr/>
        </p:nvSpPr>
        <p:spPr>
          <a:xfrm>
            <a:off x="457200" y="1188720"/>
            <a:ext cx="1828800" cy="658368"/>
          </a:xfrm>
          <a:prstGeom prst="roundRect">
            <a:avLst>
              <a:gd name="adj" fmla="val 11111"/>
            </a:avLst>
          </a:prstGeom>
          <a:solidFill>
            <a:srgbClr val="FFFFFF"/>
          </a:solidFill>
          <a:ln w="19050">
            <a:solidFill>
              <a:srgbClr val="0FA3B1"/>
            </a:solidFill>
            <a:prstDash val="solid"/>
          </a:ln>
        </p:spPr>
      </p:sp>
      <p:sp>
        <p:nvSpPr>
          <p:cNvPr id="5" name="Text 3"/>
          <p:cNvSpPr txBox="1"/>
          <p:nvPr/>
        </p:nvSpPr>
        <p:spPr>
          <a:xfrm>
            <a:off x="457200" y="1243584"/>
            <a:ext cx="1828800" cy="274320"/>
          </a:xfrm>
          <a:prstGeom prst="rect">
            <a:avLst/>
          </a:prstGeom>
          <a:noFill/>
          <a:ln/>
        </p:spPr>
        <p:txBody>
          <a:bodyPr wrap="square" lIns="0" tIns="0" rIns="0" bIns="0" rtlCol="0" anchor="t"/>
          <a:lstStyle/>
          <a:p>
            <a:pPr algn="ctr" indent="0" marL="0">
              <a:buNone/>
            </a:pPr>
            <a:r>
              <a:rPr lang="en-US" sz="1150" b="1" dirty="0">
                <a:solidFill>
                  <a:srgbClr val="1A2B3C"/>
                </a:solidFill>
                <a:latin typeface="Arial" pitchFamily="34" charset="0"/>
                <a:ea typeface="Arial" pitchFamily="34" charset="-122"/>
                <a:cs typeface="Arial" pitchFamily="34" charset="-120"/>
              </a:rPr>
              <a:t>TeraFlowSDN</a:t>
            </a:r>
            <a:endParaRPr lang="en-US" sz="1150" dirty="0"/>
          </a:p>
        </p:txBody>
      </p:sp>
      <p:sp>
        <p:nvSpPr>
          <p:cNvPr id="6" name="Text 4"/>
          <p:cNvSpPr txBox="1"/>
          <p:nvPr/>
        </p:nvSpPr>
        <p:spPr>
          <a:xfrm>
            <a:off x="457200" y="1517904"/>
            <a:ext cx="1828800" cy="228600"/>
          </a:xfrm>
          <a:prstGeom prst="rect">
            <a:avLst/>
          </a:prstGeom>
          <a:noFill/>
          <a:ln/>
        </p:spPr>
        <p:txBody>
          <a:bodyPr wrap="square" lIns="0" tIns="0" rIns="0" bIns="0" rtlCol="0" anchor="t"/>
          <a:lstStyle/>
          <a:p>
            <a:pPr algn="ctr" indent="0" marL="0">
              <a:buNone/>
            </a:pPr>
            <a:r>
              <a:rPr lang="en-US" sz="950" b="1" dirty="0">
                <a:solidFill>
                  <a:srgbClr val="0FA3B1"/>
                </a:solidFill>
                <a:latin typeface="Calibri" pitchFamily="34" charset="0"/>
                <a:ea typeface="Calibri" pitchFamily="34" charset="-122"/>
                <a:cs typeface="Calibri" pitchFamily="34" charset="-120"/>
              </a:rPr>
              <a:t>NDT MnS consumer</a:t>
            </a:r>
            <a:endParaRPr lang="en-US" sz="950" dirty="0"/>
          </a:p>
        </p:txBody>
      </p:sp>
      <p:sp>
        <p:nvSpPr>
          <p:cNvPr id="7" name="Shape 5"/>
          <p:cNvSpPr/>
          <p:nvPr/>
        </p:nvSpPr>
        <p:spPr>
          <a:xfrm>
            <a:off x="4480560" y="1188720"/>
            <a:ext cx="1828800" cy="658368"/>
          </a:xfrm>
          <a:prstGeom prst="roundRect">
            <a:avLst>
              <a:gd name="adj" fmla="val 11111"/>
            </a:avLst>
          </a:prstGeom>
          <a:solidFill>
            <a:srgbClr val="FFFFFF"/>
          </a:solidFill>
          <a:ln w="19050">
            <a:solidFill>
              <a:srgbClr val="E8912D"/>
            </a:solidFill>
            <a:prstDash val="solid"/>
          </a:ln>
        </p:spPr>
      </p:sp>
      <p:sp>
        <p:nvSpPr>
          <p:cNvPr id="8" name="Text 6"/>
          <p:cNvSpPr txBox="1"/>
          <p:nvPr/>
        </p:nvSpPr>
        <p:spPr>
          <a:xfrm>
            <a:off x="4480560" y="1243584"/>
            <a:ext cx="1828800" cy="274320"/>
          </a:xfrm>
          <a:prstGeom prst="rect">
            <a:avLst/>
          </a:prstGeom>
          <a:noFill/>
          <a:ln/>
        </p:spPr>
        <p:txBody>
          <a:bodyPr wrap="square" lIns="0" tIns="0" rIns="0" bIns="0" rtlCol="0" anchor="t"/>
          <a:lstStyle/>
          <a:p>
            <a:pPr algn="ctr" indent="0" marL="0">
              <a:buNone/>
            </a:pPr>
            <a:r>
              <a:rPr lang="en-US" sz="1150" b="1" dirty="0">
                <a:solidFill>
                  <a:srgbClr val="1A2B3C"/>
                </a:solidFill>
                <a:latin typeface="Arial" pitchFamily="34" charset="0"/>
                <a:ea typeface="Arial" pitchFamily="34" charset="-122"/>
                <a:cs typeface="Arial" pitchFamily="34" charset="-120"/>
              </a:rPr>
              <a:t>Sim adapter + ns-3</a:t>
            </a:r>
            <a:endParaRPr lang="en-US" sz="1150" dirty="0"/>
          </a:p>
        </p:txBody>
      </p:sp>
      <p:sp>
        <p:nvSpPr>
          <p:cNvPr id="9" name="Text 7"/>
          <p:cNvSpPr txBox="1"/>
          <p:nvPr/>
        </p:nvSpPr>
        <p:spPr>
          <a:xfrm>
            <a:off x="4480560" y="1517904"/>
            <a:ext cx="1828800" cy="228600"/>
          </a:xfrm>
          <a:prstGeom prst="rect">
            <a:avLst/>
          </a:prstGeom>
          <a:noFill/>
          <a:ln/>
        </p:spPr>
        <p:txBody>
          <a:bodyPr wrap="square" lIns="0" tIns="0" rIns="0" bIns="0" rtlCol="0" anchor="t"/>
          <a:lstStyle/>
          <a:p>
            <a:pPr algn="ctr" indent="0" marL="0">
              <a:buNone/>
            </a:pPr>
            <a:r>
              <a:rPr lang="en-US" sz="950" b="1" dirty="0">
                <a:solidFill>
                  <a:srgbClr val="E8912D"/>
                </a:solidFill>
                <a:latin typeface="Calibri" pitchFamily="34" charset="0"/>
                <a:ea typeface="Calibri" pitchFamily="34" charset="-122"/>
                <a:cs typeface="Calibri" pitchFamily="34" charset="-120"/>
              </a:rPr>
              <a:t>NDT MnS producer</a:t>
            </a:r>
            <a:endParaRPr lang="en-US" sz="950" dirty="0"/>
          </a:p>
        </p:txBody>
      </p:sp>
      <p:sp>
        <p:nvSpPr>
          <p:cNvPr id="10" name="Shape 8"/>
          <p:cNvSpPr/>
          <p:nvPr/>
        </p:nvSpPr>
        <p:spPr>
          <a:xfrm>
            <a:off x="1371600" y="1847088"/>
            <a:ext cx="0" cy="2834640"/>
          </a:xfrm>
          <a:prstGeom prst="line">
            <a:avLst/>
          </a:prstGeom>
          <a:noFill/>
          <a:ln w="15875">
            <a:solidFill>
              <a:srgbClr val="AAB6C2"/>
            </a:solidFill>
            <a:prstDash val="dash"/>
          </a:ln>
        </p:spPr>
      </p:sp>
      <p:sp>
        <p:nvSpPr>
          <p:cNvPr id="11" name="Shape 9"/>
          <p:cNvSpPr/>
          <p:nvPr/>
        </p:nvSpPr>
        <p:spPr>
          <a:xfrm>
            <a:off x="5394960" y="1847088"/>
            <a:ext cx="0" cy="2834640"/>
          </a:xfrm>
          <a:prstGeom prst="line">
            <a:avLst/>
          </a:prstGeom>
          <a:noFill/>
          <a:ln w="15875">
            <a:solidFill>
              <a:srgbClr val="AAB6C2"/>
            </a:solidFill>
            <a:prstDash val="dash"/>
          </a:ln>
        </p:spPr>
      </p:sp>
      <p:sp>
        <p:nvSpPr>
          <p:cNvPr id="12" name="Text 10"/>
          <p:cNvSpPr txBox="1"/>
          <p:nvPr/>
        </p:nvSpPr>
        <p:spPr>
          <a:xfrm>
            <a:off x="1463040" y="205740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① createMOI (NDTJob)</a:t>
            </a:r>
            <a:endParaRPr lang="en-US" sz="1100" dirty="0"/>
          </a:p>
        </p:txBody>
      </p:sp>
      <p:sp>
        <p:nvSpPr>
          <p:cNvPr id="13" name="Shape 11"/>
          <p:cNvSpPr/>
          <p:nvPr/>
        </p:nvSpPr>
        <p:spPr>
          <a:xfrm>
            <a:off x="1371600" y="2331720"/>
            <a:ext cx="4023360" cy="0"/>
          </a:xfrm>
          <a:prstGeom prst="line">
            <a:avLst/>
          </a:prstGeom>
          <a:noFill/>
          <a:ln w="22225">
            <a:solidFill>
              <a:srgbClr val="0B1D33"/>
            </a:solidFill>
            <a:prstDash val="solid"/>
            <a:headEnd type="none"/>
            <a:tailEnd type="triangle"/>
          </a:ln>
        </p:spPr>
      </p:sp>
      <p:sp>
        <p:nvSpPr>
          <p:cNvPr id="14" name="Text 12"/>
          <p:cNvSpPr txBox="1"/>
          <p:nvPr/>
        </p:nvSpPr>
        <p:spPr>
          <a:xfrm>
            <a:off x="1463040" y="237744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capability: config verification · scope: 23-node Tier-4 graph</a:t>
            </a:r>
            <a:endParaRPr lang="en-US" sz="950" dirty="0"/>
          </a:p>
        </p:txBody>
      </p:sp>
      <p:sp>
        <p:nvSpPr>
          <p:cNvPr id="15" name="Shape 13"/>
          <p:cNvSpPr/>
          <p:nvPr/>
        </p:nvSpPr>
        <p:spPr>
          <a:xfrm>
            <a:off x="5532120" y="2203704"/>
            <a:ext cx="685800" cy="256032"/>
          </a:xfrm>
          <a:prstGeom prst="roundRect">
            <a:avLst>
              <a:gd name="adj" fmla="val 50000"/>
            </a:avLst>
          </a:prstGeom>
          <a:solidFill>
            <a:srgbClr val="14304F"/>
          </a:solidFill>
          <a:ln w="12700">
            <a:solidFill>
              <a:srgbClr val="14304F"/>
            </a:solidFill>
            <a:prstDash val="solid"/>
          </a:ln>
        </p:spPr>
      </p:sp>
      <p:sp>
        <p:nvSpPr>
          <p:cNvPr id="16" name="Text 14"/>
          <p:cNvSpPr txBox="1"/>
          <p:nvPr/>
        </p:nvSpPr>
        <p:spPr>
          <a:xfrm>
            <a:off x="5532120" y="220370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NDT-m</a:t>
            </a:r>
            <a:endParaRPr lang="en-US" sz="900" dirty="0"/>
          </a:p>
        </p:txBody>
      </p:sp>
      <p:sp>
        <p:nvSpPr>
          <p:cNvPr id="17" name="Text 15"/>
          <p:cNvSpPr txBox="1"/>
          <p:nvPr/>
        </p:nvSpPr>
        <p:spPr>
          <a:xfrm>
            <a:off x="1463040" y="269748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② Sync live state</a:t>
            </a:r>
            <a:endParaRPr lang="en-US" sz="1100" dirty="0"/>
          </a:p>
        </p:txBody>
      </p:sp>
      <p:sp>
        <p:nvSpPr>
          <p:cNvPr id="18" name="Shape 16"/>
          <p:cNvSpPr/>
          <p:nvPr/>
        </p:nvSpPr>
        <p:spPr>
          <a:xfrm>
            <a:off x="1371600" y="2971800"/>
            <a:ext cx="4023360" cy="0"/>
          </a:xfrm>
          <a:prstGeom prst="line">
            <a:avLst/>
          </a:prstGeom>
          <a:noFill/>
          <a:ln w="22225">
            <a:solidFill>
              <a:srgbClr val="0B1D33"/>
            </a:solidFill>
            <a:prstDash val="solid"/>
            <a:headEnd type="none"/>
            <a:tailEnd type="triangle"/>
          </a:ln>
        </p:spPr>
      </p:sp>
      <p:sp>
        <p:nvSpPr>
          <p:cNvPr id="19" name="Text 17"/>
          <p:cNvSpPr txBox="1"/>
          <p:nvPr/>
        </p:nvSpPr>
        <p:spPr>
          <a:xfrm>
            <a:off x="1463040" y="301752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topology and RSSI / MCS from TFS Context feed the twin model</a:t>
            </a:r>
            <a:endParaRPr lang="en-US" sz="950" dirty="0"/>
          </a:p>
        </p:txBody>
      </p:sp>
      <p:sp>
        <p:nvSpPr>
          <p:cNvPr id="20" name="Shape 18"/>
          <p:cNvSpPr/>
          <p:nvPr/>
        </p:nvSpPr>
        <p:spPr>
          <a:xfrm>
            <a:off x="5532120" y="2843784"/>
            <a:ext cx="685800" cy="256032"/>
          </a:xfrm>
          <a:prstGeom prst="roundRect">
            <a:avLst>
              <a:gd name="adj" fmla="val 50000"/>
            </a:avLst>
          </a:prstGeom>
          <a:solidFill>
            <a:srgbClr val="22A06B"/>
          </a:solidFill>
          <a:ln w="12700">
            <a:solidFill>
              <a:srgbClr val="22A06B"/>
            </a:solidFill>
            <a:prstDash val="solid"/>
          </a:ln>
        </p:spPr>
      </p:sp>
      <p:sp>
        <p:nvSpPr>
          <p:cNvPr id="21" name="Text 19"/>
          <p:cNvSpPr txBox="1"/>
          <p:nvPr/>
        </p:nvSpPr>
        <p:spPr>
          <a:xfrm>
            <a:off x="5532120" y="284378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NDT-p</a:t>
            </a:r>
            <a:endParaRPr lang="en-US" sz="900" dirty="0"/>
          </a:p>
        </p:txBody>
      </p:sp>
      <p:sp>
        <p:nvSpPr>
          <p:cNvPr id="22" name="Text 20"/>
          <p:cNvSpPr txBox="1"/>
          <p:nvPr/>
        </p:nvSpPr>
        <p:spPr>
          <a:xfrm>
            <a:off x="1463040" y="333756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③ NDTReport</a:t>
            </a:r>
            <a:endParaRPr lang="en-US" sz="1100" dirty="0"/>
          </a:p>
        </p:txBody>
      </p:sp>
      <p:sp>
        <p:nvSpPr>
          <p:cNvPr id="23" name="Shape 21"/>
          <p:cNvSpPr/>
          <p:nvPr/>
        </p:nvSpPr>
        <p:spPr>
          <a:xfrm flipH="1">
            <a:off x="1371600" y="3611880"/>
            <a:ext cx="4023360" cy="0"/>
          </a:xfrm>
          <a:prstGeom prst="line">
            <a:avLst/>
          </a:prstGeom>
          <a:noFill/>
          <a:ln w="22225">
            <a:solidFill>
              <a:srgbClr val="E8912D"/>
            </a:solidFill>
            <a:prstDash val="solid"/>
            <a:headEnd type="none"/>
            <a:tailEnd type="triangle"/>
          </a:ln>
        </p:spPr>
      </p:sp>
      <p:sp>
        <p:nvSpPr>
          <p:cNvPr id="24" name="Text 22"/>
          <p:cNvSpPr txBox="1"/>
          <p:nvPr/>
        </p:nvSpPr>
        <p:spPr>
          <a:xfrm>
            <a:off x="1463040" y="365760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predicted latency 1.12 ms · queue occupancy · drops</a:t>
            </a:r>
            <a:endParaRPr lang="en-US" sz="950" dirty="0"/>
          </a:p>
        </p:txBody>
      </p:sp>
      <p:sp>
        <p:nvSpPr>
          <p:cNvPr id="25" name="Shape 23"/>
          <p:cNvSpPr/>
          <p:nvPr/>
        </p:nvSpPr>
        <p:spPr>
          <a:xfrm>
            <a:off x="5532120" y="3483864"/>
            <a:ext cx="685800" cy="256032"/>
          </a:xfrm>
          <a:prstGeom prst="roundRect">
            <a:avLst>
              <a:gd name="adj" fmla="val 50000"/>
            </a:avLst>
          </a:prstGeom>
          <a:solidFill>
            <a:srgbClr val="14304F"/>
          </a:solidFill>
          <a:ln w="12700">
            <a:solidFill>
              <a:srgbClr val="14304F"/>
            </a:solidFill>
            <a:prstDash val="solid"/>
          </a:ln>
        </p:spPr>
      </p:sp>
      <p:sp>
        <p:nvSpPr>
          <p:cNvPr id="26" name="Text 24"/>
          <p:cNvSpPr txBox="1"/>
          <p:nvPr/>
        </p:nvSpPr>
        <p:spPr>
          <a:xfrm>
            <a:off x="5532120" y="348386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NDT-m</a:t>
            </a:r>
            <a:endParaRPr lang="en-US" sz="900" dirty="0"/>
          </a:p>
        </p:txBody>
      </p:sp>
      <p:sp>
        <p:nvSpPr>
          <p:cNvPr id="27" name="Text 25"/>
          <p:cNvSpPr txBox="1"/>
          <p:nvPr/>
        </p:nvSpPr>
        <p:spPr>
          <a:xfrm>
            <a:off x="1463040" y="397764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④ modifyMOI / deleteMOI</a:t>
            </a:r>
            <a:endParaRPr lang="en-US" sz="1100" dirty="0"/>
          </a:p>
        </p:txBody>
      </p:sp>
      <p:sp>
        <p:nvSpPr>
          <p:cNvPr id="28" name="Shape 26"/>
          <p:cNvSpPr/>
          <p:nvPr/>
        </p:nvSpPr>
        <p:spPr>
          <a:xfrm>
            <a:off x="1371600" y="4251960"/>
            <a:ext cx="4023360" cy="0"/>
          </a:xfrm>
          <a:prstGeom prst="line">
            <a:avLst/>
          </a:prstGeom>
          <a:noFill/>
          <a:ln w="22225">
            <a:solidFill>
              <a:srgbClr val="0B1D33"/>
            </a:solidFill>
            <a:prstDash val="solid"/>
            <a:headEnd type="none"/>
            <a:tailEnd type="triangle"/>
          </a:ln>
        </p:spPr>
      </p:sp>
      <p:sp>
        <p:nvSpPr>
          <p:cNvPr id="29" name="Text 27"/>
          <p:cNvSpPr txBox="1"/>
          <p:nvPr/>
        </p:nvSpPr>
        <p:spPr>
          <a:xfrm>
            <a:off x="1463040" y="429768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suspend or delete the job once the verdict is in</a:t>
            </a:r>
            <a:endParaRPr lang="en-US" sz="950" dirty="0"/>
          </a:p>
        </p:txBody>
      </p:sp>
      <p:sp>
        <p:nvSpPr>
          <p:cNvPr id="30" name="Shape 28"/>
          <p:cNvSpPr/>
          <p:nvPr/>
        </p:nvSpPr>
        <p:spPr>
          <a:xfrm>
            <a:off x="5532120" y="4123944"/>
            <a:ext cx="685800" cy="256032"/>
          </a:xfrm>
          <a:prstGeom prst="roundRect">
            <a:avLst>
              <a:gd name="adj" fmla="val 50000"/>
            </a:avLst>
          </a:prstGeom>
          <a:solidFill>
            <a:srgbClr val="14304F"/>
          </a:solidFill>
          <a:ln w="12700">
            <a:solidFill>
              <a:srgbClr val="14304F"/>
            </a:solidFill>
            <a:prstDash val="solid"/>
          </a:ln>
        </p:spPr>
      </p:sp>
      <p:sp>
        <p:nvSpPr>
          <p:cNvPr id="31" name="Text 29"/>
          <p:cNvSpPr txBox="1"/>
          <p:nvPr/>
        </p:nvSpPr>
        <p:spPr>
          <a:xfrm>
            <a:off x="5532120" y="412394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NDT-m</a:t>
            </a:r>
            <a:endParaRPr lang="en-US" sz="900" dirty="0"/>
          </a:p>
        </p:txBody>
      </p:sp>
      <p:sp>
        <p:nvSpPr>
          <p:cNvPr id="32" name="Shape 30"/>
          <p:cNvSpPr/>
          <p:nvPr/>
        </p:nvSpPr>
        <p:spPr>
          <a:xfrm>
            <a:off x="6492240" y="1188720"/>
            <a:ext cx="2194560" cy="1837944"/>
          </a:xfrm>
          <a:prstGeom prst="roundRect">
            <a:avLst>
              <a:gd name="adj" fmla="val 3980"/>
            </a:avLst>
          </a:prstGeom>
          <a:solidFill>
            <a:srgbClr val="F2F5F8"/>
          </a:solidFill>
          <a:ln w="12700">
            <a:solidFill>
              <a:srgbClr val="F2F5F8"/>
            </a:solidFill>
            <a:prstDash val="solid"/>
          </a:ln>
        </p:spPr>
      </p:sp>
      <p:sp>
        <p:nvSpPr>
          <p:cNvPr id="33" name="Shape 31"/>
          <p:cNvSpPr/>
          <p:nvPr/>
        </p:nvSpPr>
        <p:spPr>
          <a:xfrm>
            <a:off x="6629400" y="1325880"/>
            <a:ext cx="384048" cy="384048"/>
          </a:xfrm>
          <a:prstGeom prst="ellipse">
            <a:avLst/>
          </a:prstGeom>
          <a:solidFill>
            <a:srgbClr val="0FA3B1"/>
          </a:solidFill>
          <a:ln w="12700">
            <a:solidFill>
              <a:srgbClr val="0FA3B1"/>
            </a:solidFill>
            <a:prstDash val="solid"/>
          </a:ln>
        </p:spPr>
      </p:sp>
      <p:pic>
        <p:nvPicPr>
          <p:cNvPr id="34" name="Image 0" descr="preencoded.png">    </p:cNvPr>
          <p:cNvPicPr>
            <a:picLocks noChangeAspect="1"/>
          </p:cNvPicPr>
          <p:nvPr/>
        </p:nvPicPr>
        <p:blipFill>
          <a:blip r:embed="rId1"/>
          <a:stretch>
            <a:fillRect/>
          </a:stretch>
        </p:blipFill>
        <p:spPr>
          <a:xfrm>
            <a:off x="6725412" y="1421892"/>
            <a:ext cx="192024" cy="192024"/>
          </a:xfrm>
          <a:prstGeom prst="rect">
            <a:avLst/>
          </a:prstGeom>
        </p:spPr>
      </p:pic>
      <p:sp>
        <p:nvSpPr>
          <p:cNvPr id="35" name="Text 32"/>
          <p:cNvSpPr txBox="1"/>
          <p:nvPr/>
        </p:nvSpPr>
        <p:spPr>
          <a:xfrm>
            <a:off x="7104888" y="1316736"/>
            <a:ext cx="1554480" cy="228600"/>
          </a:xfrm>
          <a:prstGeom prst="rect">
            <a:avLst/>
          </a:prstGeom>
          <a:noFill/>
          <a:ln/>
        </p:spPr>
        <p:txBody>
          <a:bodyPr wrap="square" lIns="0" tIns="0" rIns="0" bIns="0" rtlCol="0" anchor="t"/>
          <a:lstStyle/>
          <a:p>
            <a:pPr indent="0" marL="0">
              <a:buNone/>
            </a:pPr>
            <a:r>
              <a:rPr lang="en-US" sz="1100" b="1" dirty="0">
                <a:solidFill>
                  <a:srgbClr val="0B1D33"/>
                </a:solidFill>
                <a:latin typeface="Arial" pitchFamily="34" charset="0"/>
                <a:ea typeface="Arial" pitchFamily="34" charset="-122"/>
                <a:cs typeface="Arial" pitchFamily="34" charset="-120"/>
              </a:rPr>
              <a:t>3GPP TS 28.561</a:t>
            </a:r>
            <a:endParaRPr lang="en-US" sz="1100" dirty="0"/>
          </a:p>
        </p:txBody>
      </p:sp>
      <p:sp>
        <p:nvSpPr>
          <p:cNvPr id="36" name="Text 33"/>
          <p:cNvSpPr txBox="1"/>
          <p:nvPr/>
        </p:nvSpPr>
        <p:spPr>
          <a:xfrm>
            <a:off x="7104888" y="1554480"/>
            <a:ext cx="1554480" cy="164592"/>
          </a:xfrm>
          <a:prstGeom prst="rect">
            <a:avLst/>
          </a:prstGeom>
          <a:noFill/>
          <a:ln/>
        </p:spPr>
        <p:txBody>
          <a:bodyPr wrap="square" lIns="0" tIns="0" rIns="0" bIns="0" rtlCol="0" anchor="t"/>
          <a:lstStyle/>
          <a:p>
            <a:pPr indent="0" marL="0">
              <a:buNone/>
            </a:pPr>
            <a:r>
              <a:rPr lang="en-US" sz="750" b="1" spc="50" kern="0" dirty="0">
                <a:solidFill>
                  <a:srgbClr val="0FA3B1"/>
                </a:solidFill>
                <a:latin typeface="Calibri" pitchFamily="34" charset="0"/>
                <a:ea typeface="Calibri" pitchFamily="34" charset="-122"/>
                <a:cs typeface="Calibri" pitchFamily="34" charset="-120"/>
              </a:rPr>
              <a:t>HOW THE JOB RUNS</a:t>
            </a:r>
            <a:endParaRPr lang="en-US" sz="750" dirty="0"/>
          </a:p>
        </p:txBody>
      </p:sp>
      <p:sp>
        <p:nvSpPr>
          <p:cNvPr id="37" name="Text 34"/>
          <p:cNvSpPr txBox="1"/>
          <p:nvPr/>
        </p:nvSpPr>
        <p:spPr>
          <a:xfrm>
            <a:off x="6629400" y="1847088"/>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NDTFunction, NDTJob, NDTReport are managed objects</a:t>
            </a:r>
            <a:endParaRPr lang="en-US" sz="950" dirty="0"/>
          </a:p>
        </p:txBody>
      </p:sp>
      <p:sp>
        <p:nvSpPr>
          <p:cNvPr id="38" name="Text 35"/>
          <p:cNvSpPr txBox="1"/>
          <p:nvPr/>
        </p:nvSpPr>
        <p:spPr>
          <a:xfrm>
            <a:off x="6629400" y="2231136"/>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Created and changed with TS 28.532 MnS operations</a:t>
            </a:r>
            <a:endParaRPr lang="en-US" sz="950" dirty="0"/>
          </a:p>
        </p:txBody>
      </p:sp>
      <p:sp>
        <p:nvSpPr>
          <p:cNvPr id="39" name="Text 36"/>
          <p:cNvSpPr txBox="1"/>
          <p:nvPr/>
        </p:nvSpPr>
        <p:spPr>
          <a:xfrm>
            <a:off x="6629400" y="2615184"/>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Job carries run-time and precision limits</a:t>
            </a:r>
            <a:endParaRPr lang="en-US" sz="950" dirty="0"/>
          </a:p>
        </p:txBody>
      </p:sp>
      <p:sp>
        <p:nvSpPr>
          <p:cNvPr id="40" name="Shape 37"/>
          <p:cNvSpPr/>
          <p:nvPr/>
        </p:nvSpPr>
        <p:spPr>
          <a:xfrm>
            <a:off x="6492240" y="3209544"/>
            <a:ext cx="2194560" cy="1453896"/>
          </a:xfrm>
          <a:prstGeom prst="roundRect">
            <a:avLst>
              <a:gd name="adj" fmla="val 5031"/>
            </a:avLst>
          </a:prstGeom>
          <a:solidFill>
            <a:srgbClr val="F2F5F8"/>
          </a:solidFill>
          <a:ln w="12700">
            <a:solidFill>
              <a:srgbClr val="F2F5F8"/>
            </a:solidFill>
            <a:prstDash val="solid"/>
          </a:ln>
        </p:spPr>
      </p:sp>
      <p:sp>
        <p:nvSpPr>
          <p:cNvPr id="41" name="Shape 38"/>
          <p:cNvSpPr/>
          <p:nvPr/>
        </p:nvSpPr>
        <p:spPr>
          <a:xfrm>
            <a:off x="6629400" y="3346704"/>
            <a:ext cx="384048" cy="384048"/>
          </a:xfrm>
          <a:prstGeom prst="ellipse">
            <a:avLst/>
          </a:prstGeom>
          <a:solidFill>
            <a:srgbClr val="14304F"/>
          </a:solidFill>
          <a:ln w="12700">
            <a:solidFill>
              <a:srgbClr val="14304F"/>
            </a:solidFill>
            <a:prstDash val="solid"/>
          </a:ln>
        </p:spPr>
      </p:sp>
      <p:pic>
        <p:nvPicPr>
          <p:cNvPr id="42" name="Image 1" descr="preencoded.png">    </p:cNvPr>
          <p:cNvPicPr>
            <a:picLocks noChangeAspect="1"/>
          </p:cNvPicPr>
          <p:nvPr/>
        </p:nvPicPr>
        <p:blipFill>
          <a:blip r:embed="rId2"/>
          <a:stretch>
            <a:fillRect/>
          </a:stretch>
        </p:blipFill>
        <p:spPr>
          <a:xfrm>
            <a:off x="6725412" y="3442716"/>
            <a:ext cx="192024" cy="192024"/>
          </a:xfrm>
          <a:prstGeom prst="rect">
            <a:avLst/>
          </a:prstGeom>
        </p:spPr>
      </p:pic>
      <p:sp>
        <p:nvSpPr>
          <p:cNvPr id="43" name="Text 39"/>
          <p:cNvSpPr txBox="1"/>
          <p:nvPr/>
        </p:nvSpPr>
        <p:spPr>
          <a:xfrm>
            <a:off x="7104888" y="3337560"/>
            <a:ext cx="1554480" cy="228600"/>
          </a:xfrm>
          <a:prstGeom prst="rect">
            <a:avLst/>
          </a:prstGeom>
          <a:noFill/>
          <a:ln/>
        </p:spPr>
        <p:txBody>
          <a:bodyPr wrap="square" lIns="0" tIns="0" rIns="0" bIns="0" rtlCol="0" anchor="t"/>
          <a:lstStyle/>
          <a:p>
            <a:pPr indent="0" marL="0">
              <a:buNone/>
            </a:pPr>
            <a:r>
              <a:rPr lang="en-US" sz="1100" b="1" dirty="0">
                <a:solidFill>
                  <a:srgbClr val="0B1D33"/>
                </a:solidFill>
                <a:latin typeface="Arial" pitchFamily="34" charset="0"/>
                <a:ea typeface="Arial" pitchFamily="34" charset="-122"/>
                <a:cs typeface="Arial" pitchFamily="34" charset="-120"/>
              </a:rPr>
              <a:t>ITU-T Y.3092</a:t>
            </a:r>
            <a:endParaRPr lang="en-US" sz="1100" dirty="0"/>
          </a:p>
        </p:txBody>
      </p:sp>
      <p:sp>
        <p:nvSpPr>
          <p:cNvPr id="44" name="Text 40"/>
          <p:cNvSpPr txBox="1"/>
          <p:nvPr/>
        </p:nvSpPr>
        <p:spPr>
          <a:xfrm>
            <a:off x="7104888" y="3575304"/>
            <a:ext cx="1554480" cy="164592"/>
          </a:xfrm>
          <a:prstGeom prst="rect">
            <a:avLst/>
          </a:prstGeom>
          <a:noFill/>
          <a:ln/>
        </p:spPr>
        <p:txBody>
          <a:bodyPr wrap="square" lIns="0" tIns="0" rIns="0" bIns="0" rtlCol="0" anchor="t"/>
          <a:lstStyle/>
          <a:p>
            <a:pPr indent="0" marL="0">
              <a:buNone/>
            </a:pPr>
            <a:r>
              <a:rPr lang="en-US" sz="750" b="1" spc="50" kern="0" dirty="0">
                <a:solidFill>
                  <a:srgbClr val="14304F"/>
                </a:solidFill>
                <a:latin typeface="Calibri" pitchFamily="34" charset="0"/>
                <a:ea typeface="Calibri" pitchFamily="34" charset="-122"/>
                <a:cs typeface="Calibri" pitchFamily="34" charset="-120"/>
              </a:rPr>
              <a:t>WHICH INTERFACE</a:t>
            </a:r>
            <a:endParaRPr lang="en-US" sz="750" dirty="0"/>
          </a:p>
        </p:txBody>
      </p:sp>
      <p:sp>
        <p:nvSpPr>
          <p:cNvPr id="45" name="Text 41"/>
          <p:cNvSpPr txBox="1"/>
          <p:nvPr/>
        </p:nvSpPr>
        <p:spPr>
          <a:xfrm>
            <a:off x="6629400" y="3867912"/>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NDT-m: management ↔ twin (job control)</a:t>
            </a:r>
            <a:endParaRPr lang="en-US" sz="950" dirty="0"/>
          </a:p>
        </p:txBody>
      </p:sp>
      <p:sp>
        <p:nvSpPr>
          <p:cNvPr id="46" name="Text 42"/>
          <p:cNvSpPr txBox="1"/>
          <p:nvPr/>
        </p:nvSpPr>
        <p:spPr>
          <a:xfrm>
            <a:off x="6629400" y="4251960"/>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NDT-p: physical network ↔ twin (state sync)</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② · CONNECTIVITY OPTIONS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TFS ↔ ns-3: what exists today, what is coming</a:t>
            </a:r>
            <a:endParaRPr lang="en-US" sz="2400" dirty="0"/>
          </a:p>
        </p:txBody>
      </p:sp>
      <p:sp>
        <p:nvSpPr>
          <p:cNvPr id="4" name="Text 2"/>
          <p:cNvSpPr txBox="1"/>
          <p:nvPr/>
        </p:nvSpPr>
        <p:spPr>
          <a:xfrm>
            <a:off x="2377440" y="1188720"/>
            <a:ext cx="3520440" cy="201168"/>
          </a:xfrm>
          <a:prstGeom prst="rect">
            <a:avLst/>
          </a:prstGeom>
          <a:noFill/>
          <a:ln/>
        </p:spPr>
        <p:txBody>
          <a:bodyPr wrap="square" lIns="0" tIns="0" rIns="0" bIns="0" rtlCol="0" anchor="t"/>
          <a:lstStyle/>
          <a:p>
            <a:pPr indent="0" marL="0">
              <a:buNone/>
            </a:pPr>
            <a:r>
              <a:rPr lang="en-US" sz="900" b="1" spc="150" kern="0" dirty="0">
                <a:solidFill>
                  <a:srgbClr val="22A06B"/>
                </a:solidFill>
                <a:latin typeface="Calibri" pitchFamily="34" charset="0"/>
                <a:ea typeface="Calibri" pitchFamily="34" charset="-122"/>
                <a:cs typeface="Calibri" pitchFamily="34" charset="-120"/>
              </a:rPr>
              <a:t>AVAILABLE NOW</a:t>
            </a:r>
            <a:endParaRPr lang="en-US" sz="900" dirty="0"/>
          </a:p>
        </p:txBody>
      </p:sp>
      <p:sp>
        <p:nvSpPr>
          <p:cNvPr id="5" name="Text 3"/>
          <p:cNvSpPr txBox="1"/>
          <p:nvPr/>
        </p:nvSpPr>
        <p:spPr>
          <a:xfrm>
            <a:off x="6035040" y="1188720"/>
            <a:ext cx="2651760" cy="201168"/>
          </a:xfrm>
          <a:prstGeom prst="rect">
            <a:avLst/>
          </a:prstGeom>
          <a:noFill/>
          <a:ln/>
        </p:spPr>
        <p:txBody>
          <a:bodyPr wrap="square" lIns="0" tIns="0" rIns="0" bIns="0" rtlCol="0" anchor="t"/>
          <a:lstStyle/>
          <a:p>
            <a:pPr indent="0" marL="0">
              <a:buNone/>
            </a:pPr>
            <a:r>
              <a:rPr lang="en-US" sz="900" b="1" spc="150" kern="0" dirty="0">
                <a:solidFill>
                  <a:srgbClr val="E8912D"/>
                </a:solidFill>
                <a:latin typeface="Calibri" pitchFamily="34" charset="0"/>
                <a:ea typeface="Calibri" pitchFamily="34" charset="-122"/>
                <a:cs typeface="Calibri" pitchFamily="34" charset="-120"/>
              </a:rPr>
              <a:t>EMERGING · 2026–28</a:t>
            </a:r>
            <a:endParaRPr lang="en-US" sz="900" dirty="0"/>
          </a:p>
        </p:txBody>
      </p:sp>
      <p:sp>
        <p:nvSpPr>
          <p:cNvPr id="6" name="Shape 4"/>
          <p:cNvSpPr/>
          <p:nvPr/>
        </p:nvSpPr>
        <p:spPr>
          <a:xfrm>
            <a:off x="457200" y="1618488"/>
            <a:ext cx="420624" cy="420624"/>
          </a:xfrm>
          <a:prstGeom prst="ellipse">
            <a:avLst/>
          </a:prstGeom>
          <a:solidFill>
            <a:srgbClr val="14304F"/>
          </a:solidFill>
          <a:ln w="12700">
            <a:solidFill>
              <a:srgbClr val="14304F"/>
            </a:solidFill>
            <a:prstDash val="solid"/>
          </a:ln>
        </p:spPr>
      </p:sp>
      <p:pic>
        <p:nvPicPr>
          <p:cNvPr id="7" name="Image 0" descr="preencoded.png">    </p:cNvPr>
          <p:cNvPicPr>
            <a:picLocks noChangeAspect="1"/>
          </p:cNvPicPr>
          <p:nvPr/>
        </p:nvPicPr>
        <p:blipFill>
          <a:blip r:embed="rId1"/>
          <a:stretch>
            <a:fillRect/>
          </a:stretch>
        </p:blipFill>
        <p:spPr>
          <a:xfrm>
            <a:off x="562356" y="1723644"/>
            <a:ext cx="210312" cy="210312"/>
          </a:xfrm>
          <a:prstGeom prst="rect">
            <a:avLst/>
          </a:prstGeom>
        </p:spPr>
      </p:pic>
      <p:sp>
        <p:nvSpPr>
          <p:cNvPr id="8" name="Text 5"/>
          <p:cNvSpPr txBox="1"/>
          <p:nvPr/>
        </p:nvSpPr>
        <p:spPr>
          <a:xfrm>
            <a:off x="987552" y="1581912"/>
            <a:ext cx="1325880" cy="246888"/>
          </a:xfrm>
          <a:prstGeom prst="rect">
            <a:avLst/>
          </a:prstGeom>
          <a:noFill/>
          <a:ln/>
        </p:spPr>
        <p:txBody>
          <a:bodyPr wrap="square" lIns="0" tIns="0" rIns="0" bIns="0" rtlCol="0" anchor="t"/>
          <a:lstStyle/>
          <a:p>
            <a:pPr indent="0" marL="0">
              <a:buNone/>
            </a:pPr>
            <a:r>
              <a:rPr lang="en-US" sz="1150" b="1" dirty="0">
                <a:solidFill>
                  <a:srgbClr val="1A2B3C"/>
                </a:solidFill>
                <a:latin typeface="Arial" pitchFamily="34" charset="0"/>
                <a:ea typeface="Arial" pitchFamily="34" charset="-122"/>
                <a:cs typeface="Arial" pitchFamily="34" charset="-120"/>
              </a:rPr>
              <a:t>Job control</a:t>
            </a:r>
            <a:endParaRPr lang="en-US" sz="1150" dirty="0"/>
          </a:p>
        </p:txBody>
      </p:sp>
      <p:sp>
        <p:nvSpPr>
          <p:cNvPr id="9" name="Text 6"/>
          <p:cNvSpPr txBox="1"/>
          <p:nvPr/>
        </p:nvSpPr>
        <p:spPr>
          <a:xfrm>
            <a:off x="987552" y="1828800"/>
            <a:ext cx="1325880" cy="36576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start, steer, stop what-if runs</a:t>
            </a:r>
            <a:endParaRPr lang="en-US" sz="900" dirty="0"/>
          </a:p>
        </p:txBody>
      </p:sp>
      <p:sp>
        <p:nvSpPr>
          <p:cNvPr id="10" name="Shape 7"/>
          <p:cNvSpPr/>
          <p:nvPr/>
        </p:nvSpPr>
        <p:spPr>
          <a:xfrm>
            <a:off x="2377440" y="1463040"/>
            <a:ext cx="3520440" cy="329184"/>
          </a:xfrm>
          <a:prstGeom prst="roundRect">
            <a:avLst>
              <a:gd name="adj" fmla="val 16667"/>
            </a:avLst>
          </a:prstGeom>
          <a:solidFill>
            <a:srgbClr val="DDF3E8"/>
          </a:solidFill>
          <a:ln w="12700">
            <a:solidFill>
              <a:srgbClr val="DDF3E8"/>
            </a:solidFill>
            <a:prstDash val="solid"/>
          </a:ln>
        </p:spPr>
      </p:sp>
      <p:sp>
        <p:nvSpPr>
          <p:cNvPr id="11" name="Text 8"/>
          <p:cNvSpPr txBox="1"/>
          <p:nvPr/>
        </p:nvSpPr>
        <p:spPr>
          <a:xfrm>
            <a:off x="2468880" y="1463040"/>
            <a:ext cx="3383280" cy="329184"/>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3GPP TS 28.561 NDTJob over TS 28.532 REST</a:t>
            </a:r>
            <a:endParaRPr lang="en-US" sz="950" dirty="0"/>
          </a:p>
        </p:txBody>
      </p:sp>
      <p:sp>
        <p:nvSpPr>
          <p:cNvPr id="12" name="Shape 9"/>
          <p:cNvSpPr/>
          <p:nvPr/>
        </p:nvSpPr>
        <p:spPr>
          <a:xfrm>
            <a:off x="6035040" y="1463040"/>
            <a:ext cx="2651760" cy="329184"/>
          </a:xfrm>
          <a:prstGeom prst="roundRect">
            <a:avLst>
              <a:gd name="adj" fmla="val 16667"/>
            </a:avLst>
          </a:prstGeom>
          <a:solidFill>
            <a:srgbClr val="FFFFFF"/>
          </a:solidFill>
          <a:ln w="12700">
            <a:solidFill>
              <a:srgbClr val="E8912D"/>
            </a:solidFill>
            <a:prstDash val="dash"/>
          </a:ln>
        </p:spPr>
      </p:sp>
      <p:sp>
        <p:nvSpPr>
          <p:cNvPr id="13" name="Text 10"/>
          <p:cNvSpPr txBox="1"/>
          <p:nvPr/>
        </p:nvSpPr>
        <p:spPr>
          <a:xfrm>
            <a:off x="6126480" y="1463040"/>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3GPP Rel-20 NDT phase 2 (TR 28.883)</a:t>
            </a:r>
            <a:endParaRPr lang="en-US" sz="950" dirty="0"/>
          </a:p>
        </p:txBody>
      </p:sp>
      <p:sp>
        <p:nvSpPr>
          <p:cNvPr id="14" name="Shape 11"/>
          <p:cNvSpPr/>
          <p:nvPr/>
        </p:nvSpPr>
        <p:spPr>
          <a:xfrm>
            <a:off x="2377440" y="1856232"/>
            <a:ext cx="3520440" cy="329184"/>
          </a:xfrm>
          <a:prstGeom prst="roundRect">
            <a:avLst>
              <a:gd name="adj" fmla="val 16667"/>
            </a:avLst>
          </a:prstGeom>
          <a:solidFill>
            <a:srgbClr val="F2F5F8"/>
          </a:solidFill>
          <a:ln w="12700">
            <a:solidFill>
              <a:srgbClr val="F2F5F8"/>
            </a:solidFill>
            <a:prstDash val="solid"/>
          </a:ln>
        </p:spPr>
      </p:sp>
      <p:sp>
        <p:nvSpPr>
          <p:cNvPr id="15" name="Text 12"/>
          <p:cNvSpPr txBox="1"/>
          <p:nvPr/>
        </p:nvSpPr>
        <p:spPr>
          <a:xfrm>
            <a:off x="2468880" y="1856232"/>
            <a:ext cx="338328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Y.3092 NDT-m interface</a:t>
            </a:r>
            <a:endParaRPr lang="en-US" sz="950" dirty="0"/>
          </a:p>
        </p:txBody>
      </p:sp>
      <p:sp>
        <p:nvSpPr>
          <p:cNvPr id="16" name="Shape 13"/>
          <p:cNvSpPr/>
          <p:nvPr/>
        </p:nvSpPr>
        <p:spPr>
          <a:xfrm>
            <a:off x="6035040" y="1856232"/>
            <a:ext cx="2651760" cy="329184"/>
          </a:xfrm>
          <a:prstGeom prst="roundRect">
            <a:avLst>
              <a:gd name="adj" fmla="val 16667"/>
            </a:avLst>
          </a:prstGeom>
          <a:solidFill>
            <a:srgbClr val="FFFFFF"/>
          </a:solidFill>
          <a:ln w="12700">
            <a:solidFill>
              <a:srgbClr val="E8912D"/>
            </a:solidFill>
            <a:prstDash val="dash"/>
          </a:ln>
        </p:spPr>
      </p:sp>
      <p:sp>
        <p:nvSpPr>
          <p:cNvPr id="17" name="Text 14"/>
          <p:cNvSpPr txBox="1"/>
          <p:nvPr/>
        </p:nvSpPr>
        <p:spPr>
          <a:xfrm>
            <a:off x="6126480" y="1856232"/>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Q.SDTN twin signalling protocol</a:t>
            </a:r>
            <a:endParaRPr lang="en-US" sz="950" dirty="0"/>
          </a:p>
        </p:txBody>
      </p:sp>
      <p:sp>
        <p:nvSpPr>
          <p:cNvPr id="18" name="Shape 15"/>
          <p:cNvSpPr/>
          <p:nvPr/>
        </p:nvSpPr>
        <p:spPr>
          <a:xfrm>
            <a:off x="457200" y="2295144"/>
            <a:ext cx="8229600" cy="0"/>
          </a:xfrm>
          <a:prstGeom prst="line">
            <a:avLst/>
          </a:prstGeom>
          <a:noFill/>
          <a:ln w="9525">
            <a:solidFill>
              <a:srgbClr val="D5DDE5"/>
            </a:solidFill>
            <a:prstDash val="solid"/>
          </a:ln>
        </p:spPr>
      </p:sp>
      <p:sp>
        <p:nvSpPr>
          <p:cNvPr id="19" name="Shape 16"/>
          <p:cNvSpPr/>
          <p:nvPr/>
        </p:nvSpPr>
        <p:spPr>
          <a:xfrm>
            <a:off x="457200" y="2532888"/>
            <a:ext cx="420624" cy="420624"/>
          </a:xfrm>
          <a:prstGeom prst="ellipse">
            <a:avLst/>
          </a:prstGeom>
          <a:solidFill>
            <a:srgbClr val="22A06B"/>
          </a:solidFill>
          <a:ln w="12700">
            <a:solidFill>
              <a:srgbClr val="22A06B"/>
            </a:solidFill>
            <a:prstDash val="solid"/>
          </a:ln>
        </p:spPr>
      </p:sp>
      <p:pic>
        <p:nvPicPr>
          <p:cNvPr id="20" name="Image 1" descr="preencoded.png">    </p:cNvPr>
          <p:cNvPicPr>
            <a:picLocks noChangeAspect="1"/>
          </p:cNvPicPr>
          <p:nvPr/>
        </p:nvPicPr>
        <p:blipFill>
          <a:blip r:embed="rId2"/>
          <a:stretch>
            <a:fillRect/>
          </a:stretch>
        </p:blipFill>
        <p:spPr>
          <a:xfrm>
            <a:off x="562356" y="2638044"/>
            <a:ext cx="210312" cy="210312"/>
          </a:xfrm>
          <a:prstGeom prst="rect">
            <a:avLst/>
          </a:prstGeom>
        </p:spPr>
      </p:pic>
      <p:sp>
        <p:nvSpPr>
          <p:cNvPr id="21" name="Text 17"/>
          <p:cNvSpPr txBox="1"/>
          <p:nvPr/>
        </p:nvSpPr>
        <p:spPr>
          <a:xfrm>
            <a:off x="987552" y="2496312"/>
            <a:ext cx="1325880" cy="246888"/>
          </a:xfrm>
          <a:prstGeom prst="rect">
            <a:avLst/>
          </a:prstGeom>
          <a:noFill/>
          <a:ln/>
        </p:spPr>
        <p:txBody>
          <a:bodyPr wrap="square" lIns="0" tIns="0" rIns="0" bIns="0" rtlCol="0" anchor="t"/>
          <a:lstStyle/>
          <a:p>
            <a:pPr indent="0" marL="0">
              <a:buNone/>
            </a:pPr>
            <a:r>
              <a:rPr lang="en-US" sz="1150" b="1" dirty="0">
                <a:solidFill>
                  <a:srgbClr val="1A2B3C"/>
                </a:solidFill>
                <a:latin typeface="Arial" pitchFamily="34" charset="0"/>
                <a:ea typeface="Arial" pitchFamily="34" charset="-122"/>
                <a:cs typeface="Arial" pitchFamily="34" charset="-120"/>
              </a:rPr>
              <a:t>State sync</a:t>
            </a:r>
            <a:endParaRPr lang="en-US" sz="1150" dirty="0"/>
          </a:p>
        </p:txBody>
      </p:sp>
      <p:sp>
        <p:nvSpPr>
          <p:cNvPr id="22" name="Text 18"/>
          <p:cNvSpPr txBox="1"/>
          <p:nvPr/>
        </p:nvSpPr>
        <p:spPr>
          <a:xfrm>
            <a:off x="987552" y="2743200"/>
            <a:ext cx="1325880" cy="36576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live topology, RF state, KPIs</a:t>
            </a:r>
            <a:endParaRPr lang="en-US" sz="900" dirty="0"/>
          </a:p>
        </p:txBody>
      </p:sp>
      <p:sp>
        <p:nvSpPr>
          <p:cNvPr id="23" name="Shape 19"/>
          <p:cNvSpPr/>
          <p:nvPr/>
        </p:nvSpPr>
        <p:spPr>
          <a:xfrm>
            <a:off x="2377440" y="2377440"/>
            <a:ext cx="3520440" cy="329184"/>
          </a:xfrm>
          <a:prstGeom prst="roundRect">
            <a:avLst>
              <a:gd name="adj" fmla="val 16667"/>
            </a:avLst>
          </a:prstGeom>
          <a:solidFill>
            <a:srgbClr val="DDF3E8"/>
          </a:solidFill>
          <a:ln w="12700">
            <a:solidFill>
              <a:srgbClr val="DDF3E8"/>
            </a:solidFill>
            <a:prstDash val="solid"/>
          </a:ln>
        </p:spPr>
      </p:sp>
      <p:sp>
        <p:nvSpPr>
          <p:cNvPr id="24" name="Text 20"/>
          <p:cNvSpPr txBox="1"/>
          <p:nvPr/>
        </p:nvSpPr>
        <p:spPr>
          <a:xfrm>
            <a:off x="2468880" y="2377440"/>
            <a:ext cx="3383280" cy="329184"/>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TFS Context / Monitoring gRPC</a:t>
            </a:r>
            <a:endParaRPr lang="en-US" sz="950" dirty="0"/>
          </a:p>
        </p:txBody>
      </p:sp>
      <p:sp>
        <p:nvSpPr>
          <p:cNvPr id="25" name="Shape 21"/>
          <p:cNvSpPr/>
          <p:nvPr/>
        </p:nvSpPr>
        <p:spPr>
          <a:xfrm>
            <a:off x="6035040" y="2377440"/>
            <a:ext cx="2651760" cy="329184"/>
          </a:xfrm>
          <a:prstGeom prst="roundRect">
            <a:avLst>
              <a:gd name="adj" fmla="val 16667"/>
            </a:avLst>
          </a:prstGeom>
          <a:solidFill>
            <a:srgbClr val="FFFFFF"/>
          </a:solidFill>
          <a:ln w="12700">
            <a:solidFill>
              <a:srgbClr val="E8912D"/>
            </a:solidFill>
            <a:prstDash val="dash"/>
          </a:ln>
        </p:spPr>
      </p:sp>
      <p:sp>
        <p:nvSpPr>
          <p:cNvPr id="26" name="Text 22"/>
          <p:cNvSpPr txBox="1"/>
          <p:nvPr/>
        </p:nvSpPr>
        <p:spPr>
          <a:xfrm>
            <a:off x="6126480" y="2377440"/>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Rel-20 NDT data collection</a:t>
            </a:r>
            <a:endParaRPr lang="en-US" sz="950" dirty="0"/>
          </a:p>
        </p:txBody>
      </p:sp>
      <p:sp>
        <p:nvSpPr>
          <p:cNvPr id="27" name="Shape 23"/>
          <p:cNvSpPr/>
          <p:nvPr/>
        </p:nvSpPr>
        <p:spPr>
          <a:xfrm>
            <a:off x="2377440" y="2770632"/>
            <a:ext cx="3520440" cy="329184"/>
          </a:xfrm>
          <a:prstGeom prst="roundRect">
            <a:avLst>
              <a:gd name="adj" fmla="val 16667"/>
            </a:avLst>
          </a:prstGeom>
          <a:solidFill>
            <a:srgbClr val="F2F5F8"/>
          </a:solidFill>
          <a:ln w="12700">
            <a:solidFill>
              <a:srgbClr val="F2F5F8"/>
            </a:solidFill>
            <a:prstDash val="solid"/>
          </a:ln>
        </p:spPr>
      </p:sp>
      <p:sp>
        <p:nvSpPr>
          <p:cNvPr id="28" name="Text 24"/>
          <p:cNvSpPr txBox="1"/>
          <p:nvPr/>
        </p:nvSpPr>
        <p:spPr>
          <a:xfrm>
            <a:off x="2468880" y="2770632"/>
            <a:ext cx="338328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YANG-Push (RFC 8641) · gNMI · Y.3092 NDT-p</a:t>
            </a:r>
            <a:endParaRPr lang="en-US" sz="950" dirty="0"/>
          </a:p>
        </p:txBody>
      </p:sp>
      <p:sp>
        <p:nvSpPr>
          <p:cNvPr id="29" name="Shape 25"/>
          <p:cNvSpPr/>
          <p:nvPr/>
        </p:nvSpPr>
        <p:spPr>
          <a:xfrm>
            <a:off x="6035040" y="2770632"/>
            <a:ext cx="2651760" cy="329184"/>
          </a:xfrm>
          <a:prstGeom prst="roundRect">
            <a:avLst>
              <a:gd name="adj" fmla="val 16667"/>
            </a:avLst>
          </a:prstGeom>
          <a:solidFill>
            <a:srgbClr val="FFFFFF"/>
          </a:solidFill>
          <a:ln w="12700">
            <a:solidFill>
              <a:srgbClr val="E8912D"/>
            </a:solidFill>
            <a:prstDash val="dash"/>
          </a:ln>
        </p:spPr>
      </p:sp>
      <p:sp>
        <p:nvSpPr>
          <p:cNvPr id="30" name="Text 26"/>
          <p:cNvSpPr txBox="1"/>
          <p:nvPr/>
        </p:nvSpPr>
        <p:spPr>
          <a:xfrm>
            <a:off x="6126480" y="2770632"/>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IRTF NMRG twin interface drafts</a:t>
            </a:r>
            <a:endParaRPr lang="en-US" sz="950" dirty="0"/>
          </a:p>
        </p:txBody>
      </p:sp>
      <p:sp>
        <p:nvSpPr>
          <p:cNvPr id="31" name="Shape 27"/>
          <p:cNvSpPr/>
          <p:nvPr/>
        </p:nvSpPr>
        <p:spPr>
          <a:xfrm>
            <a:off x="457200" y="3209544"/>
            <a:ext cx="8229600" cy="0"/>
          </a:xfrm>
          <a:prstGeom prst="line">
            <a:avLst/>
          </a:prstGeom>
          <a:noFill/>
          <a:ln w="9525">
            <a:solidFill>
              <a:srgbClr val="D5DDE5"/>
            </a:solidFill>
            <a:prstDash val="solid"/>
          </a:ln>
        </p:spPr>
      </p:sp>
      <p:sp>
        <p:nvSpPr>
          <p:cNvPr id="32" name="Shape 28"/>
          <p:cNvSpPr/>
          <p:nvPr/>
        </p:nvSpPr>
        <p:spPr>
          <a:xfrm>
            <a:off x="457200" y="3447288"/>
            <a:ext cx="420624" cy="420624"/>
          </a:xfrm>
          <a:prstGeom prst="ellipse">
            <a:avLst/>
          </a:prstGeom>
          <a:solidFill>
            <a:srgbClr val="0FA3B1"/>
          </a:solidFill>
          <a:ln w="12700">
            <a:solidFill>
              <a:srgbClr val="0FA3B1"/>
            </a:solidFill>
            <a:prstDash val="solid"/>
          </a:ln>
        </p:spPr>
      </p:sp>
      <p:pic>
        <p:nvPicPr>
          <p:cNvPr id="33" name="Image 2" descr="preencoded.png">    </p:cNvPr>
          <p:cNvPicPr>
            <a:picLocks noChangeAspect="1"/>
          </p:cNvPicPr>
          <p:nvPr/>
        </p:nvPicPr>
        <p:blipFill>
          <a:blip r:embed="rId3"/>
          <a:stretch>
            <a:fillRect/>
          </a:stretch>
        </p:blipFill>
        <p:spPr>
          <a:xfrm>
            <a:off x="562356" y="3552444"/>
            <a:ext cx="210312" cy="210312"/>
          </a:xfrm>
          <a:prstGeom prst="rect">
            <a:avLst/>
          </a:prstGeom>
        </p:spPr>
      </p:pic>
      <p:sp>
        <p:nvSpPr>
          <p:cNvPr id="34" name="Text 29"/>
          <p:cNvSpPr txBox="1"/>
          <p:nvPr/>
        </p:nvSpPr>
        <p:spPr>
          <a:xfrm>
            <a:off x="987552" y="3410712"/>
            <a:ext cx="1325880" cy="246888"/>
          </a:xfrm>
          <a:prstGeom prst="rect">
            <a:avLst/>
          </a:prstGeom>
          <a:noFill/>
          <a:ln/>
        </p:spPr>
        <p:txBody>
          <a:bodyPr wrap="square" lIns="0" tIns="0" rIns="0" bIns="0" rtlCol="0" anchor="t"/>
          <a:lstStyle/>
          <a:p>
            <a:pPr indent="0" marL="0">
              <a:buNone/>
            </a:pPr>
            <a:r>
              <a:rPr lang="en-US" sz="1150" b="1" dirty="0">
                <a:solidFill>
                  <a:srgbClr val="1A2B3C"/>
                </a:solidFill>
                <a:latin typeface="Arial" pitchFamily="34" charset="0"/>
                <a:ea typeface="Arial" pitchFamily="34" charset="-122"/>
                <a:cs typeface="Arial" pitchFamily="34" charset="-120"/>
              </a:rPr>
              <a:t>Shared models</a:t>
            </a:r>
            <a:endParaRPr lang="en-US" sz="1150" dirty="0"/>
          </a:p>
        </p:txBody>
      </p:sp>
      <p:sp>
        <p:nvSpPr>
          <p:cNvPr id="35" name="Text 30"/>
          <p:cNvSpPr txBox="1"/>
          <p:nvPr/>
        </p:nvSpPr>
        <p:spPr>
          <a:xfrm>
            <a:off x="987552" y="3657600"/>
            <a:ext cx="1325880" cy="36576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what the graph and data mean</a:t>
            </a:r>
            <a:endParaRPr lang="en-US" sz="900" dirty="0"/>
          </a:p>
        </p:txBody>
      </p:sp>
      <p:sp>
        <p:nvSpPr>
          <p:cNvPr id="36" name="Shape 31"/>
          <p:cNvSpPr/>
          <p:nvPr/>
        </p:nvSpPr>
        <p:spPr>
          <a:xfrm>
            <a:off x="2377440" y="3291840"/>
            <a:ext cx="3520440" cy="329184"/>
          </a:xfrm>
          <a:prstGeom prst="roundRect">
            <a:avLst>
              <a:gd name="adj" fmla="val 16667"/>
            </a:avLst>
          </a:prstGeom>
          <a:solidFill>
            <a:srgbClr val="DDF3E8"/>
          </a:solidFill>
          <a:ln w="12700">
            <a:solidFill>
              <a:srgbClr val="DDF3E8"/>
            </a:solidFill>
            <a:prstDash val="solid"/>
          </a:ln>
        </p:spPr>
      </p:sp>
      <p:sp>
        <p:nvSpPr>
          <p:cNvPr id="37" name="Text 32"/>
          <p:cNvSpPr txBox="1"/>
          <p:nvPr/>
        </p:nvSpPr>
        <p:spPr>
          <a:xfrm>
            <a:off x="2468880" y="3291840"/>
            <a:ext cx="3383280" cy="329184"/>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IETF RFC 8345 network topology YANG</a:t>
            </a:r>
            <a:endParaRPr lang="en-US" sz="950" dirty="0"/>
          </a:p>
        </p:txBody>
      </p:sp>
      <p:sp>
        <p:nvSpPr>
          <p:cNvPr id="38" name="Shape 33"/>
          <p:cNvSpPr/>
          <p:nvPr/>
        </p:nvSpPr>
        <p:spPr>
          <a:xfrm>
            <a:off x="6035040" y="3291840"/>
            <a:ext cx="2651760" cy="329184"/>
          </a:xfrm>
          <a:prstGeom prst="roundRect">
            <a:avLst>
              <a:gd name="adj" fmla="val 16667"/>
            </a:avLst>
          </a:prstGeom>
          <a:solidFill>
            <a:srgbClr val="FFFFFF"/>
          </a:solidFill>
          <a:ln w="12700">
            <a:solidFill>
              <a:srgbClr val="E8912D"/>
            </a:solidFill>
            <a:prstDash val="dash"/>
          </a:ln>
        </p:spPr>
      </p:sp>
      <p:sp>
        <p:nvSpPr>
          <p:cNvPr id="39" name="Text 34"/>
          <p:cNvSpPr txBox="1"/>
          <p:nvPr/>
        </p:nvSpPr>
        <p:spPr>
          <a:xfrm>
            <a:off x="6126480" y="3291840"/>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Multi-twin collaboration (TR 28.883)</a:t>
            </a:r>
            <a:endParaRPr lang="en-US" sz="950" dirty="0"/>
          </a:p>
        </p:txBody>
      </p:sp>
      <p:sp>
        <p:nvSpPr>
          <p:cNvPr id="40" name="Shape 35"/>
          <p:cNvSpPr/>
          <p:nvPr/>
        </p:nvSpPr>
        <p:spPr>
          <a:xfrm>
            <a:off x="2377440" y="3685032"/>
            <a:ext cx="3520440" cy="329184"/>
          </a:xfrm>
          <a:prstGeom prst="roundRect">
            <a:avLst>
              <a:gd name="adj" fmla="val 16667"/>
            </a:avLst>
          </a:prstGeom>
          <a:solidFill>
            <a:srgbClr val="F2F5F8"/>
          </a:solidFill>
          <a:ln w="12700">
            <a:solidFill>
              <a:srgbClr val="F2F5F8"/>
            </a:solidFill>
            <a:prstDash val="solid"/>
          </a:ln>
        </p:spPr>
      </p:sp>
      <p:sp>
        <p:nvSpPr>
          <p:cNvPr id="41" name="Text 36"/>
          <p:cNvSpPr txBox="1"/>
          <p:nvPr/>
        </p:nvSpPr>
        <p:spPr>
          <a:xfrm>
            <a:off x="2468880" y="3685032"/>
            <a:ext cx="338328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Y.3093 data · Y.3094 model domain</a:t>
            </a:r>
            <a:endParaRPr lang="en-US" sz="950" dirty="0"/>
          </a:p>
        </p:txBody>
      </p:sp>
      <p:sp>
        <p:nvSpPr>
          <p:cNvPr id="42" name="Shape 37"/>
          <p:cNvSpPr/>
          <p:nvPr/>
        </p:nvSpPr>
        <p:spPr>
          <a:xfrm>
            <a:off x="6035040" y="3685032"/>
            <a:ext cx="2651760" cy="329184"/>
          </a:xfrm>
          <a:prstGeom prst="roundRect">
            <a:avLst>
              <a:gd name="adj" fmla="val 16667"/>
            </a:avLst>
          </a:prstGeom>
          <a:solidFill>
            <a:srgbClr val="FFFFFF"/>
          </a:solidFill>
          <a:ln w="12700">
            <a:solidFill>
              <a:srgbClr val="E8912D"/>
            </a:solidFill>
            <a:prstDash val="dash"/>
          </a:ln>
        </p:spPr>
      </p:sp>
      <p:sp>
        <p:nvSpPr>
          <p:cNvPr id="43" name="Text 38"/>
          <p:cNvSpPr txBox="1"/>
          <p:nvPr/>
        </p:nvSpPr>
        <p:spPr>
          <a:xfrm>
            <a:off x="6126480" y="3685032"/>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O-RAN nGRG digital-twin research</a:t>
            </a:r>
            <a:endParaRPr lang="en-US" sz="950" dirty="0"/>
          </a:p>
        </p:txBody>
      </p:sp>
      <p:sp>
        <p:nvSpPr>
          <p:cNvPr id="44" name="Shape 39"/>
          <p:cNvSpPr/>
          <p:nvPr/>
        </p:nvSpPr>
        <p:spPr>
          <a:xfrm>
            <a:off x="457200" y="4224528"/>
            <a:ext cx="8229600" cy="548640"/>
          </a:xfrm>
          <a:prstGeom prst="roundRect">
            <a:avLst>
              <a:gd name="adj" fmla="val 13333"/>
            </a:avLst>
          </a:prstGeom>
          <a:solidFill>
            <a:srgbClr val="0B1D33"/>
          </a:solidFill>
          <a:ln w="12700">
            <a:solidFill>
              <a:srgbClr val="0B1D33"/>
            </a:solidFill>
            <a:prstDash val="solid"/>
          </a:ln>
        </p:spPr>
      </p:sp>
      <p:sp>
        <p:nvSpPr>
          <p:cNvPr id="45" name="Text 40"/>
          <p:cNvSpPr txBox="1"/>
          <p:nvPr/>
        </p:nvSpPr>
        <p:spPr>
          <a:xfrm>
            <a:off x="640080" y="4224528"/>
            <a:ext cx="7955280" cy="548640"/>
          </a:xfrm>
          <a:prstGeom prst="rect">
            <a:avLst/>
          </a:prstGeom>
          <a:noFill/>
          <a:ln/>
        </p:spPr>
        <p:txBody>
          <a:bodyPr wrap="square" lIns="0" tIns="0" rIns="0" bIns="0" rtlCol="0" anchor="ctr"/>
          <a:lstStyle/>
          <a:p>
            <a:pPr indent="0" marL="0">
              <a:buNone/>
            </a:pPr>
            <a:r>
              <a:rPr lang="en-US" sz="1050" b="1" dirty="0">
                <a:solidFill>
                  <a:srgbClr val="8FA3B8"/>
                </a:solidFill>
                <a:latin typeface="Calibri" pitchFamily="34" charset="0"/>
                <a:ea typeface="Calibri" pitchFamily="34" charset="-122"/>
                <a:cs typeface="Calibri" pitchFamily="34" charset="-120"/>
              </a:rPr>
              <a:t>Frameworks: </a:t>
            </a:r>
            <a:pPr indent="0" marL="0">
              <a:buNone/>
            </a:pPr>
            <a:r>
              <a:rPr lang="en-US" sz="1050" dirty="0">
                <a:solidFill>
                  <a:srgbClr val="FFFFFF"/>
                </a:solidFill>
                <a:latin typeface="Calibri" pitchFamily="34" charset="0"/>
                <a:ea typeface="Calibri" pitchFamily="34" charset="-122"/>
                <a:cs typeface="Calibri" pitchFamily="34" charset="-120"/>
              </a:rPr>
              <a:t>ITU-T Y.3090  ·  ETSI GR ZSM 015  ·  IRTF NMRG twin architecture</a:t>
            </a:r>
            <a:pPr indent="0" marL="0">
              <a:buNone/>
            </a:pPr>
            <a:r>
              <a:rPr lang="en-US" sz="1050" b="1" dirty="0">
                <a:solidFill>
                  <a:srgbClr val="6FD3A4"/>
                </a:solidFill>
                <a:latin typeface="Calibri" pitchFamily="34" charset="0"/>
                <a:ea typeface="Calibri" pitchFamily="34" charset="-122"/>
                <a:cs typeface="Calibri" pitchFamily="34" charset="-120"/>
              </a:rPr>
              <a:t>      ★ = our recommended stack</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AI/ML IN THE LOOP</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Python AI/ML inside simulation runs</a:t>
            </a:r>
            <a:endParaRPr lang="en-US" sz="2400" dirty="0"/>
          </a:p>
        </p:txBody>
      </p:sp>
      <p:sp>
        <p:nvSpPr>
          <p:cNvPr id="4" name="Shape 2"/>
          <p:cNvSpPr/>
          <p:nvPr/>
        </p:nvSpPr>
        <p:spPr>
          <a:xfrm>
            <a:off x="457200" y="1234440"/>
            <a:ext cx="1920240" cy="777240"/>
          </a:xfrm>
          <a:prstGeom prst="roundRect">
            <a:avLst>
              <a:gd name="adj" fmla="val 9412"/>
            </a:avLst>
          </a:prstGeom>
          <a:solidFill>
            <a:srgbClr val="FFFFFF"/>
          </a:solidFill>
          <a:ln w="19050">
            <a:solidFill>
              <a:srgbClr val="E8912D"/>
            </a:solidFill>
            <a:prstDash val="solid"/>
          </a:ln>
        </p:spPr>
      </p:sp>
      <p:sp>
        <p:nvSpPr>
          <p:cNvPr id="5" name="Shape 3"/>
          <p:cNvSpPr/>
          <p:nvPr/>
        </p:nvSpPr>
        <p:spPr>
          <a:xfrm>
            <a:off x="566928" y="1399032"/>
            <a:ext cx="420624" cy="420624"/>
          </a:xfrm>
          <a:prstGeom prst="ellipse">
            <a:avLst/>
          </a:prstGeom>
          <a:solidFill>
            <a:srgbClr val="E8912D"/>
          </a:solidFill>
          <a:ln w="12700">
            <a:solidFill>
              <a:srgbClr val="E8912D"/>
            </a:solidFill>
            <a:prstDash val="solid"/>
          </a:ln>
        </p:spPr>
      </p:sp>
      <p:pic>
        <p:nvPicPr>
          <p:cNvPr id="6" name="Image 0" descr="preencoded.png">    </p:cNvPr>
          <p:cNvPicPr>
            <a:picLocks noChangeAspect="1"/>
          </p:cNvPicPr>
          <p:nvPr/>
        </p:nvPicPr>
        <p:blipFill>
          <a:blip r:embed="rId1"/>
          <a:stretch>
            <a:fillRect/>
          </a:stretch>
        </p:blipFill>
        <p:spPr>
          <a:xfrm>
            <a:off x="672084" y="1504188"/>
            <a:ext cx="210312" cy="210312"/>
          </a:xfrm>
          <a:prstGeom prst="rect">
            <a:avLst/>
          </a:prstGeom>
        </p:spPr>
      </p:pic>
      <p:sp>
        <p:nvSpPr>
          <p:cNvPr id="7" name="Text 4"/>
          <p:cNvSpPr txBox="1"/>
          <p:nvPr/>
        </p:nvSpPr>
        <p:spPr>
          <a:xfrm>
            <a:off x="1060704" y="1316736"/>
            <a:ext cx="1261872" cy="274320"/>
          </a:xfrm>
          <a:prstGeom prst="rect">
            <a:avLst/>
          </a:prstGeom>
          <a:noFill/>
          <a:ln/>
        </p:spPr>
        <p:txBody>
          <a:bodyPr wrap="square" lIns="0" tIns="0" rIns="0" bIns="0" rtlCol="0" anchor="t"/>
          <a:lstStyle/>
          <a:p>
            <a:pPr indent="0" marL="0">
              <a:buNone/>
            </a:pPr>
            <a:r>
              <a:rPr lang="en-US" sz="1100" b="1" dirty="0">
                <a:solidFill>
                  <a:srgbClr val="1A2B3C"/>
                </a:solidFill>
                <a:latin typeface="Arial" pitchFamily="34" charset="0"/>
                <a:ea typeface="Arial" pitchFamily="34" charset="-122"/>
                <a:cs typeface="Arial" pitchFamily="34" charset="-120"/>
              </a:rPr>
              <a:t>ns-3 run</a:t>
            </a:r>
            <a:endParaRPr lang="en-US" sz="1100" dirty="0"/>
          </a:p>
        </p:txBody>
      </p:sp>
      <p:sp>
        <p:nvSpPr>
          <p:cNvPr id="8" name="Text 5"/>
          <p:cNvSpPr txBox="1"/>
          <p:nvPr/>
        </p:nvSpPr>
        <p:spPr>
          <a:xfrm>
            <a:off x="1060704" y="1591056"/>
            <a:ext cx="1261872" cy="347472"/>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twin scenario, µs events</a:t>
            </a:r>
            <a:endParaRPr lang="en-US" sz="900" dirty="0"/>
          </a:p>
        </p:txBody>
      </p:sp>
      <p:sp>
        <p:nvSpPr>
          <p:cNvPr id="9" name="Shape 6"/>
          <p:cNvSpPr/>
          <p:nvPr/>
        </p:nvSpPr>
        <p:spPr>
          <a:xfrm>
            <a:off x="3611880" y="1234440"/>
            <a:ext cx="1920240" cy="777240"/>
          </a:xfrm>
          <a:prstGeom prst="roundRect">
            <a:avLst>
              <a:gd name="adj" fmla="val 9412"/>
            </a:avLst>
          </a:prstGeom>
          <a:solidFill>
            <a:srgbClr val="FFFFFF"/>
          </a:solidFill>
          <a:ln w="19050">
            <a:solidFill>
              <a:srgbClr val="7C5CFF"/>
            </a:solidFill>
            <a:prstDash val="solid"/>
          </a:ln>
        </p:spPr>
      </p:sp>
      <p:sp>
        <p:nvSpPr>
          <p:cNvPr id="10" name="Shape 7"/>
          <p:cNvSpPr/>
          <p:nvPr/>
        </p:nvSpPr>
        <p:spPr>
          <a:xfrm>
            <a:off x="3721608" y="1399032"/>
            <a:ext cx="420624" cy="420624"/>
          </a:xfrm>
          <a:prstGeom prst="ellipse">
            <a:avLst/>
          </a:prstGeom>
          <a:solidFill>
            <a:srgbClr val="7C5CFF"/>
          </a:solidFill>
          <a:ln w="12700">
            <a:solidFill>
              <a:srgbClr val="7C5CFF"/>
            </a:solidFill>
            <a:prstDash val="solid"/>
          </a:ln>
        </p:spPr>
      </p:sp>
      <p:pic>
        <p:nvPicPr>
          <p:cNvPr id="11" name="Image 1" descr="preencoded.png">    </p:cNvPr>
          <p:cNvPicPr>
            <a:picLocks noChangeAspect="1"/>
          </p:cNvPicPr>
          <p:nvPr/>
        </p:nvPicPr>
        <p:blipFill>
          <a:blip r:embed="rId2"/>
          <a:stretch>
            <a:fillRect/>
          </a:stretch>
        </p:blipFill>
        <p:spPr>
          <a:xfrm>
            <a:off x="3826764" y="1504188"/>
            <a:ext cx="210312" cy="210312"/>
          </a:xfrm>
          <a:prstGeom prst="rect">
            <a:avLst/>
          </a:prstGeom>
        </p:spPr>
      </p:pic>
      <p:sp>
        <p:nvSpPr>
          <p:cNvPr id="12" name="Text 8"/>
          <p:cNvSpPr txBox="1"/>
          <p:nvPr/>
        </p:nvSpPr>
        <p:spPr>
          <a:xfrm>
            <a:off x="4215384" y="1316736"/>
            <a:ext cx="1261872" cy="274320"/>
          </a:xfrm>
          <a:prstGeom prst="rect">
            <a:avLst/>
          </a:prstGeom>
          <a:noFill/>
          <a:ln/>
        </p:spPr>
        <p:txBody>
          <a:bodyPr wrap="square" lIns="0" tIns="0" rIns="0" bIns="0" rtlCol="0" anchor="t"/>
          <a:lstStyle/>
          <a:p>
            <a:pPr indent="0" marL="0">
              <a:buNone/>
            </a:pPr>
            <a:r>
              <a:rPr lang="en-US" sz="1100" b="1" dirty="0">
                <a:solidFill>
                  <a:srgbClr val="1A2B3C"/>
                </a:solidFill>
                <a:latin typeface="Arial" pitchFamily="34" charset="0"/>
                <a:ea typeface="Arial" pitchFamily="34" charset="-122"/>
                <a:cs typeface="Arial" pitchFamily="34" charset="-120"/>
              </a:rPr>
              <a:t>Python agent</a:t>
            </a:r>
            <a:endParaRPr lang="en-US" sz="1100" dirty="0"/>
          </a:p>
        </p:txBody>
      </p:sp>
      <p:sp>
        <p:nvSpPr>
          <p:cNvPr id="13" name="Text 9"/>
          <p:cNvSpPr txBox="1"/>
          <p:nvPr/>
        </p:nvSpPr>
        <p:spPr>
          <a:xfrm>
            <a:off x="4215384" y="1591056"/>
            <a:ext cx="1261872" cy="347472"/>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PyTorch / RL policy</a:t>
            </a:r>
            <a:endParaRPr lang="en-US" sz="900" dirty="0"/>
          </a:p>
        </p:txBody>
      </p:sp>
      <p:sp>
        <p:nvSpPr>
          <p:cNvPr id="14" name="Shape 10"/>
          <p:cNvSpPr/>
          <p:nvPr/>
        </p:nvSpPr>
        <p:spPr>
          <a:xfrm>
            <a:off x="6766560" y="1234440"/>
            <a:ext cx="1920240" cy="777240"/>
          </a:xfrm>
          <a:prstGeom prst="roundRect">
            <a:avLst>
              <a:gd name="adj" fmla="val 9412"/>
            </a:avLst>
          </a:prstGeom>
          <a:solidFill>
            <a:srgbClr val="FFFFFF"/>
          </a:solidFill>
          <a:ln w="19050">
            <a:solidFill>
              <a:srgbClr val="14304F"/>
            </a:solidFill>
            <a:prstDash val="solid"/>
          </a:ln>
        </p:spPr>
      </p:sp>
      <p:sp>
        <p:nvSpPr>
          <p:cNvPr id="15" name="Shape 11"/>
          <p:cNvSpPr/>
          <p:nvPr/>
        </p:nvSpPr>
        <p:spPr>
          <a:xfrm>
            <a:off x="6876288" y="1399032"/>
            <a:ext cx="420624" cy="420624"/>
          </a:xfrm>
          <a:prstGeom prst="ellipse">
            <a:avLst/>
          </a:prstGeom>
          <a:solidFill>
            <a:srgbClr val="14304F"/>
          </a:solidFill>
          <a:ln w="12700">
            <a:solidFill>
              <a:srgbClr val="14304F"/>
            </a:solidFill>
            <a:prstDash val="solid"/>
          </a:ln>
        </p:spPr>
      </p:sp>
      <p:pic>
        <p:nvPicPr>
          <p:cNvPr id="16" name="Image 2" descr="preencoded.png">    </p:cNvPr>
          <p:cNvPicPr>
            <a:picLocks noChangeAspect="1"/>
          </p:cNvPicPr>
          <p:nvPr/>
        </p:nvPicPr>
        <p:blipFill>
          <a:blip r:embed="rId3"/>
          <a:stretch>
            <a:fillRect/>
          </a:stretch>
        </p:blipFill>
        <p:spPr>
          <a:xfrm>
            <a:off x="6981444" y="1504188"/>
            <a:ext cx="210312" cy="210312"/>
          </a:xfrm>
          <a:prstGeom prst="rect">
            <a:avLst/>
          </a:prstGeom>
        </p:spPr>
      </p:pic>
      <p:sp>
        <p:nvSpPr>
          <p:cNvPr id="17" name="Text 12"/>
          <p:cNvSpPr txBox="1"/>
          <p:nvPr/>
        </p:nvSpPr>
        <p:spPr>
          <a:xfrm>
            <a:off x="7370064" y="1316736"/>
            <a:ext cx="1261872" cy="274320"/>
          </a:xfrm>
          <a:prstGeom prst="rect">
            <a:avLst/>
          </a:prstGeom>
          <a:noFill/>
          <a:ln/>
        </p:spPr>
        <p:txBody>
          <a:bodyPr wrap="square" lIns="0" tIns="0" rIns="0" bIns="0" rtlCol="0" anchor="t"/>
          <a:lstStyle/>
          <a:p>
            <a:pPr indent="0" marL="0">
              <a:buNone/>
            </a:pPr>
            <a:r>
              <a:rPr lang="en-US" sz="1100" b="1" dirty="0">
                <a:solidFill>
                  <a:srgbClr val="1A2B3C"/>
                </a:solidFill>
                <a:latin typeface="Arial" pitchFamily="34" charset="0"/>
                <a:ea typeface="Arial" pitchFamily="34" charset="-122"/>
                <a:cs typeface="Arial" pitchFamily="34" charset="-120"/>
              </a:rPr>
              <a:t>ML registry</a:t>
            </a:r>
            <a:endParaRPr lang="en-US" sz="1100" dirty="0"/>
          </a:p>
        </p:txBody>
      </p:sp>
      <p:sp>
        <p:nvSpPr>
          <p:cNvPr id="18" name="Text 13"/>
          <p:cNvSpPr txBox="1"/>
          <p:nvPr/>
        </p:nvSpPr>
        <p:spPr>
          <a:xfrm>
            <a:off x="7370064" y="1591056"/>
            <a:ext cx="1261872" cy="347472"/>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versioned models, results</a:t>
            </a:r>
            <a:endParaRPr lang="en-US" sz="900" dirty="0"/>
          </a:p>
        </p:txBody>
      </p:sp>
      <p:sp>
        <p:nvSpPr>
          <p:cNvPr id="19" name="Shape 14"/>
          <p:cNvSpPr/>
          <p:nvPr/>
        </p:nvSpPr>
        <p:spPr>
          <a:xfrm>
            <a:off x="2423160" y="1627632"/>
            <a:ext cx="1143000" cy="0"/>
          </a:xfrm>
          <a:prstGeom prst="line">
            <a:avLst/>
          </a:prstGeom>
          <a:noFill/>
          <a:ln w="22225">
            <a:solidFill>
              <a:srgbClr val="0B1D33"/>
            </a:solidFill>
            <a:prstDash val="solid"/>
            <a:headEnd type="triangle"/>
            <a:tailEnd type="triangle"/>
          </a:ln>
        </p:spPr>
      </p:sp>
      <p:sp>
        <p:nvSpPr>
          <p:cNvPr id="20" name="Text 15"/>
          <p:cNvSpPr txBox="1"/>
          <p:nvPr/>
        </p:nvSpPr>
        <p:spPr>
          <a:xfrm>
            <a:off x="2377440" y="1316736"/>
            <a:ext cx="1234440" cy="274320"/>
          </a:xfrm>
          <a:prstGeom prst="rect">
            <a:avLst/>
          </a:prstGeom>
          <a:noFill/>
          <a:ln/>
        </p:spPr>
        <p:txBody>
          <a:bodyPr wrap="square" lIns="0" tIns="0" rIns="0" bIns="0" rtlCol="0" anchor="t"/>
          <a:lstStyle/>
          <a:p>
            <a:pPr algn="ctr" indent="0" marL="0">
              <a:buNone/>
            </a:pPr>
            <a:r>
              <a:rPr lang="en-US" sz="850" b="1" dirty="0">
                <a:solidFill>
                  <a:srgbClr val="0B1D33"/>
                </a:solidFill>
                <a:latin typeface="Calibri" pitchFamily="34" charset="0"/>
                <a:ea typeface="Calibri" pitchFamily="34" charset="-122"/>
                <a:cs typeface="Calibri" pitchFamily="34" charset="-120"/>
              </a:rPr>
              <a:t>obs · reward ⇄ action</a:t>
            </a:r>
            <a:endParaRPr lang="en-US" sz="850" dirty="0"/>
          </a:p>
        </p:txBody>
      </p:sp>
      <p:sp>
        <p:nvSpPr>
          <p:cNvPr id="21" name="Shape 16"/>
          <p:cNvSpPr/>
          <p:nvPr/>
        </p:nvSpPr>
        <p:spPr>
          <a:xfrm>
            <a:off x="5577840" y="1627632"/>
            <a:ext cx="1143000" cy="0"/>
          </a:xfrm>
          <a:prstGeom prst="line">
            <a:avLst/>
          </a:prstGeom>
          <a:noFill/>
          <a:ln w="22225">
            <a:solidFill>
              <a:srgbClr val="0B1D33"/>
            </a:solidFill>
            <a:prstDash val="solid"/>
            <a:headEnd type="triangle"/>
            <a:tailEnd type="triangle"/>
          </a:ln>
        </p:spPr>
      </p:sp>
      <p:sp>
        <p:nvSpPr>
          <p:cNvPr id="22" name="Text 17"/>
          <p:cNvSpPr txBox="1"/>
          <p:nvPr/>
        </p:nvSpPr>
        <p:spPr>
          <a:xfrm>
            <a:off x="5532120" y="1316736"/>
            <a:ext cx="1234440" cy="274320"/>
          </a:xfrm>
          <a:prstGeom prst="rect">
            <a:avLst/>
          </a:prstGeom>
          <a:noFill/>
          <a:ln/>
        </p:spPr>
        <p:txBody>
          <a:bodyPr wrap="square" lIns="0" tIns="0" rIns="0" bIns="0" rtlCol="0" anchor="t"/>
          <a:lstStyle/>
          <a:p>
            <a:pPr algn="ctr" indent="0" marL="0">
              <a:buNone/>
            </a:pPr>
            <a:r>
              <a:rPr lang="en-US" sz="850" b="1" dirty="0">
                <a:solidFill>
                  <a:srgbClr val="0B1D33"/>
                </a:solidFill>
                <a:latin typeface="Calibri" pitchFamily="34" charset="0"/>
                <a:ea typeface="Calibri" pitchFamily="34" charset="-122"/>
                <a:cs typeface="Calibri" pitchFamily="34" charset="-120"/>
              </a:rPr>
              <a:t>ONNX · metrics</a:t>
            </a:r>
            <a:endParaRPr lang="en-US" sz="850" dirty="0"/>
          </a:p>
        </p:txBody>
      </p:sp>
      <p:sp>
        <p:nvSpPr>
          <p:cNvPr id="23" name="Shape 18"/>
          <p:cNvSpPr/>
          <p:nvPr/>
        </p:nvSpPr>
        <p:spPr>
          <a:xfrm>
            <a:off x="457200" y="2286000"/>
            <a:ext cx="2651760" cy="2487168"/>
          </a:xfrm>
          <a:prstGeom prst="roundRect">
            <a:avLst>
              <a:gd name="adj" fmla="val 2941"/>
            </a:avLst>
          </a:prstGeom>
          <a:solidFill>
            <a:srgbClr val="F2F5F8"/>
          </a:solidFill>
          <a:ln w="12700">
            <a:solidFill>
              <a:srgbClr val="F2F5F8"/>
            </a:solidFill>
            <a:prstDash val="solid"/>
          </a:ln>
        </p:spPr>
      </p:sp>
      <p:sp>
        <p:nvSpPr>
          <p:cNvPr id="24" name="Text 19"/>
          <p:cNvSpPr txBox="1"/>
          <p:nvPr/>
        </p:nvSpPr>
        <p:spPr>
          <a:xfrm>
            <a:off x="621792" y="2432304"/>
            <a:ext cx="2377440" cy="182880"/>
          </a:xfrm>
          <a:prstGeom prst="rect">
            <a:avLst/>
          </a:prstGeom>
          <a:noFill/>
          <a:ln/>
        </p:spPr>
        <p:txBody>
          <a:bodyPr wrap="square" lIns="0" tIns="0" rIns="0" bIns="0" rtlCol="0" anchor="t"/>
          <a:lstStyle/>
          <a:p>
            <a:pPr indent="0" marL="0">
              <a:buNone/>
            </a:pPr>
            <a:r>
              <a:rPr lang="en-US" sz="900" b="1" spc="100" kern="0" dirty="0">
                <a:solidFill>
                  <a:srgbClr val="E8912D"/>
                </a:solidFill>
                <a:latin typeface="Calibri" pitchFamily="34" charset="0"/>
                <a:ea typeface="Calibri" pitchFamily="34" charset="-122"/>
                <a:cs typeface="Calibri" pitchFamily="34" charset="-120"/>
              </a:rPr>
              <a:t>1  COUPLE IN-RUN</a:t>
            </a:r>
            <a:endParaRPr lang="en-US" sz="900" dirty="0"/>
          </a:p>
        </p:txBody>
      </p:sp>
      <p:sp>
        <p:nvSpPr>
          <p:cNvPr id="25" name="Text 20"/>
          <p:cNvSpPr txBox="1"/>
          <p:nvPr/>
        </p:nvSpPr>
        <p:spPr>
          <a:xfrm>
            <a:off x="621792" y="2651760"/>
            <a:ext cx="237744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Step the agent in-run</a:t>
            </a:r>
            <a:endParaRPr lang="en-US" sz="1150" dirty="0"/>
          </a:p>
        </p:txBody>
      </p:sp>
      <p:sp>
        <p:nvSpPr>
          <p:cNvPr id="26" name="Shape 21"/>
          <p:cNvSpPr/>
          <p:nvPr/>
        </p:nvSpPr>
        <p:spPr>
          <a:xfrm>
            <a:off x="594360" y="3063240"/>
            <a:ext cx="2377440" cy="475488"/>
          </a:xfrm>
          <a:prstGeom prst="roundRect">
            <a:avLst>
              <a:gd name="adj" fmla="val 11538"/>
            </a:avLst>
          </a:prstGeom>
          <a:solidFill>
            <a:srgbClr val="DDF3E8"/>
          </a:solidFill>
          <a:ln w="12700">
            <a:solidFill>
              <a:srgbClr val="DDF3E8"/>
            </a:solidFill>
            <a:prstDash val="solid"/>
          </a:ln>
        </p:spPr>
      </p:sp>
      <p:sp>
        <p:nvSpPr>
          <p:cNvPr id="27" name="Text 22"/>
          <p:cNvSpPr txBox="1"/>
          <p:nvPr/>
        </p:nvSpPr>
        <p:spPr>
          <a:xfrm>
            <a:off x="685800" y="3063240"/>
            <a:ext cx="2240280" cy="475488"/>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ns3-ai shared memory (≈100× faster IPC)</a:t>
            </a:r>
            <a:endParaRPr lang="en-US" sz="950" dirty="0"/>
          </a:p>
        </p:txBody>
      </p:sp>
      <p:sp>
        <p:nvSpPr>
          <p:cNvPr id="28" name="Shape 23"/>
          <p:cNvSpPr/>
          <p:nvPr/>
        </p:nvSpPr>
        <p:spPr>
          <a:xfrm>
            <a:off x="594360" y="3630168"/>
            <a:ext cx="2377440" cy="475488"/>
          </a:xfrm>
          <a:prstGeom prst="roundRect">
            <a:avLst>
              <a:gd name="adj" fmla="val 11538"/>
            </a:avLst>
          </a:prstGeom>
          <a:solidFill>
            <a:srgbClr val="FFFFFF"/>
          </a:solidFill>
          <a:ln w="12700">
            <a:solidFill>
              <a:srgbClr val="FFFFFF"/>
            </a:solidFill>
            <a:prstDash val="solid"/>
          </a:ln>
        </p:spPr>
      </p:sp>
      <p:sp>
        <p:nvSpPr>
          <p:cNvPr id="29" name="Text 24"/>
          <p:cNvSpPr txBox="1"/>
          <p:nvPr/>
        </p:nvSpPr>
        <p:spPr>
          <a:xfrm>
            <a:off x="685800" y="3630168"/>
            <a:ext cx="2240280" cy="475488"/>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Gymnasium env API · ns3-gym (ZMQ)</a:t>
            </a:r>
            <a:endParaRPr lang="en-US" sz="950" dirty="0"/>
          </a:p>
        </p:txBody>
      </p:sp>
      <p:sp>
        <p:nvSpPr>
          <p:cNvPr id="30" name="Text 25"/>
          <p:cNvSpPr txBox="1"/>
          <p:nvPr/>
        </p:nvSpPr>
        <p:spPr>
          <a:xfrm>
            <a:off x="621792" y="4297680"/>
            <a:ext cx="2377440" cy="320040"/>
          </a:xfrm>
          <a:prstGeom prst="rect">
            <a:avLst/>
          </a:prstGeom>
          <a:noFill/>
          <a:ln/>
        </p:spPr>
        <p:txBody>
          <a:bodyPr wrap="square" lIns="0" tIns="0" rIns="0" bIns="0" rtlCol="0" anchor="ctr"/>
          <a:lstStyle/>
          <a:p>
            <a:pPr indent="0" marL="0">
              <a:buNone/>
            </a:pPr>
            <a:r>
              <a:rPr lang="en-US" sz="900" i="1" dirty="0">
                <a:solidFill>
                  <a:srgbClr val="5A6B7D"/>
                </a:solidFill>
                <a:latin typeface="Calibri" pitchFamily="34" charset="0"/>
                <a:ea typeface="Calibri" pitchFamily="34" charset="-122"/>
                <a:cs typeface="Calibri" pitchFamily="34" charset="-120"/>
              </a:rPr>
              <a:t>Open-source, de facto: no SDO standard</a:t>
            </a:r>
            <a:endParaRPr lang="en-US" sz="900" dirty="0"/>
          </a:p>
        </p:txBody>
      </p:sp>
      <p:sp>
        <p:nvSpPr>
          <p:cNvPr id="31" name="Shape 26"/>
          <p:cNvSpPr/>
          <p:nvPr/>
        </p:nvSpPr>
        <p:spPr>
          <a:xfrm>
            <a:off x="3246120" y="2286000"/>
            <a:ext cx="2651760" cy="2487168"/>
          </a:xfrm>
          <a:prstGeom prst="roundRect">
            <a:avLst>
              <a:gd name="adj" fmla="val 2941"/>
            </a:avLst>
          </a:prstGeom>
          <a:solidFill>
            <a:srgbClr val="F2F5F8"/>
          </a:solidFill>
          <a:ln w="12700">
            <a:solidFill>
              <a:srgbClr val="F2F5F8"/>
            </a:solidFill>
            <a:prstDash val="solid"/>
          </a:ln>
        </p:spPr>
      </p:sp>
      <p:sp>
        <p:nvSpPr>
          <p:cNvPr id="32" name="Text 27"/>
          <p:cNvSpPr txBox="1"/>
          <p:nvPr/>
        </p:nvSpPr>
        <p:spPr>
          <a:xfrm>
            <a:off x="3410712" y="2432304"/>
            <a:ext cx="2377440" cy="182880"/>
          </a:xfrm>
          <a:prstGeom prst="rect">
            <a:avLst/>
          </a:prstGeom>
          <a:noFill/>
          <a:ln/>
        </p:spPr>
        <p:txBody>
          <a:bodyPr wrap="square" lIns="0" tIns="0" rIns="0" bIns="0" rtlCol="0" anchor="t"/>
          <a:lstStyle/>
          <a:p>
            <a:pPr indent="0" marL="0">
              <a:buNone/>
            </a:pPr>
            <a:r>
              <a:rPr lang="en-US" sz="900" b="1" spc="100" kern="0" dirty="0">
                <a:solidFill>
                  <a:srgbClr val="7C5CFF"/>
                </a:solidFill>
                <a:latin typeface="Calibri" pitchFamily="34" charset="0"/>
                <a:ea typeface="Calibri" pitchFamily="34" charset="-122"/>
                <a:cs typeface="Calibri" pitchFamily="34" charset="-120"/>
              </a:rPr>
              <a:t>2  PACKAGE &amp; SERVE</a:t>
            </a:r>
            <a:endParaRPr lang="en-US" sz="900" dirty="0"/>
          </a:p>
        </p:txBody>
      </p:sp>
      <p:sp>
        <p:nvSpPr>
          <p:cNvPr id="33" name="Text 28"/>
          <p:cNvSpPr txBox="1"/>
          <p:nvPr/>
        </p:nvSpPr>
        <p:spPr>
          <a:xfrm>
            <a:off x="3410712" y="2651760"/>
            <a:ext cx="237744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Same model in twin and network</a:t>
            </a:r>
            <a:endParaRPr lang="en-US" sz="1150" dirty="0"/>
          </a:p>
        </p:txBody>
      </p:sp>
      <p:sp>
        <p:nvSpPr>
          <p:cNvPr id="34" name="Shape 29"/>
          <p:cNvSpPr/>
          <p:nvPr/>
        </p:nvSpPr>
        <p:spPr>
          <a:xfrm>
            <a:off x="3383280" y="3063240"/>
            <a:ext cx="2377440" cy="475488"/>
          </a:xfrm>
          <a:prstGeom prst="roundRect">
            <a:avLst>
              <a:gd name="adj" fmla="val 11538"/>
            </a:avLst>
          </a:prstGeom>
          <a:solidFill>
            <a:srgbClr val="DDF3E8"/>
          </a:solidFill>
          <a:ln w="12700">
            <a:solidFill>
              <a:srgbClr val="DDF3E8"/>
            </a:solidFill>
            <a:prstDash val="solid"/>
          </a:ln>
        </p:spPr>
      </p:sp>
      <p:sp>
        <p:nvSpPr>
          <p:cNvPr id="35" name="Text 30"/>
          <p:cNvSpPr txBox="1"/>
          <p:nvPr/>
        </p:nvSpPr>
        <p:spPr>
          <a:xfrm>
            <a:off x="3474720" y="3063240"/>
            <a:ext cx="2240280" cy="475488"/>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ONNX model format</a:t>
            </a:r>
            <a:endParaRPr lang="en-US" sz="950" dirty="0"/>
          </a:p>
        </p:txBody>
      </p:sp>
      <p:sp>
        <p:nvSpPr>
          <p:cNvPr id="36" name="Shape 31"/>
          <p:cNvSpPr/>
          <p:nvPr/>
        </p:nvSpPr>
        <p:spPr>
          <a:xfrm>
            <a:off x="3383280" y="3630168"/>
            <a:ext cx="2377440" cy="475488"/>
          </a:xfrm>
          <a:prstGeom prst="roundRect">
            <a:avLst>
              <a:gd name="adj" fmla="val 11538"/>
            </a:avLst>
          </a:prstGeom>
          <a:solidFill>
            <a:srgbClr val="FFFFFF"/>
          </a:solidFill>
          <a:ln w="12700">
            <a:solidFill>
              <a:srgbClr val="FFFFFF"/>
            </a:solidFill>
            <a:prstDash val="solid"/>
          </a:ln>
        </p:spPr>
      </p:sp>
      <p:sp>
        <p:nvSpPr>
          <p:cNvPr id="37" name="Text 32"/>
          <p:cNvSpPr txBox="1"/>
          <p:nvPr/>
        </p:nvSpPr>
        <p:spPr>
          <a:xfrm>
            <a:off x="3474720" y="3630168"/>
            <a:ext cx="2240280" cy="475488"/>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Open Inference Protocol (REST / gRPC)</a:t>
            </a:r>
            <a:endParaRPr lang="en-US" sz="950" dirty="0"/>
          </a:p>
        </p:txBody>
      </p:sp>
      <p:sp>
        <p:nvSpPr>
          <p:cNvPr id="38" name="Text 33"/>
          <p:cNvSpPr txBox="1"/>
          <p:nvPr/>
        </p:nvSpPr>
        <p:spPr>
          <a:xfrm>
            <a:off x="3410712" y="4297680"/>
            <a:ext cx="2377440" cy="320040"/>
          </a:xfrm>
          <a:prstGeom prst="rect">
            <a:avLst/>
          </a:prstGeom>
          <a:noFill/>
          <a:ln/>
        </p:spPr>
        <p:txBody>
          <a:bodyPr wrap="square" lIns="0" tIns="0" rIns="0" bIns="0" rtlCol="0" anchor="ctr"/>
          <a:lstStyle/>
          <a:p>
            <a:pPr indent="0" marL="0">
              <a:buNone/>
            </a:pPr>
            <a:r>
              <a:rPr lang="en-US" sz="900" i="1" dirty="0">
                <a:solidFill>
                  <a:srgbClr val="5A6B7D"/>
                </a:solidFill>
                <a:latin typeface="Calibri" pitchFamily="34" charset="0"/>
                <a:ea typeface="Calibri" pitchFamily="34" charset="-122"/>
                <a:cs typeface="Calibri" pitchFamily="34" charset="-120"/>
              </a:rPr>
              <a:t>Industry open formats</a:t>
            </a:r>
            <a:endParaRPr lang="en-US" sz="900" dirty="0"/>
          </a:p>
        </p:txBody>
      </p:sp>
      <p:sp>
        <p:nvSpPr>
          <p:cNvPr id="39" name="Shape 34"/>
          <p:cNvSpPr/>
          <p:nvPr/>
        </p:nvSpPr>
        <p:spPr>
          <a:xfrm>
            <a:off x="6035040" y="2286000"/>
            <a:ext cx="2651760" cy="2487168"/>
          </a:xfrm>
          <a:prstGeom prst="roundRect">
            <a:avLst>
              <a:gd name="adj" fmla="val 2941"/>
            </a:avLst>
          </a:prstGeom>
          <a:solidFill>
            <a:srgbClr val="F2F5F8"/>
          </a:solidFill>
          <a:ln w="12700">
            <a:solidFill>
              <a:srgbClr val="F2F5F8"/>
            </a:solidFill>
            <a:prstDash val="solid"/>
          </a:ln>
        </p:spPr>
      </p:sp>
      <p:sp>
        <p:nvSpPr>
          <p:cNvPr id="40" name="Text 35"/>
          <p:cNvSpPr txBox="1"/>
          <p:nvPr/>
        </p:nvSpPr>
        <p:spPr>
          <a:xfrm>
            <a:off x="6199632" y="2432304"/>
            <a:ext cx="2377440" cy="182880"/>
          </a:xfrm>
          <a:prstGeom prst="rect">
            <a:avLst/>
          </a:prstGeom>
          <a:noFill/>
          <a:ln/>
        </p:spPr>
        <p:txBody>
          <a:bodyPr wrap="square" lIns="0" tIns="0" rIns="0" bIns="0" rtlCol="0" anchor="t"/>
          <a:lstStyle/>
          <a:p>
            <a:pPr indent="0" marL="0">
              <a:buNone/>
            </a:pPr>
            <a:r>
              <a:rPr lang="en-US" sz="900" b="1" spc="100" kern="0" dirty="0">
                <a:solidFill>
                  <a:srgbClr val="14304F"/>
                </a:solidFill>
                <a:latin typeface="Calibri" pitchFamily="34" charset="0"/>
                <a:ea typeface="Calibri" pitchFamily="34" charset="-122"/>
                <a:cs typeface="Calibri" pitchFamily="34" charset="-120"/>
              </a:rPr>
              <a:t>3  GOVERN THE LIFECYCLE</a:t>
            </a:r>
            <a:endParaRPr lang="en-US" sz="900" dirty="0"/>
          </a:p>
        </p:txBody>
      </p:sp>
      <p:sp>
        <p:nvSpPr>
          <p:cNvPr id="41" name="Text 36"/>
          <p:cNvSpPr txBox="1"/>
          <p:nvPr/>
        </p:nvSpPr>
        <p:spPr>
          <a:xfrm>
            <a:off x="6199632" y="2651760"/>
            <a:ext cx="237744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Train → test → emulate → deploy</a:t>
            </a:r>
            <a:endParaRPr lang="en-US" sz="1150" dirty="0"/>
          </a:p>
        </p:txBody>
      </p:sp>
      <p:sp>
        <p:nvSpPr>
          <p:cNvPr id="42" name="Shape 37"/>
          <p:cNvSpPr/>
          <p:nvPr/>
        </p:nvSpPr>
        <p:spPr>
          <a:xfrm>
            <a:off x="6172200" y="3063240"/>
            <a:ext cx="2377440" cy="475488"/>
          </a:xfrm>
          <a:prstGeom prst="roundRect">
            <a:avLst>
              <a:gd name="adj" fmla="val 11538"/>
            </a:avLst>
          </a:prstGeom>
          <a:solidFill>
            <a:srgbClr val="DDF3E8"/>
          </a:solidFill>
          <a:ln w="12700">
            <a:solidFill>
              <a:srgbClr val="DDF3E8"/>
            </a:solidFill>
            <a:prstDash val="solid"/>
          </a:ln>
        </p:spPr>
      </p:sp>
      <p:sp>
        <p:nvSpPr>
          <p:cNvPr id="43" name="Text 38"/>
          <p:cNvSpPr txBox="1"/>
          <p:nvPr/>
        </p:nvSpPr>
        <p:spPr>
          <a:xfrm>
            <a:off x="6263640" y="3063240"/>
            <a:ext cx="2240280" cy="475488"/>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3GPP TS 28.105 AI/ML mgmt · inference emulation</a:t>
            </a:r>
            <a:endParaRPr lang="en-US" sz="950" dirty="0"/>
          </a:p>
        </p:txBody>
      </p:sp>
      <p:sp>
        <p:nvSpPr>
          <p:cNvPr id="44" name="Shape 39"/>
          <p:cNvSpPr/>
          <p:nvPr/>
        </p:nvSpPr>
        <p:spPr>
          <a:xfrm>
            <a:off x="6172200" y="3630168"/>
            <a:ext cx="2377440" cy="475488"/>
          </a:xfrm>
          <a:prstGeom prst="roundRect">
            <a:avLst>
              <a:gd name="adj" fmla="val 11538"/>
            </a:avLst>
          </a:prstGeom>
          <a:solidFill>
            <a:srgbClr val="FFFFFF"/>
          </a:solidFill>
          <a:ln w="12700">
            <a:solidFill>
              <a:srgbClr val="FFFFFF"/>
            </a:solidFill>
            <a:prstDash val="solid"/>
          </a:ln>
        </p:spPr>
      </p:sp>
      <p:sp>
        <p:nvSpPr>
          <p:cNvPr id="45" name="Text 40"/>
          <p:cNvSpPr txBox="1"/>
          <p:nvPr/>
        </p:nvSpPr>
        <p:spPr>
          <a:xfrm>
            <a:off x="6263640" y="3630168"/>
            <a:ext cx="2240280" cy="475488"/>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Y.3181 ML sandbox · Y.3172 ML pipeline</a:t>
            </a:r>
            <a:endParaRPr lang="en-US" sz="950" dirty="0"/>
          </a:p>
        </p:txBody>
      </p:sp>
      <p:sp>
        <p:nvSpPr>
          <p:cNvPr id="46" name="Text 41"/>
          <p:cNvSpPr txBox="1"/>
          <p:nvPr/>
        </p:nvSpPr>
        <p:spPr>
          <a:xfrm>
            <a:off x="6199632" y="4297680"/>
            <a:ext cx="2377440" cy="320040"/>
          </a:xfrm>
          <a:prstGeom prst="rect">
            <a:avLst/>
          </a:prstGeom>
          <a:noFill/>
          <a:ln/>
        </p:spPr>
        <p:txBody>
          <a:bodyPr wrap="square" lIns="0" tIns="0" rIns="0" bIns="0" rtlCol="0" anchor="ctr"/>
          <a:lstStyle/>
          <a:p>
            <a:pPr indent="0" marL="0">
              <a:buNone/>
            </a:pPr>
            <a:r>
              <a:rPr lang="en-US" sz="900" i="1" dirty="0">
                <a:solidFill>
                  <a:srgbClr val="5A6B7D"/>
                </a:solidFill>
                <a:latin typeface="Calibri" pitchFamily="34" charset="0"/>
                <a:ea typeface="Calibri" pitchFamily="34" charset="-122"/>
                <a:cs typeface="Calibri" pitchFamily="34" charset="-120"/>
              </a:rPr>
              <a:t>Next: Rel-20 NDT ↔ ML collaboration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STANDARDS EXPLAINED · 1 OF 2</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The standards that control the link</a:t>
            </a:r>
            <a:endParaRPr lang="en-US" sz="2400" dirty="0"/>
          </a:p>
        </p:txBody>
      </p:sp>
      <p:sp>
        <p:nvSpPr>
          <p:cNvPr id="4" name="Shape 2"/>
          <p:cNvSpPr/>
          <p:nvPr/>
        </p:nvSpPr>
        <p:spPr>
          <a:xfrm>
            <a:off x="457200" y="1188720"/>
            <a:ext cx="2651760" cy="3657600"/>
          </a:xfrm>
          <a:prstGeom prst="roundRect">
            <a:avLst>
              <a:gd name="adj" fmla="val 2759"/>
            </a:avLst>
          </a:prstGeom>
          <a:solidFill>
            <a:srgbClr val="F2F5F8"/>
          </a:solidFill>
          <a:ln w="12700">
            <a:solidFill>
              <a:srgbClr val="F2F5F8"/>
            </a:solidFill>
            <a:prstDash val="solid"/>
          </a:ln>
        </p:spPr>
      </p:sp>
      <p:sp>
        <p:nvSpPr>
          <p:cNvPr id="5" name="Shape 3"/>
          <p:cNvSpPr/>
          <p:nvPr/>
        </p:nvSpPr>
        <p:spPr>
          <a:xfrm>
            <a:off x="594360" y="1316736"/>
            <a:ext cx="384048" cy="384048"/>
          </a:xfrm>
          <a:prstGeom prst="ellipse">
            <a:avLst/>
          </a:prstGeom>
          <a:solidFill>
            <a:srgbClr val="0FA3B1"/>
          </a:solidFill>
          <a:ln w="12700">
            <a:solidFill>
              <a:srgbClr val="0FA3B1"/>
            </a:solidFill>
            <a:prstDash val="solid"/>
          </a:ln>
        </p:spPr>
      </p:sp>
      <p:pic>
        <p:nvPicPr>
          <p:cNvPr id="6" name="Image 0" descr="preencoded.png">    </p:cNvPr>
          <p:cNvPicPr>
            <a:picLocks noChangeAspect="1"/>
          </p:cNvPicPr>
          <p:nvPr/>
        </p:nvPicPr>
        <p:blipFill>
          <a:blip r:embed="rId1"/>
          <a:stretch>
            <a:fillRect/>
          </a:stretch>
        </p:blipFill>
        <p:spPr>
          <a:xfrm>
            <a:off x="690372" y="1412748"/>
            <a:ext cx="192024" cy="192024"/>
          </a:xfrm>
          <a:prstGeom prst="rect">
            <a:avLst/>
          </a:prstGeom>
        </p:spPr>
      </p:pic>
      <p:sp>
        <p:nvSpPr>
          <p:cNvPr id="7" name="Text 4"/>
          <p:cNvSpPr txBox="1"/>
          <p:nvPr/>
        </p:nvSpPr>
        <p:spPr>
          <a:xfrm>
            <a:off x="1060704" y="1298448"/>
            <a:ext cx="1965960" cy="22860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3GPP TS 28.561</a:t>
            </a:r>
            <a:endParaRPr lang="en-US" sz="1150" dirty="0"/>
          </a:p>
        </p:txBody>
      </p:sp>
      <p:sp>
        <p:nvSpPr>
          <p:cNvPr id="8" name="Text 5"/>
          <p:cNvSpPr txBox="1"/>
          <p:nvPr/>
        </p:nvSpPr>
        <p:spPr>
          <a:xfrm>
            <a:off x="1060704" y="1527048"/>
            <a:ext cx="1965960" cy="182880"/>
          </a:xfrm>
          <a:prstGeom prst="rect">
            <a:avLst/>
          </a:prstGeom>
          <a:noFill/>
          <a:ln/>
        </p:spPr>
        <p:txBody>
          <a:bodyPr wrap="square" lIns="0" tIns="0" rIns="0" bIns="0" rtlCol="0" anchor="t"/>
          <a:lstStyle/>
          <a:p>
            <a:pPr indent="0" marL="0">
              <a:buNone/>
            </a:pPr>
            <a:r>
              <a:rPr lang="en-US" sz="850" dirty="0">
                <a:solidFill>
                  <a:srgbClr val="5A6B7D"/>
                </a:solidFill>
                <a:latin typeface="Calibri" pitchFamily="34" charset="0"/>
                <a:ea typeface="Calibri" pitchFamily="34" charset="-122"/>
                <a:cs typeface="Calibri" pitchFamily="34" charset="-120"/>
              </a:rPr>
              <a:t>Network digital twin management</a:t>
            </a:r>
            <a:endParaRPr lang="en-US" sz="850" dirty="0"/>
          </a:p>
        </p:txBody>
      </p:sp>
      <p:sp>
        <p:nvSpPr>
          <p:cNvPr id="9" name="Shape 6"/>
          <p:cNvSpPr/>
          <p:nvPr/>
        </p:nvSpPr>
        <p:spPr>
          <a:xfrm>
            <a:off x="566928" y="1792224"/>
            <a:ext cx="2432304" cy="777240"/>
          </a:xfrm>
          <a:prstGeom prst="roundRect">
            <a:avLst>
              <a:gd name="adj" fmla="val 7059"/>
            </a:avLst>
          </a:prstGeom>
          <a:solidFill>
            <a:srgbClr val="FFFFFF"/>
          </a:solidFill>
          <a:ln w="12700">
            <a:solidFill>
              <a:srgbClr val="FFFFFF"/>
            </a:solidFill>
            <a:prstDash val="solid"/>
          </a:ln>
        </p:spPr>
      </p:sp>
      <p:sp>
        <p:nvSpPr>
          <p:cNvPr id="10" name="Shape 7"/>
          <p:cNvSpPr/>
          <p:nvPr/>
        </p:nvSpPr>
        <p:spPr>
          <a:xfrm>
            <a:off x="731520" y="1965960"/>
            <a:ext cx="640080" cy="411480"/>
          </a:xfrm>
          <a:prstGeom prst="roundRect">
            <a:avLst>
              <a:gd name="adj" fmla="val 11111"/>
            </a:avLst>
          </a:prstGeom>
          <a:solidFill>
            <a:srgbClr val="FFFFFF"/>
          </a:solidFill>
          <a:ln w="15875">
            <a:solidFill>
              <a:srgbClr val="0FA3B1"/>
            </a:solidFill>
            <a:prstDash val="solid"/>
          </a:ln>
        </p:spPr>
      </p:sp>
      <p:sp>
        <p:nvSpPr>
          <p:cNvPr id="11" name="Text 8"/>
          <p:cNvSpPr txBox="1"/>
          <p:nvPr/>
        </p:nvSpPr>
        <p:spPr>
          <a:xfrm>
            <a:off x="731520" y="1965960"/>
            <a:ext cx="640080" cy="41148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TFS</a:t>
            </a:r>
            <a:endParaRPr lang="en-US" sz="850" dirty="0"/>
          </a:p>
        </p:txBody>
      </p:sp>
      <p:sp>
        <p:nvSpPr>
          <p:cNvPr id="12" name="Shape 9"/>
          <p:cNvSpPr/>
          <p:nvPr/>
        </p:nvSpPr>
        <p:spPr>
          <a:xfrm>
            <a:off x="2194560" y="1965960"/>
            <a:ext cx="640080" cy="411480"/>
          </a:xfrm>
          <a:prstGeom prst="roundRect">
            <a:avLst>
              <a:gd name="adj" fmla="val 11111"/>
            </a:avLst>
          </a:prstGeom>
          <a:solidFill>
            <a:srgbClr val="FFFFFF"/>
          </a:solidFill>
          <a:ln w="15875">
            <a:solidFill>
              <a:srgbClr val="E8912D"/>
            </a:solidFill>
            <a:prstDash val="solid"/>
          </a:ln>
        </p:spPr>
      </p:sp>
      <p:sp>
        <p:nvSpPr>
          <p:cNvPr id="13" name="Text 10"/>
          <p:cNvSpPr txBox="1"/>
          <p:nvPr/>
        </p:nvSpPr>
        <p:spPr>
          <a:xfrm>
            <a:off x="2194560" y="1965960"/>
            <a:ext cx="640080" cy="41148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ns-3</a:t>
            </a:r>
            <a:endParaRPr lang="en-US" sz="850" dirty="0"/>
          </a:p>
        </p:txBody>
      </p:sp>
      <p:sp>
        <p:nvSpPr>
          <p:cNvPr id="14" name="Shape 11"/>
          <p:cNvSpPr/>
          <p:nvPr/>
        </p:nvSpPr>
        <p:spPr>
          <a:xfrm>
            <a:off x="1417320" y="2084832"/>
            <a:ext cx="731520" cy="0"/>
          </a:xfrm>
          <a:prstGeom prst="line">
            <a:avLst/>
          </a:prstGeom>
          <a:noFill/>
          <a:ln w="22225">
            <a:solidFill>
              <a:srgbClr val="0B1D33"/>
            </a:solidFill>
            <a:prstDash val="solid"/>
            <a:headEnd type="none"/>
            <a:tailEnd type="triangle"/>
          </a:ln>
        </p:spPr>
      </p:sp>
      <p:sp>
        <p:nvSpPr>
          <p:cNvPr id="15" name="Text 12"/>
          <p:cNvSpPr txBox="1"/>
          <p:nvPr/>
        </p:nvSpPr>
        <p:spPr>
          <a:xfrm>
            <a:off x="1417320" y="1892808"/>
            <a:ext cx="731520" cy="164592"/>
          </a:xfrm>
          <a:prstGeom prst="rect">
            <a:avLst/>
          </a:prstGeom>
          <a:noFill/>
          <a:ln/>
        </p:spPr>
        <p:txBody>
          <a:bodyPr wrap="square" lIns="0" tIns="0" rIns="0" bIns="0" rtlCol="0" anchor="t"/>
          <a:lstStyle/>
          <a:p>
            <a:pPr algn="ctr" indent="0" marL="0">
              <a:buNone/>
            </a:pPr>
            <a:r>
              <a:rPr lang="en-US" sz="750" b="1" dirty="0">
                <a:solidFill>
                  <a:srgbClr val="0B1D33"/>
                </a:solidFill>
                <a:latin typeface="Calibri" pitchFamily="34" charset="0"/>
                <a:ea typeface="Calibri" pitchFamily="34" charset="-122"/>
                <a:cs typeface="Calibri" pitchFamily="34" charset="-120"/>
              </a:rPr>
              <a:t>NDTJob</a:t>
            </a:r>
            <a:endParaRPr lang="en-US" sz="750" dirty="0"/>
          </a:p>
        </p:txBody>
      </p:sp>
      <p:sp>
        <p:nvSpPr>
          <p:cNvPr id="16" name="Shape 13"/>
          <p:cNvSpPr/>
          <p:nvPr/>
        </p:nvSpPr>
        <p:spPr>
          <a:xfrm flipH="1">
            <a:off x="1417320" y="2286000"/>
            <a:ext cx="731520" cy="0"/>
          </a:xfrm>
          <a:prstGeom prst="line">
            <a:avLst/>
          </a:prstGeom>
          <a:noFill/>
          <a:ln w="22225">
            <a:solidFill>
              <a:srgbClr val="E8912D"/>
            </a:solidFill>
            <a:prstDash val="solid"/>
            <a:headEnd type="none"/>
            <a:tailEnd type="triangle"/>
          </a:ln>
        </p:spPr>
      </p:sp>
      <p:sp>
        <p:nvSpPr>
          <p:cNvPr id="17" name="Text 14"/>
          <p:cNvSpPr txBox="1"/>
          <p:nvPr/>
        </p:nvSpPr>
        <p:spPr>
          <a:xfrm>
            <a:off x="1417320" y="2313432"/>
            <a:ext cx="731520" cy="164592"/>
          </a:xfrm>
          <a:prstGeom prst="rect">
            <a:avLst/>
          </a:prstGeom>
          <a:noFill/>
          <a:ln/>
        </p:spPr>
        <p:txBody>
          <a:bodyPr wrap="square" lIns="0" tIns="0" rIns="0" bIns="0" rtlCol="0" anchor="t"/>
          <a:lstStyle/>
          <a:p>
            <a:pPr algn="ctr" indent="0" marL="0">
              <a:buNone/>
            </a:pPr>
            <a:r>
              <a:rPr lang="en-US" sz="750" b="1" dirty="0">
                <a:solidFill>
                  <a:srgbClr val="E8912D"/>
                </a:solidFill>
                <a:latin typeface="Calibri" pitchFamily="34" charset="0"/>
                <a:ea typeface="Calibri" pitchFamily="34" charset="-122"/>
                <a:cs typeface="Calibri" pitchFamily="34" charset="-120"/>
              </a:rPr>
              <a:t>NDTReport</a:t>
            </a:r>
            <a:endParaRPr lang="en-US" sz="750" dirty="0"/>
          </a:p>
        </p:txBody>
      </p:sp>
      <p:sp>
        <p:nvSpPr>
          <p:cNvPr id="18" name="Text 15"/>
          <p:cNvSpPr txBox="1"/>
          <p:nvPr/>
        </p:nvSpPr>
        <p:spPr>
          <a:xfrm>
            <a:off x="594360" y="2670048"/>
            <a:ext cx="2377440" cy="146304"/>
          </a:xfrm>
          <a:prstGeom prst="rect">
            <a:avLst/>
          </a:prstGeom>
          <a:noFill/>
          <a:ln/>
        </p:spPr>
        <p:txBody>
          <a:bodyPr wrap="square" lIns="0" tIns="0" rIns="0" bIns="0" rtlCol="0" anchor="t"/>
          <a:lstStyle/>
          <a:p>
            <a:pPr indent="0" marL="0">
              <a:buNone/>
            </a:pPr>
            <a:r>
              <a:rPr lang="en-US" sz="750" b="1" spc="100" kern="0" dirty="0">
                <a:solidFill>
                  <a:srgbClr val="0FA3B1"/>
                </a:solidFill>
                <a:latin typeface="Calibri" pitchFamily="34" charset="0"/>
                <a:ea typeface="Calibri" pitchFamily="34" charset="-122"/>
                <a:cs typeface="Calibri" pitchFamily="34" charset="-120"/>
              </a:rPr>
              <a:t>MADE FOR</a:t>
            </a:r>
            <a:endParaRPr lang="en-US" sz="750" dirty="0"/>
          </a:p>
        </p:txBody>
      </p:sp>
      <p:sp>
        <p:nvSpPr>
          <p:cNvPr id="19" name="Text 16"/>
          <p:cNvSpPr txBox="1"/>
          <p:nvPr/>
        </p:nvSpPr>
        <p:spPr>
          <a:xfrm>
            <a:off x="594360" y="2825496"/>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Running network digital twins as a 3GPP management service.</a:t>
            </a:r>
            <a:endParaRPr lang="en-US" sz="900" dirty="0"/>
          </a:p>
        </p:txBody>
      </p:sp>
      <p:sp>
        <p:nvSpPr>
          <p:cNvPr id="20" name="Text 17"/>
          <p:cNvSpPr txBox="1"/>
          <p:nvPr/>
        </p:nvSpPr>
        <p:spPr>
          <a:xfrm>
            <a:off x="594360" y="3163824"/>
            <a:ext cx="2377440" cy="146304"/>
          </a:xfrm>
          <a:prstGeom prst="rect">
            <a:avLst/>
          </a:prstGeom>
          <a:noFill/>
          <a:ln/>
        </p:spPr>
        <p:txBody>
          <a:bodyPr wrap="square" lIns="0" tIns="0" rIns="0" bIns="0" rtlCol="0" anchor="t"/>
          <a:lstStyle/>
          <a:p>
            <a:pPr indent="0" marL="0">
              <a:buNone/>
            </a:pPr>
            <a:r>
              <a:rPr lang="en-US" sz="750" b="1" spc="100" kern="0" dirty="0">
                <a:solidFill>
                  <a:srgbClr val="0FA3B1"/>
                </a:solidFill>
                <a:latin typeface="Calibri" pitchFamily="34" charset="0"/>
                <a:ea typeface="Calibri" pitchFamily="34" charset="-122"/>
                <a:cs typeface="Calibri" pitchFamily="34" charset="-120"/>
              </a:rPr>
              <a:t>CAN DO</a:t>
            </a:r>
            <a:endParaRPr lang="en-US" sz="750" dirty="0"/>
          </a:p>
        </p:txBody>
      </p:sp>
      <p:sp>
        <p:nvSpPr>
          <p:cNvPr id="21" name="Text 18"/>
          <p:cNvSpPr txBox="1"/>
          <p:nvPr/>
        </p:nvSpPr>
        <p:spPr>
          <a:xfrm>
            <a:off x="594360" y="3319272"/>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Declare twin capabilities; create, stop, delete sim jobs; report.</a:t>
            </a:r>
            <a:endParaRPr lang="en-US" sz="900" dirty="0"/>
          </a:p>
        </p:txBody>
      </p:sp>
      <p:sp>
        <p:nvSpPr>
          <p:cNvPr id="22" name="Text 19"/>
          <p:cNvSpPr txBox="1"/>
          <p:nvPr/>
        </p:nvSpPr>
        <p:spPr>
          <a:xfrm>
            <a:off x="594360" y="3657600"/>
            <a:ext cx="2377440" cy="146304"/>
          </a:xfrm>
          <a:prstGeom prst="rect">
            <a:avLst/>
          </a:prstGeom>
          <a:noFill/>
          <a:ln/>
        </p:spPr>
        <p:txBody>
          <a:bodyPr wrap="square" lIns="0" tIns="0" rIns="0" bIns="0" rtlCol="0" anchor="t"/>
          <a:lstStyle/>
          <a:p>
            <a:pPr indent="0" marL="0">
              <a:buNone/>
            </a:pPr>
            <a:r>
              <a:rPr lang="en-US" sz="750" b="1" spc="100" kern="0" dirty="0">
                <a:solidFill>
                  <a:srgbClr val="0FA3B1"/>
                </a:solidFill>
                <a:latin typeface="Calibri" pitchFamily="34" charset="0"/>
                <a:ea typeface="Calibri" pitchFamily="34" charset="-122"/>
                <a:cs typeface="Calibri" pitchFamily="34" charset="-120"/>
              </a:rPr>
              <a:t>FOR OUR LINK</a:t>
            </a:r>
            <a:endParaRPr lang="en-US" sz="750" dirty="0"/>
          </a:p>
        </p:txBody>
      </p:sp>
      <p:sp>
        <p:nvSpPr>
          <p:cNvPr id="23" name="Text 20"/>
          <p:cNvSpPr txBox="1"/>
          <p:nvPr/>
        </p:nvSpPr>
        <p:spPr>
          <a:xfrm>
            <a:off x="594360" y="3813048"/>
            <a:ext cx="2377440" cy="457200"/>
          </a:xfrm>
          <a:prstGeom prst="rect">
            <a:avLst/>
          </a:prstGeom>
          <a:noFill/>
          <a:ln/>
        </p:spPr>
        <p:txBody>
          <a:bodyPr wrap="square" lIns="0" tIns="0" rIns="0" bIns="0" rtlCol="0" anchor="t"/>
          <a:lstStyle/>
          <a:p>
            <a:pPr indent="0" marL="0">
              <a:buNone/>
            </a:pPr>
            <a:r>
              <a:rPr lang="en-US" sz="900" b="1" dirty="0">
                <a:solidFill>
                  <a:srgbClr val="1A2B3C"/>
                </a:solidFill>
                <a:latin typeface="Calibri" pitchFamily="34" charset="0"/>
                <a:ea typeface="Calibri" pitchFamily="34" charset="-122"/>
                <a:cs typeface="Calibri" pitchFamily="34" charset="-120"/>
              </a:rPr>
              <a:t>Each ns-3 what-if is one NDT job created by TFS.</a:t>
            </a:r>
            <a:endParaRPr lang="en-US" sz="900" dirty="0"/>
          </a:p>
        </p:txBody>
      </p:sp>
      <p:sp>
        <p:nvSpPr>
          <p:cNvPr id="24" name="Shape 21"/>
          <p:cNvSpPr/>
          <p:nvPr/>
        </p:nvSpPr>
        <p:spPr>
          <a:xfrm>
            <a:off x="566928" y="4206240"/>
            <a:ext cx="2432304" cy="548640"/>
          </a:xfrm>
          <a:prstGeom prst="roundRect">
            <a:avLst>
              <a:gd name="adj" fmla="val 10000"/>
            </a:avLst>
          </a:prstGeom>
          <a:solidFill>
            <a:srgbClr val="0B1D33"/>
          </a:solidFill>
          <a:ln w="12700">
            <a:solidFill>
              <a:srgbClr val="0B1D33"/>
            </a:solidFill>
            <a:prstDash val="solid"/>
          </a:ln>
        </p:spPr>
      </p:sp>
      <p:sp>
        <p:nvSpPr>
          <p:cNvPr id="25" name="Text 22"/>
          <p:cNvSpPr txBox="1"/>
          <p:nvPr/>
        </p:nvSpPr>
        <p:spPr>
          <a:xfrm>
            <a:off x="658368" y="4206240"/>
            <a:ext cx="2286000" cy="548640"/>
          </a:xfrm>
          <a:prstGeom prst="rect">
            <a:avLst/>
          </a:prstGeom>
          <a:noFill/>
          <a:ln/>
        </p:spPr>
        <p:txBody>
          <a:bodyPr wrap="square" lIns="0" tIns="0" rIns="0" bIns="0" rtlCol="0" anchor="ctr"/>
          <a:lstStyle/>
          <a:p>
            <a:pPr indent="0" marL="0">
              <a:buNone/>
            </a:pPr>
            <a:r>
              <a:rPr lang="en-US" sz="750" dirty="0">
                <a:solidFill>
                  <a:srgbClr val="D6E4F0"/>
                </a:solidFill>
                <a:latin typeface="Courier New" pitchFamily="34" charset="0"/>
                <a:ea typeface="Courier New" pitchFamily="34" charset="-122"/>
                <a:cs typeface="Courier New" pitchFamily="34" charset="-120"/>
              </a:rPr>
              <a:t>create NDTJob</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 capability: config verification</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 scope: Tier-4 URLLC, 23 nodes</a:t>
            </a:r>
            <a:endParaRPr lang="en-US" sz="750" dirty="0"/>
          </a:p>
        </p:txBody>
      </p:sp>
      <p:sp>
        <p:nvSpPr>
          <p:cNvPr id="26" name="Shape 23"/>
          <p:cNvSpPr/>
          <p:nvPr/>
        </p:nvSpPr>
        <p:spPr>
          <a:xfrm>
            <a:off x="3246120" y="1188720"/>
            <a:ext cx="2651760" cy="3657600"/>
          </a:xfrm>
          <a:prstGeom prst="roundRect">
            <a:avLst>
              <a:gd name="adj" fmla="val 2759"/>
            </a:avLst>
          </a:prstGeom>
          <a:solidFill>
            <a:srgbClr val="F2F5F8"/>
          </a:solidFill>
          <a:ln w="12700">
            <a:solidFill>
              <a:srgbClr val="F2F5F8"/>
            </a:solidFill>
            <a:prstDash val="solid"/>
          </a:ln>
        </p:spPr>
      </p:sp>
      <p:sp>
        <p:nvSpPr>
          <p:cNvPr id="27" name="Shape 24"/>
          <p:cNvSpPr/>
          <p:nvPr/>
        </p:nvSpPr>
        <p:spPr>
          <a:xfrm>
            <a:off x="3383280" y="1316736"/>
            <a:ext cx="384048" cy="384048"/>
          </a:xfrm>
          <a:prstGeom prst="ellipse">
            <a:avLst/>
          </a:prstGeom>
          <a:solidFill>
            <a:srgbClr val="14304F"/>
          </a:solidFill>
          <a:ln w="12700">
            <a:solidFill>
              <a:srgbClr val="14304F"/>
            </a:solidFill>
            <a:prstDash val="solid"/>
          </a:ln>
        </p:spPr>
      </p:sp>
      <p:pic>
        <p:nvPicPr>
          <p:cNvPr id="28" name="Image 1" descr="preencoded.png">    </p:cNvPr>
          <p:cNvPicPr>
            <a:picLocks noChangeAspect="1"/>
          </p:cNvPicPr>
          <p:nvPr/>
        </p:nvPicPr>
        <p:blipFill>
          <a:blip r:embed="rId2"/>
          <a:stretch>
            <a:fillRect/>
          </a:stretch>
        </p:blipFill>
        <p:spPr>
          <a:xfrm>
            <a:off x="3479292" y="1412748"/>
            <a:ext cx="192024" cy="192024"/>
          </a:xfrm>
          <a:prstGeom prst="rect">
            <a:avLst/>
          </a:prstGeom>
        </p:spPr>
      </p:pic>
      <p:sp>
        <p:nvSpPr>
          <p:cNvPr id="29" name="Text 25"/>
          <p:cNvSpPr txBox="1"/>
          <p:nvPr/>
        </p:nvSpPr>
        <p:spPr>
          <a:xfrm>
            <a:off x="3849624" y="1298448"/>
            <a:ext cx="1965960" cy="22860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ITU-T Y.3092</a:t>
            </a:r>
            <a:endParaRPr lang="en-US" sz="1150" dirty="0"/>
          </a:p>
        </p:txBody>
      </p:sp>
      <p:sp>
        <p:nvSpPr>
          <p:cNvPr id="30" name="Text 26"/>
          <p:cNvSpPr txBox="1"/>
          <p:nvPr/>
        </p:nvSpPr>
        <p:spPr>
          <a:xfrm>
            <a:off x="3849624" y="1527048"/>
            <a:ext cx="1965960" cy="182880"/>
          </a:xfrm>
          <a:prstGeom prst="rect">
            <a:avLst/>
          </a:prstGeom>
          <a:noFill/>
          <a:ln/>
        </p:spPr>
        <p:txBody>
          <a:bodyPr wrap="square" lIns="0" tIns="0" rIns="0" bIns="0" rtlCol="0" anchor="t"/>
          <a:lstStyle/>
          <a:p>
            <a:pPr indent="0" marL="0">
              <a:buNone/>
            </a:pPr>
            <a:r>
              <a:rPr lang="en-US" sz="850" dirty="0">
                <a:solidFill>
                  <a:srgbClr val="5A6B7D"/>
                </a:solidFill>
                <a:latin typeface="Calibri" pitchFamily="34" charset="0"/>
                <a:ea typeface="Calibri" pitchFamily="34" charset="-122"/>
                <a:cs typeface="Calibri" pitchFamily="34" charset="-120"/>
              </a:rPr>
              <a:t>Twins for mgmt &amp; orchestration</a:t>
            </a:r>
            <a:endParaRPr lang="en-US" sz="850" dirty="0"/>
          </a:p>
        </p:txBody>
      </p:sp>
      <p:sp>
        <p:nvSpPr>
          <p:cNvPr id="31" name="Shape 27"/>
          <p:cNvSpPr/>
          <p:nvPr/>
        </p:nvSpPr>
        <p:spPr>
          <a:xfrm>
            <a:off x="3355848" y="1792224"/>
            <a:ext cx="2432304" cy="777240"/>
          </a:xfrm>
          <a:prstGeom prst="roundRect">
            <a:avLst>
              <a:gd name="adj" fmla="val 7059"/>
            </a:avLst>
          </a:prstGeom>
          <a:solidFill>
            <a:srgbClr val="FFFFFF"/>
          </a:solidFill>
          <a:ln w="12700">
            <a:solidFill>
              <a:srgbClr val="FFFFFF"/>
            </a:solidFill>
            <a:prstDash val="solid"/>
          </a:ln>
        </p:spPr>
      </p:sp>
      <p:sp>
        <p:nvSpPr>
          <p:cNvPr id="32" name="Shape 28"/>
          <p:cNvSpPr/>
          <p:nvPr/>
        </p:nvSpPr>
        <p:spPr>
          <a:xfrm>
            <a:off x="3429000" y="1965960"/>
            <a:ext cx="658368" cy="411480"/>
          </a:xfrm>
          <a:prstGeom prst="roundRect">
            <a:avLst>
              <a:gd name="adj" fmla="val 11111"/>
            </a:avLst>
          </a:prstGeom>
          <a:solidFill>
            <a:srgbClr val="FFFFFF"/>
          </a:solidFill>
          <a:ln w="15875">
            <a:solidFill>
              <a:srgbClr val="14304F"/>
            </a:solidFill>
            <a:prstDash val="solid"/>
          </a:ln>
        </p:spPr>
      </p:sp>
      <p:sp>
        <p:nvSpPr>
          <p:cNvPr id="33" name="Text 29"/>
          <p:cNvSpPr txBox="1"/>
          <p:nvPr/>
        </p:nvSpPr>
        <p:spPr>
          <a:xfrm>
            <a:off x="3429000" y="1965960"/>
            <a:ext cx="658368" cy="41148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Mgmt</a:t>
            </a:r>
            <a:endParaRPr lang="en-US" sz="850" dirty="0"/>
          </a:p>
        </p:txBody>
      </p:sp>
      <p:sp>
        <p:nvSpPr>
          <p:cNvPr id="34" name="Shape 30"/>
          <p:cNvSpPr/>
          <p:nvPr/>
        </p:nvSpPr>
        <p:spPr>
          <a:xfrm>
            <a:off x="4242816" y="1965960"/>
            <a:ext cx="658368" cy="411480"/>
          </a:xfrm>
          <a:prstGeom prst="roundRect">
            <a:avLst>
              <a:gd name="adj" fmla="val 11111"/>
            </a:avLst>
          </a:prstGeom>
          <a:solidFill>
            <a:srgbClr val="FFFFFF"/>
          </a:solidFill>
          <a:ln w="15875">
            <a:solidFill>
              <a:srgbClr val="E8912D"/>
            </a:solidFill>
            <a:prstDash val="solid"/>
          </a:ln>
        </p:spPr>
      </p:sp>
      <p:sp>
        <p:nvSpPr>
          <p:cNvPr id="35" name="Text 31"/>
          <p:cNvSpPr txBox="1"/>
          <p:nvPr/>
        </p:nvSpPr>
        <p:spPr>
          <a:xfrm>
            <a:off x="4242816" y="1965960"/>
            <a:ext cx="658368" cy="41148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Twin</a:t>
            </a:r>
            <a:endParaRPr lang="en-US" sz="850" dirty="0"/>
          </a:p>
        </p:txBody>
      </p:sp>
      <p:sp>
        <p:nvSpPr>
          <p:cNvPr id="36" name="Shape 32"/>
          <p:cNvSpPr/>
          <p:nvPr/>
        </p:nvSpPr>
        <p:spPr>
          <a:xfrm>
            <a:off x="5056632" y="1965960"/>
            <a:ext cx="658368" cy="411480"/>
          </a:xfrm>
          <a:prstGeom prst="roundRect">
            <a:avLst>
              <a:gd name="adj" fmla="val 11111"/>
            </a:avLst>
          </a:prstGeom>
          <a:solidFill>
            <a:srgbClr val="FFFFFF"/>
          </a:solidFill>
          <a:ln w="15875">
            <a:solidFill>
              <a:srgbClr val="22A06B"/>
            </a:solidFill>
            <a:prstDash val="solid"/>
          </a:ln>
        </p:spPr>
      </p:sp>
      <p:sp>
        <p:nvSpPr>
          <p:cNvPr id="37" name="Text 33"/>
          <p:cNvSpPr txBox="1"/>
          <p:nvPr/>
        </p:nvSpPr>
        <p:spPr>
          <a:xfrm>
            <a:off x="5056632" y="1965960"/>
            <a:ext cx="658368" cy="41148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Network</a:t>
            </a:r>
            <a:endParaRPr lang="en-US" sz="850" dirty="0"/>
          </a:p>
        </p:txBody>
      </p:sp>
      <p:sp>
        <p:nvSpPr>
          <p:cNvPr id="38" name="Shape 34"/>
          <p:cNvSpPr/>
          <p:nvPr/>
        </p:nvSpPr>
        <p:spPr>
          <a:xfrm>
            <a:off x="4087368" y="2171700"/>
            <a:ext cx="155448" cy="0"/>
          </a:xfrm>
          <a:prstGeom prst="line">
            <a:avLst/>
          </a:prstGeom>
          <a:noFill/>
          <a:ln w="22225">
            <a:solidFill>
              <a:srgbClr val="14304F"/>
            </a:solidFill>
            <a:prstDash val="solid"/>
            <a:headEnd type="triangle"/>
            <a:tailEnd type="triangle"/>
          </a:ln>
        </p:spPr>
      </p:sp>
      <p:sp>
        <p:nvSpPr>
          <p:cNvPr id="39" name="Shape 35"/>
          <p:cNvSpPr/>
          <p:nvPr/>
        </p:nvSpPr>
        <p:spPr>
          <a:xfrm>
            <a:off x="4901184" y="2171700"/>
            <a:ext cx="155448" cy="0"/>
          </a:xfrm>
          <a:prstGeom prst="line">
            <a:avLst/>
          </a:prstGeom>
          <a:noFill/>
          <a:ln w="22225">
            <a:solidFill>
              <a:srgbClr val="22A06B"/>
            </a:solidFill>
            <a:prstDash val="solid"/>
            <a:headEnd type="triangle"/>
            <a:tailEnd type="triangle"/>
          </a:ln>
        </p:spPr>
      </p:sp>
      <p:sp>
        <p:nvSpPr>
          <p:cNvPr id="40" name="Text 36"/>
          <p:cNvSpPr txBox="1"/>
          <p:nvPr/>
        </p:nvSpPr>
        <p:spPr>
          <a:xfrm>
            <a:off x="3858768" y="2395728"/>
            <a:ext cx="612648" cy="164592"/>
          </a:xfrm>
          <a:prstGeom prst="rect">
            <a:avLst/>
          </a:prstGeom>
          <a:noFill/>
          <a:ln/>
        </p:spPr>
        <p:txBody>
          <a:bodyPr wrap="square" lIns="0" tIns="0" rIns="0" bIns="0" rtlCol="0" anchor="t"/>
          <a:lstStyle/>
          <a:p>
            <a:pPr algn="ctr" indent="0" marL="0">
              <a:buNone/>
            </a:pPr>
            <a:r>
              <a:rPr lang="en-US" sz="750" b="1" dirty="0">
                <a:solidFill>
                  <a:srgbClr val="14304F"/>
                </a:solidFill>
                <a:latin typeface="Calibri" pitchFamily="34" charset="0"/>
                <a:ea typeface="Calibri" pitchFamily="34" charset="-122"/>
                <a:cs typeface="Calibri" pitchFamily="34" charset="-120"/>
              </a:rPr>
              <a:t>NDT-m</a:t>
            </a:r>
            <a:endParaRPr lang="en-US" sz="750" dirty="0"/>
          </a:p>
        </p:txBody>
      </p:sp>
      <p:sp>
        <p:nvSpPr>
          <p:cNvPr id="41" name="Text 37"/>
          <p:cNvSpPr txBox="1"/>
          <p:nvPr/>
        </p:nvSpPr>
        <p:spPr>
          <a:xfrm>
            <a:off x="4672584" y="2395728"/>
            <a:ext cx="612648" cy="164592"/>
          </a:xfrm>
          <a:prstGeom prst="rect">
            <a:avLst/>
          </a:prstGeom>
          <a:noFill/>
          <a:ln/>
        </p:spPr>
        <p:txBody>
          <a:bodyPr wrap="square" lIns="0" tIns="0" rIns="0" bIns="0" rtlCol="0" anchor="t"/>
          <a:lstStyle/>
          <a:p>
            <a:pPr algn="ctr" indent="0" marL="0">
              <a:buNone/>
            </a:pPr>
            <a:r>
              <a:rPr lang="en-US" sz="750" b="1" dirty="0">
                <a:solidFill>
                  <a:srgbClr val="22A06B"/>
                </a:solidFill>
                <a:latin typeface="Calibri" pitchFamily="34" charset="0"/>
                <a:ea typeface="Calibri" pitchFamily="34" charset="-122"/>
                <a:cs typeface="Calibri" pitchFamily="34" charset="-120"/>
              </a:rPr>
              <a:t>NDT-p</a:t>
            </a:r>
            <a:endParaRPr lang="en-US" sz="750" dirty="0"/>
          </a:p>
        </p:txBody>
      </p:sp>
      <p:sp>
        <p:nvSpPr>
          <p:cNvPr id="42" name="Text 38"/>
          <p:cNvSpPr txBox="1"/>
          <p:nvPr/>
        </p:nvSpPr>
        <p:spPr>
          <a:xfrm>
            <a:off x="3383280" y="2670048"/>
            <a:ext cx="2377440" cy="146304"/>
          </a:xfrm>
          <a:prstGeom prst="rect">
            <a:avLst/>
          </a:prstGeom>
          <a:noFill/>
          <a:ln/>
        </p:spPr>
        <p:txBody>
          <a:bodyPr wrap="square" lIns="0" tIns="0" rIns="0" bIns="0" rtlCol="0" anchor="t"/>
          <a:lstStyle/>
          <a:p>
            <a:pPr indent="0" marL="0">
              <a:buNone/>
            </a:pPr>
            <a:r>
              <a:rPr lang="en-US" sz="750" b="1" spc="100" kern="0" dirty="0">
                <a:solidFill>
                  <a:srgbClr val="14304F"/>
                </a:solidFill>
                <a:latin typeface="Calibri" pitchFamily="34" charset="0"/>
                <a:ea typeface="Calibri" pitchFamily="34" charset="-122"/>
                <a:cs typeface="Calibri" pitchFamily="34" charset="-120"/>
              </a:rPr>
              <a:t>MADE FOR</a:t>
            </a:r>
            <a:endParaRPr lang="en-US" sz="750" dirty="0"/>
          </a:p>
        </p:txBody>
      </p:sp>
      <p:sp>
        <p:nvSpPr>
          <p:cNvPr id="43" name="Text 39"/>
          <p:cNvSpPr txBox="1"/>
          <p:nvPr/>
        </p:nvSpPr>
        <p:spPr>
          <a:xfrm>
            <a:off x="3383280" y="2825496"/>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Using twins to manage and orchestrate 5G/6G networks.</a:t>
            </a:r>
            <a:endParaRPr lang="en-US" sz="900" dirty="0"/>
          </a:p>
        </p:txBody>
      </p:sp>
      <p:sp>
        <p:nvSpPr>
          <p:cNvPr id="44" name="Text 40"/>
          <p:cNvSpPr txBox="1"/>
          <p:nvPr/>
        </p:nvSpPr>
        <p:spPr>
          <a:xfrm>
            <a:off x="3383280" y="3163824"/>
            <a:ext cx="2377440" cy="146304"/>
          </a:xfrm>
          <a:prstGeom prst="rect">
            <a:avLst/>
          </a:prstGeom>
          <a:noFill/>
          <a:ln/>
        </p:spPr>
        <p:txBody>
          <a:bodyPr wrap="square" lIns="0" tIns="0" rIns="0" bIns="0" rtlCol="0" anchor="t"/>
          <a:lstStyle/>
          <a:p>
            <a:pPr indent="0" marL="0">
              <a:buNone/>
            </a:pPr>
            <a:r>
              <a:rPr lang="en-US" sz="750" b="1" spc="100" kern="0" dirty="0">
                <a:solidFill>
                  <a:srgbClr val="14304F"/>
                </a:solidFill>
                <a:latin typeface="Calibri" pitchFamily="34" charset="0"/>
                <a:ea typeface="Calibri" pitchFamily="34" charset="-122"/>
                <a:cs typeface="Calibri" pitchFamily="34" charset="-120"/>
              </a:rPr>
              <a:t>CAN DO</a:t>
            </a:r>
            <a:endParaRPr lang="en-US" sz="750" dirty="0"/>
          </a:p>
        </p:txBody>
      </p:sp>
      <p:sp>
        <p:nvSpPr>
          <p:cNvPr id="45" name="Text 41"/>
          <p:cNvSpPr txBox="1"/>
          <p:nvPr/>
        </p:nvSpPr>
        <p:spPr>
          <a:xfrm>
            <a:off x="3383280" y="3319272"/>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Requirements, framework, NDT-m and NDT-p interfaces.</a:t>
            </a:r>
            <a:endParaRPr lang="en-US" sz="900" dirty="0"/>
          </a:p>
        </p:txBody>
      </p:sp>
      <p:sp>
        <p:nvSpPr>
          <p:cNvPr id="46" name="Text 42"/>
          <p:cNvSpPr txBox="1"/>
          <p:nvPr/>
        </p:nvSpPr>
        <p:spPr>
          <a:xfrm>
            <a:off x="3383280" y="3657600"/>
            <a:ext cx="2377440" cy="146304"/>
          </a:xfrm>
          <a:prstGeom prst="rect">
            <a:avLst/>
          </a:prstGeom>
          <a:noFill/>
          <a:ln/>
        </p:spPr>
        <p:txBody>
          <a:bodyPr wrap="square" lIns="0" tIns="0" rIns="0" bIns="0" rtlCol="0" anchor="t"/>
          <a:lstStyle/>
          <a:p>
            <a:pPr indent="0" marL="0">
              <a:buNone/>
            </a:pPr>
            <a:r>
              <a:rPr lang="en-US" sz="750" b="1" spc="100" kern="0" dirty="0">
                <a:solidFill>
                  <a:srgbClr val="14304F"/>
                </a:solidFill>
                <a:latin typeface="Calibri" pitchFamily="34" charset="0"/>
                <a:ea typeface="Calibri" pitchFamily="34" charset="-122"/>
                <a:cs typeface="Calibri" pitchFamily="34" charset="-120"/>
              </a:rPr>
              <a:t>FOR OUR LINK</a:t>
            </a:r>
            <a:endParaRPr lang="en-US" sz="750" dirty="0"/>
          </a:p>
        </p:txBody>
      </p:sp>
      <p:sp>
        <p:nvSpPr>
          <p:cNvPr id="47" name="Text 43"/>
          <p:cNvSpPr txBox="1"/>
          <p:nvPr/>
        </p:nvSpPr>
        <p:spPr>
          <a:xfrm>
            <a:off x="3383280" y="3813048"/>
            <a:ext cx="2377440" cy="457200"/>
          </a:xfrm>
          <a:prstGeom prst="rect">
            <a:avLst/>
          </a:prstGeom>
          <a:noFill/>
          <a:ln/>
        </p:spPr>
        <p:txBody>
          <a:bodyPr wrap="square" lIns="0" tIns="0" rIns="0" bIns="0" rtlCol="0" anchor="t"/>
          <a:lstStyle/>
          <a:p>
            <a:pPr indent="0" marL="0">
              <a:buNone/>
            </a:pPr>
            <a:r>
              <a:rPr lang="en-US" sz="900" b="1" dirty="0">
                <a:solidFill>
                  <a:srgbClr val="1A2B3C"/>
                </a:solidFill>
                <a:latin typeface="Calibri" pitchFamily="34" charset="0"/>
                <a:ea typeface="Calibri" pitchFamily="34" charset="-122"/>
                <a:cs typeface="Calibri" pitchFamily="34" charset="-120"/>
              </a:rPr>
              <a:t>Job control on NDT-m, live network state on NDT-p.</a:t>
            </a:r>
            <a:endParaRPr lang="en-US" sz="900" dirty="0"/>
          </a:p>
        </p:txBody>
      </p:sp>
      <p:sp>
        <p:nvSpPr>
          <p:cNvPr id="48" name="Shape 44"/>
          <p:cNvSpPr/>
          <p:nvPr/>
        </p:nvSpPr>
        <p:spPr>
          <a:xfrm>
            <a:off x="3355848" y="4206240"/>
            <a:ext cx="2432304" cy="548640"/>
          </a:xfrm>
          <a:prstGeom prst="roundRect">
            <a:avLst>
              <a:gd name="adj" fmla="val 10000"/>
            </a:avLst>
          </a:prstGeom>
          <a:solidFill>
            <a:srgbClr val="0B1D33"/>
          </a:solidFill>
          <a:ln w="12700">
            <a:solidFill>
              <a:srgbClr val="0B1D33"/>
            </a:solidFill>
            <a:prstDash val="solid"/>
          </a:ln>
        </p:spPr>
      </p:sp>
      <p:sp>
        <p:nvSpPr>
          <p:cNvPr id="49" name="Text 45"/>
          <p:cNvSpPr txBox="1"/>
          <p:nvPr/>
        </p:nvSpPr>
        <p:spPr>
          <a:xfrm>
            <a:off x="3447288" y="4206240"/>
            <a:ext cx="2286000" cy="548640"/>
          </a:xfrm>
          <a:prstGeom prst="rect">
            <a:avLst/>
          </a:prstGeom>
          <a:noFill/>
          <a:ln/>
        </p:spPr>
        <p:txBody>
          <a:bodyPr wrap="square" lIns="0" tIns="0" rIns="0" bIns="0" rtlCol="0" anchor="ctr"/>
          <a:lstStyle/>
          <a:p>
            <a:pPr indent="0" marL="0">
              <a:buNone/>
            </a:pPr>
            <a:r>
              <a:rPr lang="en-US" sz="750" dirty="0">
                <a:solidFill>
                  <a:srgbClr val="D6E4F0"/>
                </a:solidFill>
                <a:latin typeface="Courier New" pitchFamily="34" charset="0"/>
                <a:ea typeface="Courier New" pitchFamily="34" charset="-122"/>
                <a:cs typeface="Courier New" pitchFamily="34" charset="-120"/>
              </a:rPr>
              <a:t>NDT-m: start rain-fade job</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NDT-p: RSSI -58 dBm, MCS 8</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       MH-T261 -&gt; TFS -&gt; twin</a:t>
            </a:r>
            <a:endParaRPr lang="en-US" sz="750" dirty="0"/>
          </a:p>
        </p:txBody>
      </p:sp>
      <p:sp>
        <p:nvSpPr>
          <p:cNvPr id="50" name="Shape 46"/>
          <p:cNvSpPr/>
          <p:nvPr/>
        </p:nvSpPr>
        <p:spPr>
          <a:xfrm>
            <a:off x="6035040" y="1188720"/>
            <a:ext cx="2651760" cy="3657600"/>
          </a:xfrm>
          <a:prstGeom prst="roundRect">
            <a:avLst>
              <a:gd name="adj" fmla="val 2759"/>
            </a:avLst>
          </a:prstGeom>
          <a:solidFill>
            <a:srgbClr val="F2F5F8"/>
          </a:solidFill>
          <a:ln w="12700">
            <a:solidFill>
              <a:srgbClr val="F2F5F8"/>
            </a:solidFill>
            <a:prstDash val="solid"/>
          </a:ln>
        </p:spPr>
      </p:sp>
      <p:sp>
        <p:nvSpPr>
          <p:cNvPr id="51" name="Shape 47"/>
          <p:cNvSpPr/>
          <p:nvPr/>
        </p:nvSpPr>
        <p:spPr>
          <a:xfrm>
            <a:off x="6172200" y="1316736"/>
            <a:ext cx="384048" cy="384048"/>
          </a:xfrm>
          <a:prstGeom prst="ellipse">
            <a:avLst/>
          </a:prstGeom>
          <a:solidFill>
            <a:srgbClr val="22A06B"/>
          </a:solidFill>
          <a:ln w="12700">
            <a:solidFill>
              <a:srgbClr val="22A06B"/>
            </a:solidFill>
            <a:prstDash val="solid"/>
          </a:ln>
        </p:spPr>
      </p:sp>
      <p:pic>
        <p:nvPicPr>
          <p:cNvPr id="52" name="Image 2" descr="preencoded.png">    </p:cNvPr>
          <p:cNvPicPr>
            <a:picLocks noChangeAspect="1"/>
          </p:cNvPicPr>
          <p:nvPr/>
        </p:nvPicPr>
        <p:blipFill>
          <a:blip r:embed="rId3"/>
          <a:stretch>
            <a:fillRect/>
          </a:stretch>
        </p:blipFill>
        <p:spPr>
          <a:xfrm>
            <a:off x="6268212" y="1412748"/>
            <a:ext cx="192024" cy="192024"/>
          </a:xfrm>
          <a:prstGeom prst="rect">
            <a:avLst/>
          </a:prstGeom>
        </p:spPr>
      </p:pic>
      <p:sp>
        <p:nvSpPr>
          <p:cNvPr id="53" name="Text 48"/>
          <p:cNvSpPr txBox="1"/>
          <p:nvPr/>
        </p:nvSpPr>
        <p:spPr>
          <a:xfrm>
            <a:off x="6638544" y="1298448"/>
            <a:ext cx="1965960" cy="22860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IETF RFC 8345</a:t>
            </a:r>
            <a:endParaRPr lang="en-US" sz="1150" dirty="0"/>
          </a:p>
        </p:txBody>
      </p:sp>
      <p:sp>
        <p:nvSpPr>
          <p:cNvPr id="54" name="Text 49"/>
          <p:cNvSpPr txBox="1"/>
          <p:nvPr/>
        </p:nvSpPr>
        <p:spPr>
          <a:xfrm>
            <a:off x="6638544" y="1527048"/>
            <a:ext cx="1965960" cy="182880"/>
          </a:xfrm>
          <a:prstGeom prst="rect">
            <a:avLst/>
          </a:prstGeom>
          <a:noFill/>
          <a:ln/>
        </p:spPr>
        <p:txBody>
          <a:bodyPr wrap="square" lIns="0" tIns="0" rIns="0" bIns="0" rtlCol="0" anchor="t"/>
          <a:lstStyle/>
          <a:p>
            <a:pPr indent="0" marL="0">
              <a:buNone/>
            </a:pPr>
            <a:r>
              <a:rPr lang="en-US" sz="850" dirty="0">
                <a:solidFill>
                  <a:srgbClr val="5A6B7D"/>
                </a:solidFill>
                <a:latin typeface="Calibri" pitchFamily="34" charset="0"/>
                <a:ea typeface="Calibri" pitchFamily="34" charset="-122"/>
                <a:cs typeface="Calibri" pitchFamily="34" charset="-120"/>
              </a:rPr>
              <a:t>Network topology YANG model</a:t>
            </a:r>
            <a:endParaRPr lang="en-US" sz="850" dirty="0"/>
          </a:p>
        </p:txBody>
      </p:sp>
      <p:sp>
        <p:nvSpPr>
          <p:cNvPr id="55" name="Shape 50"/>
          <p:cNvSpPr/>
          <p:nvPr/>
        </p:nvSpPr>
        <p:spPr>
          <a:xfrm>
            <a:off x="6144768" y="1792224"/>
            <a:ext cx="2432304" cy="777240"/>
          </a:xfrm>
          <a:prstGeom prst="roundRect">
            <a:avLst>
              <a:gd name="adj" fmla="val 7059"/>
            </a:avLst>
          </a:prstGeom>
          <a:solidFill>
            <a:srgbClr val="FFFFFF"/>
          </a:solidFill>
          <a:ln w="12700">
            <a:solidFill>
              <a:srgbClr val="FFFFFF"/>
            </a:solidFill>
            <a:prstDash val="solid"/>
          </a:ln>
        </p:spPr>
      </p:sp>
      <p:sp>
        <p:nvSpPr>
          <p:cNvPr id="56" name="Shape 51"/>
          <p:cNvSpPr/>
          <p:nvPr/>
        </p:nvSpPr>
        <p:spPr>
          <a:xfrm>
            <a:off x="6537960" y="1965960"/>
            <a:ext cx="594360" cy="246888"/>
          </a:xfrm>
          <a:prstGeom prst="line">
            <a:avLst/>
          </a:prstGeom>
          <a:noFill/>
          <a:ln w="19050">
            <a:solidFill>
              <a:srgbClr val="AAB6C2"/>
            </a:solidFill>
            <a:prstDash val="solid"/>
          </a:ln>
        </p:spPr>
      </p:sp>
      <p:sp>
        <p:nvSpPr>
          <p:cNvPr id="57" name="Shape 52"/>
          <p:cNvSpPr/>
          <p:nvPr/>
        </p:nvSpPr>
        <p:spPr>
          <a:xfrm flipV="1">
            <a:off x="7132320" y="1920240"/>
            <a:ext cx="594360" cy="292608"/>
          </a:xfrm>
          <a:prstGeom prst="line">
            <a:avLst/>
          </a:prstGeom>
          <a:noFill/>
          <a:ln w="19050">
            <a:solidFill>
              <a:srgbClr val="AAB6C2"/>
            </a:solidFill>
            <a:prstDash val="solid"/>
          </a:ln>
        </p:spPr>
      </p:sp>
      <p:sp>
        <p:nvSpPr>
          <p:cNvPr id="58" name="Shape 53"/>
          <p:cNvSpPr/>
          <p:nvPr/>
        </p:nvSpPr>
        <p:spPr>
          <a:xfrm>
            <a:off x="7726680" y="1920240"/>
            <a:ext cx="502920" cy="256032"/>
          </a:xfrm>
          <a:prstGeom prst="line">
            <a:avLst/>
          </a:prstGeom>
          <a:noFill/>
          <a:ln w="19050">
            <a:solidFill>
              <a:srgbClr val="AAB6C2"/>
            </a:solidFill>
            <a:prstDash val="solid"/>
          </a:ln>
        </p:spPr>
      </p:sp>
      <p:sp>
        <p:nvSpPr>
          <p:cNvPr id="59" name="Shape 54"/>
          <p:cNvSpPr/>
          <p:nvPr/>
        </p:nvSpPr>
        <p:spPr>
          <a:xfrm flipV="1">
            <a:off x="7132320" y="2176272"/>
            <a:ext cx="1097280" cy="36576"/>
          </a:xfrm>
          <a:prstGeom prst="line">
            <a:avLst/>
          </a:prstGeom>
          <a:noFill/>
          <a:ln w="19050">
            <a:solidFill>
              <a:srgbClr val="AAB6C2"/>
            </a:solidFill>
            <a:prstDash val="solid"/>
          </a:ln>
        </p:spPr>
      </p:sp>
      <p:sp>
        <p:nvSpPr>
          <p:cNvPr id="60" name="Shape 55"/>
          <p:cNvSpPr/>
          <p:nvPr/>
        </p:nvSpPr>
        <p:spPr>
          <a:xfrm>
            <a:off x="6428232" y="1856232"/>
            <a:ext cx="219456" cy="219456"/>
          </a:xfrm>
          <a:prstGeom prst="ellipse">
            <a:avLst/>
          </a:prstGeom>
          <a:solidFill>
            <a:srgbClr val="0FA3B1"/>
          </a:solidFill>
          <a:ln w="19050">
            <a:solidFill>
              <a:srgbClr val="FFFFFF"/>
            </a:solidFill>
            <a:prstDash val="solid"/>
          </a:ln>
        </p:spPr>
      </p:sp>
      <p:sp>
        <p:nvSpPr>
          <p:cNvPr id="61" name="Shape 56"/>
          <p:cNvSpPr/>
          <p:nvPr/>
        </p:nvSpPr>
        <p:spPr>
          <a:xfrm>
            <a:off x="7022592" y="2103120"/>
            <a:ext cx="219456" cy="219456"/>
          </a:xfrm>
          <a:prstGeom prst="ellipse">
            <a:avLst/>
          </a:prstGeom>
          <a:solidFill>
            <a:srgbClr val="0FA3B1"/>
          </a:solidFill>
          <a:ln w="19050">
            <a:solidFill>
              <a:srgbClr val="FFFFFF"/>
            </a:solidFill>
            <a:prstDash val="solid"/>
          </a:ln>
        </p:spPr>
      </p:sp>
      <p:sp>
        <p:nvSpPr>
          <p:cNvPr id="62" name="Shape 57"/>
          <p:cNvSpPr/>
          <p:nvPr/>
        </p:nvSpPr>
        <p:spPr>
          <a:xfrm>
            <a:off x="7616952" y="1810512"/>
            <a:ext cx="219456" cy="219456"/>
          </a:xfrm>
          <a:prstGeom prst="ellipse">
            <a:avLst/>
          </a:prstGeom>
          <a:solidFill>
            <a:srgbClr val="0FA3B1"/>
          </a:solidFill>
          <a:ln w="19050">
            <a:solidFill>
              <a:srgbClr val="FFFFFF"/>
            </a:solidFill>
            <a:prstDash val="solid"/>
          </a:ln>
        </p:spPr>
      </p:sp>
      <p:sp>
        <p:nvSpPr>
          <p:cNvPr id="63" name="Shape 58"/>
          <p:cNvSpPr/>
          <p:nvPr/>
        </p:nvSpPr>
        <p:spPr>
          <a:xfrm>
            <a:off x="8119872" y="2066544"/>
            <a:ext cx="219456" cy="219456"/>
          </a:xfrm>
          <a:prstGeom prst="ellipse">
            <a:avLst/>
          </a:prstGeom>
          <a:solidFill>
            <a:srgbClr val="0FA3B1"/>
          </a:solidFill>
          <a:ln w="19050">
            <a:solidFill>
              <a:srgbClr val="FFFFFF"/>
            </a:solidFill>
            <a:prstDash val="solid"/>
          </a:ln>
        </p:spPr>
      </p:sp>
      <p:sp>
        <p:nvSpPr>
          <p:cNvPr id="64" name="Text 59"/>
          <p:cNvSpPr txBox="1"/>
          <p:nvPr/>
        </p:nvSpPr>
        <p:spPr>
          <a:xfrm>
            <a:off x="6217920" y="2377440"/>
            <a:ext cx="2286000" cy="164592"/>
          </a:xfrm>
          <a:prstGeom prst="rect">
            <a:avLst/>
          </a:prstGeom>
          <a:noFill/>
          <a:ln/>
        </p:spPr>
        <p:txBody>
          <a:bodyPr wrap="square" lIns="0" tIns="0" rIns="0" bIns="0" rtlCol="0" anchor="t"/>
          <a:lstStyle/>
          <a:p>
            <a:pPr algn="ctr" indent="0" marL="0">
              <a:buNone/>
            </a:pPr>
            <a:r>
              <a:rPr lang="en-US" sz="750" b="1" dirty="0">
                <a:solidFill>
                  <a:srgbClr val="5A6B7D"/>
                </a:solidFill>
                <a:latin typeface="Calibri" pitchFamily="34" charset="0"/>
                <a:ea typeface="Calibri" pitchFamily="34" charset="-122"/>
                <a:cs typeface="Calibri" pitchFamily="34" charset="-120"/>
              </a:rPr>
              <a:t>node · link · termination point</a:t>
            </a:r>
            <a:endParaRPr lang="en-US" sz="750" dirty="0"/>
          </a:p>
        </p:txBody>
      </p:sp>
      <p:sp>
        <p:nvSpPr>
          <p:cNvPr id="65" name="Text 60"/>
          <p:cNvSpPr txBox="1"/>
          <p:nvPr/>
        </p:nvSpPr>
        <p:spPr>
          <a:xfrm>
            <a:off x="6172200" y="2670048"/>
            <a:ext cx="2377440" cy="146304"/>
          </a:xfrm>
          <a:prstGeom prst="rect">
            <a:avLst/>
          </a:prstGeom>
          <a:noFill/>
          <a:ln/>
        </p:spPr>
        <p:txBody>
          <a:bodyPr wrap="square" lIns="0" tIns="0" rIns="0" bIns="0" rtlCol="0" anchor="t"/>
          <a:lstStyle/>
          <a:p>
            <a:pPr indent="0" marL="0">
              <a:buNone/>
            </a:pPr>
            <a:r>
              <a:rPr lang="en-US" sz="750" b="1" spc="100" kern="0" dirty="0">
                <a:solidFill>
                  <a:srgbClr val="22A06B"/>
                </a:solidFill>
                <a:latin typeface="Calibri" pitchFamily="34" charset="0"/>
                <a:ea typeface="Calibri" pitchFamily="34" charset="-122"/>
                <a:cs typeface="Calibri" pitchFamily="34" charset="-120"/>
              </a:rPr>
              <a:t>MADE FOR</a:t>
            </a:r>
            <a:endParaRPr lang="en-US" sz="750" dirty="0"/>
          </a:p>
        </p:txBody>
      </p:sp>
      <p:sp>
        <p:nvSpPr>
          <p:cNvPr id="66" name="Text 61"/>
          <p:cNvSpPr txBox="1"/>
          <p:nvPr/>
        </p:nvSpPr>
        <p:spPr>
          <a:xfrm>
            <a:off x="6172200" y="2825496"/>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A vendor-neutral topology model in YANG.</a:t>
            </a:r>
            <a:endParaRPr lang="en-US" sz="900" dirty="0"/>
          </a:p>
        </p:txBody>
      </p:sp>
      <p:sp>
        <p:nvSpPr>
          <p:cNvPr id="67" name="Text 62"/>
          <p:cNvSpPr txBox="1"/>
          <p:nvPr/>
        </p:nvSpPr>
        <p:spPr>
          <a:xfrm>
            <a:off x="6172200" y="3163824"/>
            <a:ext cx="2377440" cy="146304"/>
          </a:xfrm>
          <a:prstGeom prst="rect">
            <a:avLst/>
          </a:prstGeom>
          <a:noFill/>
          <a:ln/>
        </p:spPr>
        <p:txBody>
          <a:bodyPr wrap="square" lIns="0" tIns="0" rIns="0" bIns="0" rtlCol="0" anchor="t"/>
          <a:lstStyle/>
          <a:p>
            <a:pPr indent="0" marL="0">
              <a:buNone/>
            </a:pPr>
            <a:r>
              <a:rPr lang="en-US" sz="750" b="1" spc="100" kern="0" dirty="0">
                <a:solidFill>
                  <a:srgbClr val="22A06B"/>
                </a:solidFill>
                <a:latin typeface="Calibri" pitchFamily="34" charset="0"/>
                <a:ea typeface="Calibri" pitchFamily="34" charset="-122"/>
                <a:cs typeface="Calibri" pitchFamily="34" charset="-120"/>
              </a:rPr>
              <a:t>CAN DO</a:t>
            </a:r>
            <a:endParaRPr lang="en-US" sz="750" dirty="0"/>
          </a:p>
        </p:txBody>
      </p:sp>
      <p:sp>
        <p:nvSpPr>
          <p:cNvPr id="68" name="Text 63"/>
          <p:cNvSpPr txBox="1"/>
          <p:nvPr/>
        </p:nvSpPr>
        <p:spPr>
          <a:xfrm>
            <a:off x="6172200" y="3319272"/>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Nodes, links, ports, layers; per-technology extensions.</a:t>
            </a:r>
            <a:endParaRPr lang="en-US" sz="900" dirty="0"/>
          </a:p>
        </p:txBody>
      </p:sp>
      <p:sp>
        <p:nvSpPr>
          <p:cNvPr id="69" name="Text 64"/>
          <p:cNvSpPr txBox="1"/>
          <p:nvPr/>
        </p:nvSpPr>
        <p:spPr>
          <a:xfrm>
            <a:off x="6172200" y="3657600"/>
            <a:ext cx="2377440" cy="146304"/>
          </a:xfrm>
          <a:prstGeom prst="rect">
            <a:avLst/>
          </a:prstGeom>
          <a:noFill/>
          <a:ln/>
        </p:spPr>
        <p:txBody>
          <a:bodyPr wrap="square" lIns="0" tIns="0" rIns="0" bIns="0" rtlCol="0" anchor="t"/>
          <a:lstStyle/>
          <a:p>
            <a:pPr indent="0" marL="0">
              <a:buNone/>
            </a:pPr>
            <a:r>
              <a:rPr lang="en-US" sz="750" b="1" spc="100" kern="0" dirty="0">
                <a:solidFill>
                  <a:srgbClr val="22A06B"/>
                </a:solidFill>
                <a:latin typeface="Calibri" pitchFamily="34" charset="0"/>
                <a:ea typeface="Calibri" pitchFamily="34" charset="-122"/>
                <a:cs typeface="Calibri" pitchFamily="34" charset="-120"/>
              </a:rPr>
              <a:t>FOR OUR LINK</a:t>
            </a:r>
            <a:endParaRPr lang="en-US" sz="750" dirty="0"/>
          </a:p>
        </p:txBody>
      </p:sp>
      <p:sp>
        <p:nvSpPr>
          <p:cNvPr id="70" name="Text 65"/>
          <p:cNvSpPr txBox="1"/>
          <p:nvPr/>
        </p:nvSpPr>
        <p:spPr>
          <a:xfrm>
            <a:off x="6172200" y="3813048"/>
            <a:ext cx="2377440" cy="457200"/>
          </a:xfrm>
          <a:prstGeom prst="rect">
            <a:avLst/>
          </a:prstGeom>
          <a:noFill/>
          <a:ln/>
        </p:spPr>
        <p:txBody>
          <a:bodyPr wrap="square" lIns="0" tIns="0" rIns="0" bIns="0" rtlCol="0" anchor="t"/>
          <a:lstStyle/>
          <a:p>
            <a:pPr indent="0" marL="0">
              <a:buNone/>
            </a:pPr>
            <a:r>
              <a:rPr lang="en-US" sz="900" b="1" dirty="0">
                <a:solidFill>
                  <a:srgbClr val="1A2B3C"/>
                </a:solidFill>
                <a:latin typeface="Calibri" pitchFamily="34" charset="0"/>
                <a:ea typeface="Calibri" pitchFamily="34" charset="-122"/>
                <a:cs typeface="Calibri" pitchFamily="34" charset="-120"/>
              </a:rPr>
              <a:t>One graph schema shared by TFS and the ns-3 builder.</a:t>
            </a:r>
            <a:endParaRPr lang="en-US" sz="900" dirty="0"/>
          </a:p>
        </p:txBody>
      </p:sp>
      <p:sp>
        <p:nvSpPr>
          <p:cNvPr id="71" name="Shape 66"/>
          <p:cNvSpPr/>
          <p:nvPr/>
        </p:nvSpPr>
        <p:spPr>
          <a:xfrm>
            <a:off x="6144768" y="4206240"/>
            <a:ext cx="2432304" cy="548640"/>
          </a:xfrm>
          <a:prstGeom prst="roundRect">
            <a:avLst>
              <a:gd name="adj" fmla="val 10000"/>
            </a:avLst>
          </a:prstGeom>
          <a:solidFill>
            <a:srgbClr val="0B1D33"/>
          </a:solidFill>
          <a:ln w="12700">
            <a:solidFill>
              <a:srgbClr val="0B1D33"/>
            </a:solidFill>
            <a:prstDash val="solid"/>
          </a:ln>
        </p:spPr>
      </p:sp>
      <p:sp>
        <p:nvSpPr>
          <p:cNvPr id="72" name="Text 67"/>
          <p:cNvSpPr txBox="1"/>
          <p:nvPr/>
        </p:nvSpPr>
        <p:spPr>
          <a:xfrm>
            <a:off x="6236208" y="4206240"/>
            <a:ext cx="2286000" cy="548640"/>
          </a:xfrm>
          <a:prstGeom prst="rect">
            <a:avLst/>
          </a:prstGeom>
          <a:noFill/>
          <a:ln/>
        </p:spPr>
        <p:txBody>
          <a:bodyPr wrap="square" lIns="0" tIns="0" rIns="0" bIns="0" rtlCol="0" anchor="ctr"/>
          <a:lstStyle/>
          <a:p>
            <a:pPr indent="0" marL="0">
              <a:buNone/>
            </a:pPr>
            <a:r>
              <a:rPr lang="en-US" sz="750" dirty="0">
                <a:solidFill>
                  <a:srgbClr val="D6E4F0"/>
                </a:solidFill>
                <a:latin typeface="Courier New" pitchFamily="34" charset="0"/>
                <a:ea typeface="Courier New" pitchFamily="34" charset="-122"/>
                <a:cs typeface="Courier New" pitchFamily="34" charset="-120"/>
              </a:rPr>
              <a:t>node MH-T261-A / tp eth0</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link mw-07 -&gt; MH-T261-B / tp eth0</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 RFC 8561 microwave radio link</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STANDARDS EXPLAINED · 2 OF 2</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The standards that feed and govern it</a:t>
            </a:r>
            <a:endParaRPr lang="en-US" sz="2400" dirty="0"/>
          </a:p>
        </p:txBody>
      </p:sp>
      <p:sp>
        <p:nvSpPr>
          <p:cNvPr id="4" name="Shape 2"/>
          <p:cNvSpPr/>
          <p:nvPr/>
        </p:nvSpPr>
        <p:spPr>
          <a:xfrm>
            <a:off x="457200" y="1188720"/>
            <a:ext cx="2651760" cy="3657600"/>
          </a:xfrm>
          <a:prstGeom prst="roundRect">
            <a:avLst>
              <a:gd name="adj" fmla="val 2759"/>
            </a:avLst>
          </a:prstGeom>
          <a:solidFill>
            <a:srgbClr val="F2F5F8"/>
          </a:solidFill>
          <a:ln w="12700">
            <a:solidFill>
              <a:srgbClr val="F2F5F8"/>
            </a:solidFill>
            <a:prstDash val="solid"/>
          </a:ln>
        </p:spPr>
      </p:sp>
      <p:sp>
        <p:nvSpPr>
          <p:cNvPr id="5" name="Shape 3"/>
          <p:cNvSpPr/>
          <p:nvPr/>
        </p:nvSpPr>
        <p:spPr>
          <a:xfrm>
            <a:off x="594360" y="1316736"/>
            <a:ext cx="384048" cy="384048"/>
          </a:xfrm>
          <a:prstGeom prst="ellipse">
            <a:avLst/>
          </a:prstGeom>
          <a:solidFill>
            <a:srgbClr val="22A06B"/>
          </a:solidFill>
          <a:ln w="12700">
            <a:solidFill>
              <a:srgbClr val="22A06B"/>
            </a:solidFill>
            <a:prstDash val="solid"/>
          </a:ln>
        </p:spPr>
      </p:sp>
      <p:pic>
        <p:nvPicPr>
          <p:cNvPr id="6" name="Image 0" descr="preencoded.png">    </p:cNvPr>
          <p:cNvPicPr>
            <a:picLocks noChangeAspect="1"/>
          </p:cNvPicPr>
          <p:nvPr/>
        </p:nvPicPr>
        <p:blipFill>
          <a:blip r:embed="rId1"/>
          <a:stretch>
            <a:fillRect/>
          </a:stretch>
        </p:blipFill>
        <p:spPr>
          <a:xfrm>
            <a:off x="690372" y="1412748"/>
            <a:ext cx="192024" cy="192024"/>
          </a:xfrm>
          <a:prstGeom prst="rect">
            <a:avLst/>
          </a:prstGeom>
        </p:spPr>
      </p:pic>
      <p:sp>
        <p:nvSpPr>
          <p:cNvPr id="7" name="Text 4"/>
          <p:cNvSpPr txBox="1"/>
          <p:nvPr/>
        </p:nvSpPr>
        <p:spPr>
          <a:xfrm>
            <a:off x="1060704" y="1298448"/>
            <a:ext cx="1965960" cy="22860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IETF RFC 8641</a:t>
            </a:r>
            <a:endParaRPr lang="en-US" sz="1150" dirty="0"/>
          </a:p>
        </p:txBody>
      </p:sp>
      <p:sp>
        <p:nvSpPr>
          <p:cNvPr id="8" name="Text 5"/>
          <p:cNvSpPr txBox="1"/>
          <p:nvPr/>
        </p:nvSpPr>
        <p:spPr>
          <a:xfrm>
            <a:off x="1060704" y="1527048"/>
            <a:ext cx="1965960" cy="182880"/>
          </a:xfrm>
          <a:prstGeom prst="rect">
            <a:avLst/>
          </a:prstGeom>
          <a:noFill/>
          <a:ln/>
        </p:spPr>
        <p:txBody>
          <a:bodyPr wrap="square" lIns="0" tIns="0" rIns="0" bIns="0" rtlCol="0" anchor="t"/>
          <a:lstStyle/>
          <a:p>
            <a:pPr indent="0" marL="0">
              <a:buNone/>
            </a:pPr>
            <a:r>
              <a:rPr lang="en-US" sz="850" dirty="0">
                <a:solidFill>
                  <a:srgbClr val="5A6B7D"/>
                </a:solidFill>
                <a:latin typeface="Calibri" pitchFamily="34" charset="0"/>
                <a:ea typeface="Calibri" pitchFamily="34" charset="-122"/>
                <a:cs typeface="Calibri" pitchFamily="34" charset="-120"/>
              </a:rPr>
              <a:t>YANG-Push subscriptions</a:t>
            </a:r>
            <a:endParaRPr lang="en-US" sz="850" dirty="0"/>
          </a:p>
        </p:txBody>
      </p:sp>
      <p:sp>
        <p:nvSpPr>
          <p:cNvPr id="9" name="Shape 6"/>
          <p:cNvSpPr/>
          <p:nvPr/>
        </p:nvSpPr>
        <p:spPr>
          <a:xfrm>
            <a:off x="566928" y="1792224"/>
            <a:ext cx="2432304" cy="777240"/>
          </a:xfrm>
          <a:prstGeom prst="roundRect">
            <a:avLst>
              <a:gd name="adj" fmla="val 7059"/>
            </a:avLst>
          </a:prstGeom>
          <a:solidFill>
            <a:srgbClr val="FFFFFF"/>
          </a:solidFill>
          <a:ln w="12700">
            <a:solidFill>
              <a:srgbClr val="FFFFFF"/>
            </a:solidFill>
            <a:prstDash val="solid"/>
          </a:ln>
        </p:spPr>
      </p:sp>
      <p:sp>
        <p:nvSpPr>
          <p:cNvPr id="10" name="Shape 7"/>
          <p:cNvSpPr/>
          <p:nvPr/>
        </p:nvSpPr>
        <p:spPr>
          <a:xfrm>
            <a:off x="731520" y="1965960"/>
            <a:ext cx="685800" cy="411480"/>
          </a:xfrm>
          <a:prstGeom prst="roundRect">
            <a:avLst>
              <a:gd name="adj" fmla="val 11111"/>
            </a:avLst>
          </a:prstGeom>
          <a:solidFill>
            <a:srgbClr val="FFFFFF"/>
          </a:solidFill>
          <a:ln w="15875">
            <a:solidFill>
              <a:srgbClr val="22A06B"/>
            </a:solidFill>
            <a:prstDash val="solid"/>
          </a:ln>
        </p:spPr>
      </p:sp>
      <p:sp>
        <p:nvSpPr>
          <p:cNvPr id="11" name="Text 8"/>
          <p:cNvSpPr txBox="1"/>
          <p:nvPr/>
        </p:nvSpPr>
        <p:spPr>
          <a:xfrm>
            <a:off x="731520" y="1965960"/>
            <a:ext cx="685800" cy="41148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Radio</a:t>
            </a:r>
            <a:endParaRPr lang="en-US" sz="850" dirty="0"/>
          </a:p>
        </p:txBody>
      </p:sp>
      <p:sp>
        <p:nvSpPr>
          <p:cNvPr id="12" name="Shape 9"/>
          <p:cNvSpPr/>
          <p:nvPr/>
        </p:nvSpPr>
        <p:spPr>
          <a:xfrm>
            <a:off x="2148840" y="1965960"/>
            <a:ext cx="685800" cy="411480"/>
          </a:xfrm>
          <a:prstGeom prst="roundRect">
            <a:avLst>
              <a:gd name="adj" fmla="val 11111"/>
            </a:avLst>
          </a:prstGeom>
          <a:solidFill>
            <a:srgbClr val="FFFFFF"/>
          </a:solidFill>
          <a:ln w="15875">
            <a:solidFill>
              <a:srgbClr val="E8912D"/>
            </a:solidFill>
            <a:prstDash val="solid"/>
          </a:ln>
        </p:spPr>
      </p:sp>
      <p:sp>
        <p:nvSpPr>
          <p:cNvPr id="13" name="Text 10"/>
          <p:cNvSpPr txBox="1"/>
          <p:nvPr/>
        </p:nvSpPr>
        <p:spPr>
          <a:xfrm>
            <a:off x="2148840" y="1965960"/>
            <a:ext cx="685800" cy="41148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Twin</a:t>
            </a:r>
            <a:endParaRPr lang="en-US" sz="850" dirty="0"/>
          </a:p>
        </p:txBody>
      </p:sp>
      <p:sp>
        <p:nvSpPr>
          <p:cNvPr id="14" name="Shape 11"/>
          <p:cNvSpPr/>
          <p:nvPr/>
        </p:nvSpPr>
        <p:spPr>
          <a:xfrm>
            <a:off x="1463040" y="2029968"/>
            <a:ext cx="640080" cy="0"/>
          </a:xfrm>
          <a:prstGeom prst="line">
            <a:avLst/>
          </a:prstGeom>
          <a:noFill/>
          <a:ln w="22225">
            <a:solidFill>
              <a:srgbClr val="AAB6C2"/>
            </a:solidFill>
            <a:prstDash val="solid"/>
            <a:headEnd type="none"/>
            <a:tailEnd type="triangle"/>
          </a:ln>
        </p:spPr>
      </p:sp>
      <p:sp>
        <p:nvSpPr>
          <p:cNvPr id="15" name="Shape 12"/>
          <p:cNvSpPr/>
          <p:nvPr/>
        </p:nvSpPr>
        <p:spPr>
          <a:xfrm>
            <a:off x="1463040" y="2167128"/>
            <a:ext cx="640080" cy="0"/>
          </a:xfrm>
          <a:prstGeom prst="line">
            <a:avLst/>
          </a:prstGeom>
          <a:noFill/>
          <a:ln w="22225">
            <a:solidFill>
              <a:srgbClr val="22A06B"/>
            </a:solidFill>
            <a:prstDash val="solid"/>
            <a:headEnd type="none"/>
            <a:tailEnd type="triangle"/>
          </a:ln>
        </p:spPr>
      </p:sp>
      <p:sp>
        <p:nvSpPr>
          <p:cNvPr id="16" name="Shape 13"/>
          <p:cNvSpPr/>
          <p:nvPr/>
        </p:nvSpPr>
        <p:spPr>
          <a:xfrm>
            <a:off x="1463040" y="2304288"/>
            <a:ext cx="640080" cy="0"/>
          </a:xfrm>
          <a:prstGeom prst="line">
            <a:avLst/>
          </a:prstGeom>
          <a:noFill/>
          <a:ln w="22225">
            <a:solidFill>
              <a:srgbClr val="AAB6C2"/>
            </a:solidFill>
            <a:prstDash val="solid"/>
            <a:headEnd type="none"/>
            <a:tailEnd type="triangle"/>
          </a:ln>
        </p:spPr>
      </p:sp>
      <p:sp>
        <p:nvSpPr>
          <p:cNvPr id="17" name="Text 14"/>
          <p:cNvSpPr txBox="1"/>
          <p:nvPr/>
        </p:nvSpPr>
        <p:spPr>
          <a:xfrm>
            <a:off x="640080" y="2395728"/>
            <a:ext cx="2286000" cy="164592"/>
          </a:xfrm>
          <a:prstGeom prst="rect">
            <a:avLst/>
          </a:prstGeom>
          <a:noFill/>
          <a:ln/>
        </p:spPr>
        <p:txBody>
          <a:bodyPr wrap="square" lIns="0" tIns="0" rIns="0" bIns="0" rtlCol="0" anchor="t"/>
          <a:lstStyle/>
          <a:p>
            <a:pPr algn="ctr" indent="0" marL="0">
              <a:buNone/>
            </a:pPr>
            <a:r>
              <a:rPr lang="en-US" sz="750" b="1" dirty="0">
                <a:solidFill>
                  <a:srgbClr val="22A06B"/>
                </a:solidFill>
                <a:latin typeface="Calibri" pitchFamily="34" charset="0"/>
                <a:ea typeface="Calibri" pitchFamily="34" charset="-122"/>
                <a:cs typeface="Calibri" pitchFamily="34" charset="-120"/>
              </a:rPr>
              <a:t>periodic · on-change</a:t>
            </a:r>
            <a:endParaRPr lang="en-US" sz="750" dirty="0"/>
          </a:p>
        </p:txBody>
      </p:sp>
      <p:sp>
        <p:nvSpPr>
          <p:cNvPr id="18" name="Text 15"/>
          <p:cNvSpPr txBox="1"/>
          <p:nvPr/>
        </p:nvSpPr>
        <p:spPr>
          <a:xfrm>
            <a:off x="594360" y="2670048"/>
            <a:ext cx="2377440" cy="146304"/>
          </a:xfrm>
          <a:prstGeom prst="rect">
            <a:avLst/>
          </a:prstGeom>
          <a:noFill/>
          <a:ln/>
        </p:spPr>
        <p:txBody>
          <a:bodyPr wrap="square" lIns="0" tIns="0" rIns="0" bIns="0" rtlCol="0" anchor="t"/>
          <a:lstStyle/>
          <a:p>
            <a:pPr indent="0" marL="0">
              <a:buNone/>
            </a:pPr>
            <a:r>
              <a:rPr lang="en-US" sz="750" b="1" spc="100" kern="0" dirty="0">
                <a:solidFill>
                  <a:srgbClr val="22A06B"/>
                </a:solidFill>
                <a:latin typeface="Calibri" pitchFamily="34" charset="0"/>
                <a:ea typeface="Calibri" pitchFamily="34" charset="-122"/>
                <a:cs typeface="Calibri" pitchFamily="34" charset="-120"/>
              </a:rPr>
              <a:t>MADE FOR</a:t>
            </a:r>
            <a:endParaRPr lang="en-US" sz="750" dirty="0"/>
          </a:p>
        </p:txBody>
      </p:sp>
      <p:sp>
        <p:nvSpPr>
          <p:cNvPr id="19" name="Text 16"/>
          <p:cNvSpPr txBox="1"/>
          <p:nvPr/>
        </p:nvSpPr>
        <p:spPr>
          <a:xfrm>
            <a:off x="594360" y="2825496"/>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Streaming datastore changes instead of polling.</a:t>
            </a:r>
            <a:endParaRPr lang="en-US" sz="900" dirty="0"/>
          </a:p>
        </p:txBody>
      </p:sp>
      <p:sp>
        <p:nvSpPr>
          <p:cNvPr id="20" name="Text 17"/>
          <p:cNvSpPr txBox="1"/>
          <p:nvPr/>
        </p:nvSpPr>
        <p:spPr>
          <a:xfrm>
            <a:off x="594360" y="3163824"/>
            <a:ext cx="2377440" cy="146304"/>
          </a:xfrm>
          <a:prstGeom prst="rect">
            <a:avLst/>
          </a:prstGeom>
          <a:noFill/>
          <a:ln/>
        </p:spPr>
        <p:txBody>
          <a:bodyPr wrap="square" lIns="0" tIns="0" rIns="0" bIns="0" rtlCol="0" anchor="t"/>
          <a:lstStyle/>
          <a:p>
            <a:pPr indent="0" marL="0">
              <a:buNone/>
            </a:pPr>
            <a:r>
              <a:rPr lang="en-US" sz="750" b="1" spc="100" kern="0" dirty="0">
                <a:solidFill>
                  <a:srgbClr val="22A06B"/>
                </a:solidFill>
                <a:latin typeface="Calibri" pitchFamily="34" charset="0"/>
                <a:ea typeface="Calibri" pitchFamily="34" charset="-122"/>
                <a:cs typeface="Calibri" pitchFamily="34" charset="-120"/>
              </a:rPr>
              <a:t>CAN DO</a:t>
            </a:r>
            <a:endParaRPr lang="en-US" sz="750" dirty="0"/>
          </a:p>
        </p:txBody>
      </p:sp>
      <p:sp>
        <p:nvSpPr>
          <p:cNvPr id="21" name="Text 18"/>
          <p:cNvSpPr txBox="1"/>
          <p:nvPr/>
        </p:nvSpPr>
        <p:spPr>
          <a:xfrm>
            <a:off x="594360" y="3319272"/>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Periodic or on-change subscriptions to any YANG path.</a:t>
            </a:r>
            <a:endParaRPr lang="en-US" sz="900" dirty="0"/>
          </a:p>
        </p:txBody>
      </p:sp>
      <p:sp>
        <p:nvSpPr>
          <p:cNvPr id="22" name="Text 19"/>
          <p:cNvSpPr txBox="1"/>
          <p:nvPr/>
        </p:nvSpPr>
        <p:spPr>
          <a:xfrm>
            <a:off x="594360" y="3657600"/>
            <a:ext cx="2377440" cy="146304"/>
          </a:xfrm>
          <a:prstGeom prst="rect">
            <a:avLst/>
          </a:prstGeom>
          <a:noFill/>
          <a:ln/>
        </p:spPr>
        <p:txBody>
          <a:bodyPr wrap="square" lIns="0" tIns="0" rIns="0" bIns="0" rtlCol="0" anchor="t"/>
          <a:lstStyle/>
          <a:p>
            <a:pPr indent="0" marL="0">
              <a:buNone/>
            </a:pPr>
            <a:r>
              <a:rPr lang="en-US" sz="750" b="1" spc="100" kern="0" dirty="0">
                <a:solidFill>
                  <a:srgbClr val="22A06B"/>
                </a:solidFill>
                <a:latin typeface="Calibri" pitchFamily="34" charset="0"/>
                <a:ea typeface="Calibri" pitchFamily="34" charset="-122"/>
                <a:cs typeface="Calibri" pitchFamily="34" charset="-120"/>
              </a:rPr>
              <a:t>FOR OUR LINK</a:t>
            </a:r>
            <a:endParaRPr lang="en-US" sz="750" dirty="0"/>
          </a:p>
        </p:txBody>
      </p:sp>
      <p:sp>
        <p:nvSpPr>
          <p:cNvPr id="23" name="Text 20"/>
          <p:cNvSpPr txBox="1"/>
          <p:nvPr/>
        </p:nvSpPr>
        <p:spPr>
          <a:xfrm>
            <a:off x="594360" y="3813048"/>
            <a:ext cx="2377440" cy="457200"/>
          </a:xfrm>
          <a:prstGeom prst="rect">
            <a:avLst/>
          </a:prstGeom>
          <a:noFill/>
          <a:ln/>
        </p:spPr>
        <p:txBody>
          <a:bodyPr wrap="square" lIns="0" tIns="0" rIns="0" bIns="0" rtlCol="0" anchor="t"/>
          <a:lstStyle/>
          <a:p>
            <a:pPr indent="0" marL="0">
              <a:buNone/>
            </a:pPr>
            <a:r>
              <a:rPr lang="en-US" sz="900" b="1" dirty="0">
                <a:solidFill>
                  <a:srgbClr val="1A2B3C"/>
                </a:solidFill>
                <a:latin typeface="Calibri" pitchFamily="34" charset="0"/>
                <a:ea typeface="Calibri" pitchFamily="34" charset="-122"/>
                <a:cs typeface="Calibri" pitchFamily="34" charset="-120"/>
              </a:rPr>
              <a:t>RF changes reach the twin as they happen.</a:t>
            </a:r>
            <a:endParaRPr lang="en-US" sz="900" dirty="0"/>
          </a:p>
        </p:txBody>
      </p:sp>
      <p:sp>
        <p:nvSpPr>
          <p:cNvPr id="24" name="Shape 21"/>
          <p:cNvSpPr/>
          <p:nvPr/>
        </p:nvSpPr>
        <p:spPr>
          <a:xfrm>
            <a:off x="566928" y="4206240"/>
            <a:ext cx="2432304" cy="548640"/>
          </a:xfrm>
          <a:prstGeom prst="roundRect">
            <a:avLst>
              <a:gd name="adj" fmla="val 10000"/>
            </a:avLst>
          </a:prstGeom>
          <a:solidFill>
            <a:srgbClr val="0B1D33"/>
          </a:solidFill>
          <a:ln w="12700">
            <a:solidFill>
              <a:srgbClr val="0B1D33"/>
            </a:solidFill>
            <a:prstDash val="solid"/>
          </a:ln>
        </p:spPr>
      </p:sp>
      <p:sp>
        <p:nvSpPr>
          <p:cNvPr id="25" name="Text 22"/>
          <p:cNvSpPr txBox="1"/>
          <p:nvPr/>
        </p:nvSpPr>
        <p:spPr>
          <a:xfrm>
            <a:off x="658368" y="4206240"/>
            <a:ext cx="2286000" cy="548640"/>
          </a:xfrm>
          <a:prstGeom prst="rect">
            <a:avLst/>
          </a:prstGeom>
          <a:noFill/>
          <a:ln/>
        </p:spPr>
        <p:txBody>
          <a:bodyPr wrap="square" lIns="0" tIns="0" rIns="0" bIns="0" rtlCol="0" anchor="ctr"/>
          <a:lstStyle/>
          <a:p>
            <a:pPr indent="0" marL="0">
              <a:buNone/>
            </a:pPr>
            <a:r>
              <a:rPr lang="en-US" sz="750" dirty="0">
                <a:solidFill>
                  <a:srgbClr val="D6E4F0"/>
                </a:solidFill>
                <a:latin typeface="Courier New" pitchFamily="34" charset="0"/>
                <a:ea typeface="Courier New" pitchFamily="34" charset="-122"/>
                <a:cs typeface="Courier New" pitchFamily="34" charset="-120"/>
              </a:rPr>
              <a:t>subscribe radio-link/rssi</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  periodic 1 s | on-change</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-&gt; resync twin when MCS drops</a:t>
            </a:r>
            <a:endParaRPr lang="en-US" sz="750" dirty="0"/>
          </a:p>
        </p:txBody>
      </p:sp>
      <p:sp>
        <p:nvSpPr>
          <p:cNvPr id="26" name="Shape 23"/>
          <p:cNvSpPr/>
          <p:nvPr/>
        </p:nvSpPr>
        <p:spPr>
          <a:xfrm>
            <a:off x="3246120" y="1188720"/>
            <a:ext cx="2651760" cy="3657600"/>
          </a:xfrm>
          <a:prstGeom prst="roundRect">
            <a:avLst>
              <a:gd name="adj" fmla="val 2759"/>
            </a:avLst>
          </a:prstGeom>
          <a:solidFill>
            <a:srgbClr val="F2F5F8"/>
          </a:solidFill>
          <a:ln w="12700">
            <a:solidFill>
              <a:srgbClr val="F2F5F8"/>
            </a:solidFill>
            <a:prstDash val="solid"/>
          </a:ln>
        </p:spPr>
      </p:sp>
      <p:sp>
        <p:nvSpPr>
          <p:cNvPr id="27" name="Shape 24"/>
          <p:cNvSpPr/>
          <p:nvPr/>
        </p:nvSpPr>
        <p:spPr>
          <a:xfrm>
            <a:off x="3383280" y="1316736"/>
            <a:ext cx="384048" cy="384048"/>
          </a:xfrm>
          <a:prstGeom prst="ellipse">
            <a:avLst/>
          </a:prstGeom>
          <a:solidFill>
            <a:srgbClr val="7C5CFF"/>
          </a:solidFill>
          <a:ln w="12700">
            <a:solidFill>
              <a:srgbClr val="7C5CFF"/>
            </a:solidFill>
            <a:prstDash val="solid"/>
          </a:ln>
        </p:spPr>
      </p:sp>
      <p:pic>
        <p:nvPicPr>
          <p:cNvPr id="28" name="Image 1" descr="preencoded.png">    </p:cNvPr>
          <p:cNvPicPr>
            <a:picLocks noChangeAspect="1"/>
          </p:cNvPicPr>
          <p:nvPr/>
        </p:nvPicPr>
        <p:blipFill>
          <a:blip r:embed="rId2"/>
          <a:stretch>
            <a:fillRect/>
          </a:stretch>
        </p:blipFill>
        <p:spPr>
          <a:xfrm>
            <a:off x="3479292" y="1412748"/>
            <a:ext cx="192024" cy="192024"/>
          </a:xfrm>
          <a:prstGeom prst="rect">
            <a:avLst/>
          </a:prstGeom>
        </p:spPr>
      </p:pic>
      <p:sp>
        <p:nvSpPr>
          <p:cNvPr id="29" name="Text 25"/>
          <p:cNvSpPr txBox="1"/>
          <p:nvPr/>
        </p:nvSpPr>
        <p:spPr>
          <a:xfrm>
            <a:off x="3849624" y="1298448"/>
            <a:ext cx="1965960" cy="22860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3GPP TS 28.105</a:t>
            </a:r>
            <a:endParaRPr lang="en-US" sz="1150" dirty="0"/>
          </a:p>
        </p:txBody>
      </p:sp>
      <p:sp>
        <p:nvSpPr>
          <p:cNvPr id="30" name="Text 26"/>
          <p:cNvSpPr txBox="1"/>
          <p:nvPr/>
        </p:nvSpPr>
        <p:spPr>
          <a:xfrm>
            <a:off x="3849624" y="1527048"/>
            <a:ext cx="1965960" cy="182880"/>
          </a:xfrm>
          <a:prstGeom prst="rect">
            <a:avLst/>
          </a:prstGeom>
          <a:noFill/>
          <a:ln/>
        </p:spPr>
        <p:txBody>
          <a:bodyPr wrap="square" lIns="0" tIns="0" rIns="0" bIns="0" rtlCol="0" anchor="t"/>
          <a:lstStyle/>
          <a:p>
            <a:pPr indent="0" marL="0">
              <a:buNone/>
            </a:pPr>
            <a:r>
              <a:rPr lang="en-US" sz="850" dirty="0">
                <a:solidFill>
                  <a:srgbClr val="5A6B7D"/>
                </a:solidFill>
                <a:latin typeface="Calibri" pitchFamily="34" charset="0"/>
                <a:ea typeface="Calibri" pitchFamily="34" charset="-122"/>
                <a:cs typeface="Calibri" pitchFamily="34" charset="-120"/>
              </a:rPr>
              <a:t>AI/ML management</a:t>
            </a:r>
            <a:endParaRPr lang="en-US" sz="850" dirty="0"/>
          </a:p>
        </p:txBody>
      </p:sp>
      <p:sp>
        <p:nvSpPr>
          <p:cNvPr id="31" name="Shape 27"/>
          <p:cNvSpPr/>
          <p:nvPr/>
        </p:nvSpPr>
        <p:spPr>
          <a:xfrm>
            <a:off x="3355848" y="1792224"/>
            <a:ext cx="2432304" cy="777240"/>
          </a:xfrm>
          <a:prstGeom prst="roundRect">
            <a:avLst>
              <a:gd name="adj" fmla="val 7059"/>
            </a:avLst>
          </a:prstGeom>
          <a:solidFill>
            <a:srgbClr val="FFFFFF"/>
          </a:solidFill>
          <a:ln w="12700">
            <a:solidFill>
              <a:srgbClr val="FFFFFF"/>
            </a:solidFill>
            <a:prstDash val="solid"/>
          </a:ln>
        </p:spPr>
      </p:sp>
      <p:sp>
        <p:nvSpPr>
          <p:cNvPr id="32" name="Shape 28"/>
          <p:cNvSpPr/>
          <p:nvPr/>
        </p:nvSpPr>
        <p:spPr>
          <a:xfrm>
            <a:off x="3429000" y="1993392"/>
            <a:ext cx="475488" cy="329184"/>
          </a:xfrm>
          <a:prstGeom prst="roundRect">
            <a:avLst>
              <a:gd name="adj" fmla="val 16667"/>
            </a:avLst>
          </a:prstGeom>
          <a:solidFill>
            <a:srgbClr val="14304F"/>
          </a:solidFill>
          <a:ln w="12700">
            <a:solidFill>
              <a:srgbClr val="14304F"/>
            </a:solidFill>
            <a:prstDash val="solid"/>
          </a:ln>
        </p:spPr>
      </p:sp>
      <p:sp>
        <p:nvSpPr>
          <p:cNvPr id="33" name="Text 29"/>
          <p:cNvSpPr txBox="1"/>
          <p:nvPr/>
        </p:nvSpPr>
        <p:spPr>
          <a:xfrm>
            <a:off x="3429000" y="1993392"/>
            <a:ext cx="475488"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Train</a:t>
            </a:r>
            <a:endParaRPr lang="en-US" sz="750" dirty="0"/>
          </a:p>
        </p:txBody>
      </p:sp>
      <p:sp>
        <p:nvSpPr>
          <p:cNvPr id="34" name="Shape 30"/>
          <p:cNvSpPr/>
          <p:nvPr/>
        </p:nvSpPr>
        <p:spPr>
          <a:xfrm>
            <a:off x="3913632" y="2157984"/>
            <a:ext cx="109728" cy="0"/>
          </a:xfrm>
          <a:prstGeom prst="line">
            <a:avLst/>
          </a:prstGeom>
          <a:noFill/>
          <a:ln w="22225">
            <a:solidFill>
              <a:srgbClr val="5A6B7D"/>
            </a:solidFill>
            <a:prstDash val="solid"/>
            <a:headEnd type="none"/>
            <a:tailEnd type="triangle"/>
          </a:ln>
        </p:spPr>
      </p:sp>
      <p:sp>
        <p:nvSpPr>
          <p:cNvPr id="35" name="Shape 31"/>
          <p:cNvSpPr/>
          <p:nvPr/>
        </p:nvSpPr>
        <p:spPr>
          <a:xfrm>
            <a:off x="4032504" y="1993392"/>
            <a:ext cx="475488" cy="329184"/>
          </a:xfrm>
          <a:prstGeom prst="roundRect">
            <a:avLst>
              <a:gd name="adj" fmla="val 16667"/>
            </a:avLst>
          </a:prstGeom>
          <a:solidFill>
            <a:srgbClr val="14304F"/>
          </a:solidFill>
          <a:ln w="12700">
            <a:solidFill>
              <a:srgbClr val="14304F"/>
            </a:solidFill>
            <a:prstDash val="solid"/>
          </a:ln>
        </p:spPr>
      </p:sp>
      <p:sp>
        <p:nvSpPr>
          <p:cNvPr id="36" name="Text 32"/>
          <p:cNvSpPr txBox="1"/>
          <p:nvPr/>
        </p:nvSpPr>
        <p:spPr>
          <a:xfrm>
            <a:off x="4032504" y="1993392"/>
            <a:ext cx="475488"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Test</a:t>
            </a:r>
            <a:endParaRPr lang="en-US" sz="750" dirty="0"/>
          </a:p>
        </p:txBody>
      </p:sp>
      <p:sp>
        <p:nvSpPr>
          <p:cNvPr id="37" name="Shape 33"/>
          <p:cNvSpPr/>
          <p:nvPr/>
        </p:nvSpPr>
        <p:spPr>
          <a:xfrm>
            <a:off x="4517136" y="2157984"/>
            <a:ext cx="109728" cy="0"/>
          </a:xfrm>
          <a:prstGeom prst="line">
            <a:avLst/>
          </a:prstGeom>
          <a:noFill/>
          <a:ln w="22225">
            <a:solidFill>
              <a:srgbClr val="5A6B7D"/>
            </a:solidFill>
            <a:prstDash val="solid"/>
            <a:headEnd type="none"/>
            <a:tailEnd type="triangle"/>
          </a:ln>
        </p:spPr>
      </p:sp>
      <p:sp>
        <p:nvSpPr>
          <p:cNvPr id="38" name="Shape 34"/>
          <p:cNvSpPr/>
          <p:nvPr/>
        </p:nvSpPr>
        <p:spPr>
          <a:xfrm>
            <a:off x="4636008" y="1993392"/>
            <a:ext cx="475488" cy="329184"/>
          </a:xfrm>
          <a:prstGeom prst="roundRect">
            <a:avLst>
              <a:gd name="adj" fmla="val 16667"/>
            </a:avLst>
          </a:prstGeom>
          <a:solidFill>
            <a:srgbClr val="E8912D"/>
          </a:solidFill>
          <a:ln w="12700">
            <a:solidFill>
              <a:srgbClr val="E8912D"/>
            </a:solidFill>
            <a:prstDash val="solid"/>
          </a:ln>
        </p:spPr>
      </p:sp>
      <p:sp>
        <p:nvSpPr>
          <p:cNvPr id="39" name="Text 35"/>
          <p:cNvSpPr txBox="1"/>
          <p:nvPr/>
        </p:nvSpPr>
        <p:spPr>
          <a:xfrm>
            <a:off x="4636008" y="1993392"/>
            <a:ext cx="475488"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Emulate</a:t>
            </a:r>
            <a:endParaRPr lang="en-US" sz="750" dirty="0"/>
          </a:p>
        </p:txBody>
      </p:sp>
      <p:sp>
        <p:nvSpPr>
          <p:cNvPr id="40" name="Shape 36"/>
          <p:cNvSpPr/>
          <p:nvPr/>
        </p:nvSpPr>
        <p:spPr>
          <a:xfrm>
            <a:off x="5120640" y="2157984"/>
            <a:ext cx="109728" cy="0"/>
          </a:xfrm>
          <a:prstGeom prst="line">
            <a:avLst/>
          </a:prstGeom>
          <a:noFill/>
          <a:ln w="22225">
            <a:solidFill>
              <a:srgbClr val="5A6B7D"/>
            </a:solidFill>
            <a:prstDash val="solid"/>
            <a:headEnd type="none"/>
            <a:tailEnd type="triangle"/>
          </a:ln>
        </p:spPr>
      </p:sp>
      <p:sp>
        <p:nvSpPr>
          <p:cNvPr id="41" name="Shape 37"/>
          <p:cNvSpPr/>
          <p:nvPr/>
        </p:nvSpPr>
        <p:spPr>
          <a:xfrm>
            <a:off x="5239512" y="1993392"/>
            <a:ext cx="475488" cy="329184"/>
          </a:xfrm>
          <a:prstGeom prst="roundRect">
            <a:avLst>
              <a:gd name="adj" fmla="val 16667"/>
            </a:avLst>
          </a:prstGeom>
          <a:solidFill>
            <a:srgbClr val="14304F"/>
          </a:solidFill>
          <a:ln w="12700">
            <a:solidFill>
              <a:srgbClr val="14304F"/>
            </a:solidFill>
            <a:prstDash val="solid"/>
          </a:ln>
        </p:spPr>
      </p:sp>
      <p:sp>
        <p:nvSpPr>
          <p:cNvPr id="42" name="Text 38"/>
          <p:cNvSpPr txBox="1"/>
          <p:nvPr/>
        </p:nvSpPr>
        <p:spPr>
          <a:xfrm>
            <a:off x="5239512" y="1993392"/>
            <a:ext cx="475488"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Deploy</a:t>
            </a:r>
            <a:endParaRPr lang="en-US" sz="750" dirty="0"/>
          </a:p>
        </p:txBody>
      </p:sp>
      <p:sp>
        <p:nvSpPr>
          <p:cNvPr id="43" name="Text 39"/>
          <p:cNvSpPr txBox="1"/>
          <p:nvPr/>
        </p:nvSpPr>
        <p:spPr>
          <a:xfrm>
            <a:off x="3429000" y="2395728"/>
            <a:ext cx="2286000" cy="164592"/>
          </a:xfrm>
          <a:prstGeom prst="rect">
            <a:avLst/>
          </a:prstGeom>
          <a:noFill/>
          <a:ln/>
        </p:spPr>
        <p:txBody>
          <a:bodyPr wrap="square" lIns="0" tIns="0" rIns="0" bIns="0" rtlCol="0" anchor="t"/>
          <a:lstStyle/>
          <a:p>
            <a:pPr algn="ctr" indent="0" marL="0">
              <a:buNone/>
            </a:pPr>
            <a:r>
              <a:rPr lang="en-US" sz="750" b="1" dirty="0">
                <a:solidFill>
                  <a:srgbClr val="E8912D"/>
                </a:solidFill>
                <a:latin typeface="Calibri" pitchFamily="34" charset="0"/>
                <a:ea typeface="Calibri" pitchFamily="34" charset="-122"/>
                <a:cs typeface="Calibri" pitchFamily="34" charset="-120"/>
              </a:rPr>
              <a:t>emulation = the twin run</a:t>
            </a:r>
            <a:endParaRPr lang="en-US" sz="750" dirty="0"/>
          </a:p>
        </p:txBody>
      </p:sp>
      <p:sp>
        <p:nvSpPr>
          <p:cNvPr id="44" name="Text 40"/>
          <p:cNvSpPr txBox="1"/>
          <p:nvPr/>
        </p:nvSpPr>
        <p:spPr>
          <a:xfrm>
            <a:off x="3383280" y="2670048"/>
            <a:ext cx="2377440" cy="146304"/>
          </a:xfrm>
          <a:prstGeom prst="rect">
            <a:avLst/>
          </a:prstGeom>
          <a:noFill/>
          <a:ln/>
        </p:spPr>
        <p:txBody>
          <a:bodyPr wrap="square" lIns="0" tIns="0" rIns="0" bIns="0" rtlCol="0" anchor="t"/>
          <a:lstStyle/>
          <a:p>
            <a:pPr indent="0" marL="0">
              <a:buNone/>
            </a:pPr>
            <a:r>
              <a:rPr lang="en-US" sz="750" b="1" spc="100" kern="0" dirty="0">
                <a:solidFill>
                  <a:srgbClr val="7C5CFF"/>
                </a:solidFill>
                <a:latin typeface="Calibri" pitchFamily="34" charset="0"/>
                <a:ea typeface="Calibri" pitchFamily="34" charset="-122"/>
                <a:cs typeface="Calibri" pitchFamily="34" charset="-120"/>
              </a:rPr>
              <a:t>MADE FOR</a:t>
            </a:r>
            <a:endParaRPr lang="en-US" sz="750" dirty="0"/>
          </a:p>
        </p:txBody>
      </p:sp>
      <p:sp>
        <p:nvSpPr>
          <p:cNvPr id="45" name="Text 41"/>
          <p:cNvSpPr txBox="1"/>
          <p:nvPr/>
        </p:nvSpPr>
        <p:spPr>
          <a:xfrm>
            <a:off x="3383280" y="2825496"/>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Managing ML models across their whole lifecycle.</a:t>
            </a:r>
            <a:endParaRPr lang="en-US" sz="900" dirty="0"/>
          </a:p>
        </p:txBody>
      </p:sp>
      <p:sp>
        <p:nvSpPr>
          <p:cNvPr id="46" name="Text 42"/>
          <p:cNvSpPr txBox="1"/>
          <p:nvPr/>
        </p:nvSpPr>
        <p:spPr>
          <a:xfrm>
            <a:off x="3383280" y="3163824"/>
            <a:ext cx="2377440" cy="146304"/>
          </a:xfrm>
          <a:prstGeom prst="rect">
            <a:avLst/>
          </a:prstGeom>
          <a:noFill/>
          <a:ln/>
        </p:spPr>
        <p:txBody>
          <a:bodyPr wrap="square" lIns="0" tIns="0" rIns="0" bIns="0" rtlCol="0" anchor="t"/>
          <a:lstStyle/>
          <a:p>
            <a:pPr indent="0" marL="0">
              <a:buNone/>
            </a:pPr>
            <a:r>
              <a:rPr lang="en-US" sz="750" b="1" spc="100" kern="0" dirty="0">
                <a:solidFill>
                  <a:srgbClr val="7C5CFF"/>
                </a:solidFill>
                <a:latin typeface="Calibri" pitchFamily="34" charset="0"/>
                <a:ea typeface="Calibri" pitchFamily="34" charset="-122"/>
                <a:cs typeface="Calibri" pitchFamily="34" charset="-120"/>
              </a:rPr>
              <a:t>CAN DO</a:t>
            </a:r>
            <a:endParaRPr lang="en-US" sz="750" dirty="0"/>
          </a:p>
        </p:txBody>
      </p:sp>
      <p:sp>
        <p:nvSpPr>
          <p:cNvPr id="47" name="Text 43"/>
          <p:cNvSpPr txBox="1"/>
          <p:nvPr/>
        </p:nvSpPr>
        <p:spPr>
          <a:xfrm>
            <a:off x="3383280" y="3319272"/>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Train, test, emulate (Rel-19), deploy, monitor.</a:t>
            </a:r>
            <a:endParaRPr lang="en-US" sz="900" dirty="0"/>
          </a:p>
        </p:txBody>
      </p:sp>
      <p:sp>
        <p:nvSpPr>
          <p:cNvPr id="48" name="Text 44"/>
          <p:cNvSpPr txBox="1"/>
          <p:nvPr/>
        </p:nvSpPr>
        <p:spPr>
          <a:xfrm>
            <a:off x="3383280" y="3657600"/>
            <a:ext cx="2377440" cy="146304"/>
          </a:xfrm>
          <a:prstGeom prst="rect">
            <a:avLst/>
          </a:prstGeom>
          <a:noFill/>
          <a:ln/>
        </p:spPr>
        <p:txBody>
          <a:bodyPr wrap="square" lIns="0" tIns="0" rIns="0" bIns="0" rtlCol="0" anchor="t"/>
          <a:lstStyle/>
          <a:p>
            <a:pPr indent="0" marL="0">
              <a:buNone/>
            </a:pPr>
            <a:r>
              <a:rPr lang="en-US" sz="750" b="1" spc="100" kern="0" dirty="0">
                <a:solidFill>
                  <a:srgbClr val="7C5CFF"/>
                </a:solidFill>
                <a:latin typeface="Calibri" pitchFamily="34" charset="0"/>
                <a:ea typeface="Calibri" pitchFamily="34" charset="-122"/>
                <a:cs typeface="Calibri" pitchFamily="34" charset="-120"/>
              </a:rPr>
              <a:t>FOR OUR LINK</a:t>
            </a:r>
            <a:endParaRPr lang="en-US" sz="750" dirty="0"/>
          </a:p>
        </p:txBody>
      </p:sp>
      <p:sp>
        <p:nvSpPr>
          <p:cNvPr id="49" name="Text 45"/>
          <p:cNvSpPr txBox="1"/>
          <p:nvPr/>
        </p:nvSpPr>
        <p:spPr>
          <a:xfrm>
            <a:off x="3383280" y="3813048"/>
            <a:ext cx="2377440" cy="457200"/>
          </a:xfrm>
          <a:prstGeom prst="rect">
            <a:avLst/>
          </a:prstGeom>
          <a:noFill/>
          <a:ln/>
        </p:spPr>
        <p:txBody>
          <a:bodyPr wrap="square" lIns="0" tIns="0" rIns="0" bIns="0" rtlCol="0" anchor="t"/>
          <a:lstStyle/>
          <a:p>
            <a:pPr indent="0" marL="0">
              <a:buNone/>
            </a:pPr>
            <a:r>
              <a:rPr lang="en-US" sz="900" b="1" dirty="0">
                <a:solidFill>
                  <a:srgbClr val="1A2B3C"/>
                </a:solidFill>
                <a:latin typeface="Calibri" pitchFamily="34" charset="0"/>
                <a:ea typeface="Calibri" pitchFamily="34" charset="-122"/>
                <a:cs typeface="Calibri" pitchFamily="34" charset="-120"/>
              </a:rPr>
              <a:t>Python models are tested in the ns-3 twin before deploy.</a:t>
            </a:r>
            <a:endParaRPr lang="en-US" sz="900" dirty="0"/>
          </a:p>
        </p:txBody>
      </p:sp>
      <p:sp>
        <p:nvSpPr>
          <p:cNvPr id="50" name="Shape 46"/>
          <p:cNvSpPr/>
          <p:nvPr/>
        </p:nvSpPr>
        <p:spPr>
          <a:xfrm>
            <a:off x="3355848" y="4206240"/>
            <a:ext cx="2432304" cy="548640"/>
          </a:xfrm>
          <a:prstGeom prst="roundRect">
            <a:avLst>
              <a:gd name="adj" fmla="val 10000"/>
            </a:avLst>
          </a:prstGeom>
          <a:solidFill>
            <a:srgbClr val="0B1D33"/>
          </a:solidFill>
          <a:ln w="12700">
            <a:solidFill>
              <a:srgbClr val="0B1D33"/>
            </a:solidFill>
            <a:prstDash val="solid"/>
          </a:ln>
        </p:spPr>
      </p:sp>
      <p:sp>
        <p:nvSpPr>
          <p:cNvPr id="51" name="Text 47"/>
          <p:cNvSpPr txBox="1"/>
          <p:nvPr/>
        </p:nvSpPr>
        <p:spPr>
          <a:xfrm>
            <a:off x="3447288" y="4206240"/>
            <a:ext cx="2286000" cy="548640"/>
          </a:xfrm>
          <a:prstGeom prst="rect">
            <a:avLst/>
          </a:prstGeom>
          <a:noFill/>
          <a:ln/>
        </p:spPr>
        <p:txBody>
          <a:bodyPr wrap="square" lIns="0" tIns="0" rIns="0" bIns="0" rtlCol="0" anchor="ctr"/>
          <a:lstStyle/>
          <a:p>
            <a:pPr indent="0" marL="0">
              <a:buNone/>
            </a:pPr>
            <a:r>
              <a:rPr lang="en-US" sz="750" dirty="0">
                <a:solidFill>
                  <a:srgbClr val="D6E4F0"/>
                </a:solidFill>
                <a:latin typeface="Courier New" pitchFamily="34" charset="0"/>
                <a:ea typeface="Courier New" pitchFamily="34" charset="-122"/>
                <a:cs typeface="Courier New" pitchFamily="34" charset="-120"/>
              </a:rPr>
              <a:t>ML entity: mappo-relay v3</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train -&gt; emulate: storm scenario</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deploy only if KPIs pass</a:t>
            </a:r>
            <a:endParaRPr lang="en-US" sz="750" dirty="0"/>
          </a:p>
        </p:txBody>
      </p:sp>
      <p:sp>
        <p:nvSpPr>
          <p:cNvPr id="52" name="Shape 48"/>
          <p:cNvSpPr/>
          <p:nvPr/>
        </p:nvSpPr>
        <p:spPr>
          <a:xfrm>
            <a:off x="6035040" y="1188720"/>
            <a:ext cx="2651760" cy="3657600"/>
          </a:xfrm>
          <a:prstGeom prst="roundRect">
            <a:avLst>
              <a:gd name="adj" fmla="val 2759"/>
            </a:avLst>
          </a:prstGeom>
          <a:solidFill>
            <a:srgbClr val="F2F5F8"/>
          </a:solidFill>
          <a:ln w="12700">
            <a:solidFill>
              <a:srgbClr val="F2F5F8"/>
            </a:solidFill>
            <a:prstDash val="solid"/>
          </a:ln>
        </p:spPr>
      </p:sp>
      <p:sp>
        <p:nvSpPr>
          <p:cNvPr id="53" name="Shape 49"/>
          <p:cNvSpPr/>
          <p:nvPr/>
        </p:nvSpPr>
        <p:spPr>
          <a:xfrm>
            <a:off x="6172200" y="1316736"/>
            <a:ext cx="384048" cy="384048"/>
          </a:xfrm>
          <a:prstGeom prst="ellipse">
            <a:avLst/>
          </a:prstGeom>
          <a:solidFill>
            <a:srgbClr val="E8912D"/>
          </a:solidFill>
          <a:ln w="12700">
            <a:solidFill>
              <a:srgbClr val="E8912D"/>
            </a:solidFill>
            <a:prstDash val="solid"/>
          </a:ln>
        </p:spPr>
      </p:sp>
      <p:pic>
        <p:nvPicPr>
          <p:cNvPr id="54" name="Image 2" descr="preencoded.png">    </p:cNvPr>
          <p:cNvPicPr>
            <a:picLocks noChangeAspect="1"/>
          </p:cNvPicPr>
          <p:nvPr/>
        </p:nvPicPr>
        <p:blipFill>
          <a:blip r:embed="rId3"/>
          <a:stretch>
            <a:fillRect/>
          </a:stretch>
        </p:blipFill>
        <p:spPr>
          <a:xfrm>
            <a:off x="6268212" y="1412748"/>
            <a:ext cx="192024" cy="192024"/>
          </a:xfrm>
          <a:prstGeom prst="rect">
            <a:avLst/>
          </a:prstGeom>
        </p:spPr>
      </p:pic>
      <p:sp>
        <p:nvSpPr>
          <p:cNvPr id="55" name="Text 50"/>
          <p:cNvSpPr txBox="1"/>
          <p:nvPr/>
        </p:nvSpPr>
        <p:spPr>
          <a:xfrm>
            <a:off x="6638544" y="1298448"/>
            <a:ext cx="1965960" cy="22860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ITU-T Y.3181</a:t>
            </a:r>
            <a:endParaRPr lang="en-US" sz="1150" dirty="0"/>
          </a:p>
        </p:txBody>
      </p:sp>
      <p:sp>
        <p:nvSpPr>
          <p:cNvPr id="56" name="Text 51"/>
          <p:cNvSpPr txBox="1"/>
          <p:nvPr/>
        </p:nvSpPr>
        <p:spPr>
          <a:xfrm>
            <a:off x="6638544" y="1527048"/>
            <a:ext cx="1965960" cy="182880"/>
          </a:xfrm>
          <a:prstGeom prst="rect">
            <a:avLst/>
          </a:prstGeom>
          <a:noFill/>
          <a:ln/>
        </p:spPr>
        <p:txBody>
          <a:bodyPr wrap="square" lIns="0" tIns="0" rIns="0" bIns="0" rtlCol="0" anchor="t"/>
          <a:lstStyle/>
          <a:p>
            <a:pPr indent="0" marL="0">
              <a:buNone/>
            </a:pPr>
            <a:r>
              <a:rPr lang="en-US" sz="850" dirty="0">
                <a:solidFill>
                  <a:srgbClr val="5A6B7D"/>
                </a:solidFill>
                <a:latin typeface="Calibri" pitchFamily="34" charset="0"/>
                <a:ea typeface="Calibri" pitchFamily="34" charset="-122"/>
                <a:cs typeface="Calibri" pitchFamily="34" charset="-120"/>
              </a:rPr>
              <a:t>ML sandbox framework</a:t>
            </a:r>
            <a:endParaRPr lang="en-US" sz="850" dirty="0"/>
          </a:p>
        </p:txBody>
      </p:sp>
      <p:sp>
        <p:nvSpPr>
          <p:cNvPr id="57" name="Shape 52"/>
          <p:cNvSpPr/>
          <p:nvPr/>
        </p:nvSpPr>
        <p:spPr>
          <a:xfrm>
            <a:off x="6144768" y="1792224"/>
            <a:ext cx="2432304" cy="777240"/>
          </a:xfrm>
          <a:prstGeom prst="roundRect">
            <a:avLst>
              <a:gd name="adj" fmla="val 7059"/>
            </a:avLst>
          </a:prstGeom>
          <a:solidFill>
            <a:srgbClr val="FFFFFF"/>
          </a:solidFill>
          <a:ln w="12700">
            <a:solidFill>
              <a:srgbClr val="FFFFFF"/>
            </a:solidFill>
            <a:prstDash val="solid"/>
          </a:ln>
        </p:spPr>
      </p:sp>
      <p:sp>
        <p:nvSpPr>
          <p:cNvPr id="58" name="Shape 53"/>
          <p:cNvSpPr/>
          <p:nvPr/>
        </p:nvSpPr>
        <p:spPr>
          <a:xfrm>
            <a:off x="6217920" y="1847088"/>
            <a:ext cx="1325880" cy="530352"/>
          </a:xfrm>
          <a:prstGeom prst="roundRect">
            <a:avLst>
              <a:gd name="adj" fmla="val 10345"/>
            </a:avLst>
          </a:prstGeom>
          <a:solidFill>
            <a:srgbClr val="FFF4E8"/>
          </a:solidFill>
          <a:ln w="12700">
            <a:solidFill>
              <a:srgbClr val="E8912D"/>
            </a:solidFill>
            <a:prstDash val="dash"/>
          </a:ln>
        </p:spPr>
      </p:sp>
      <p:sp>
        <p:nvSpPr>
          <p:cNvPr id="59" name="Text 54"/>
          <p:cNvSpPr txBox="1"/>
          <p:nvPr/>
        </p:nvSpPr>
        <p:spPr>
          <a:xfrm>
            <a:off x="6217920" y="1865376"/>
            <a:ext cx="1325880" cy="164592"/>
          </a:xfrm>
          <a:prstGeom prst="rect">
            <a:avLst/>
          </a:prstGeom>
          <a:noFill/>
          <a:ln/>
        </p:spPr>
        <p:txBody>
          <a:bodyPr wrap="square" lIns="0" tIns="0" rIns="0" bIns="0" rtlCol="0" anchor="t"/>
          <a:lstStyle/>
          <a:p>
            <a:pPr algn="ctr" indent="0" marL="0">
              <a:buNone/>
            </a:pPr>
            <a:r>
              <a:rPr lang="en-US" sz="750" b="1" dirty="0">
                <a:solidFill>
                  <a:srgbClr val="E8912D"/>
                </a:solidFill>
                <a:latin typeface="Calibri" pitchFamily="34" charset="0"/>
                <a:ea typeface="Calibri" pitchFamily="34" charset="-122"/>
                <a:cs typeface="Calibri" pitchFamily="34" charset="-120"/>
              </a:rPr>
              <a:t>SANDBOX</a:t>
            </a:r>
            <a:endParaRPr lang="en-US" sz="750" dirty="0"/>
          </a:p>
        </p:txBody>
      </p:sp>
      <p:sp>
        <p:nvSpPr>
          <p:cNvPr id="60" name="Shape 55"/>
          <p:cNvSpPr/>
          <p:nvPr/>
        </p:nvSpPr>
        <p:spPr>
          <a:xfrm>
            <a:off x="6291072" y="2039112"/>
            <a:ext cx="548640" cy="274320"/>
          </a:xfrm>
          <a:prstGeom prst="roundRect">
            <a:avLst>
              <a:gd name="adj" fmla="val 16667"/>
            </a:avLst>
          </a:prstGeom>
          <a:solidFill>
            <a:srgbClr val="FFFFFF"/>
          </a:solidFill>
          <a:ln w="15875">
            <a:solidFill>
              <a:srgbClr val="E8912D"/>
            </a:solidFill>
            <a:prstDash val="solid"/>
          </a:ln>
        </p:spPr>
      </p:sp>
      <p:sp>
        <p:nvSpPr>
          <p:cNvPr id="61" name="Text 56"/>
          <p:cNvSpPr txBox="1"/>
          <p:nvPr/>
        </p:nvSpPr>
        <p:spPr>
          <a:xfrm>
            <a:off x="6291072" y="2039112"/>
            <a:ext cx="548640" cy="27432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ns-3</a:t>
            </a:r>
            <a:endParaRPr lang="en-US" sz="850" dirty="0"/>
          </a:p>
        </p:txBody>
      </p:sp>
      <p:sp>
        <p:nvSpPr>
          <p:cNvPr id="62" name="Shape 57"/>
          <p:cNvSpPr/>
          <p:nvPr/>
        </p:nvSpPr>
        <p:spPr>
          <a:xfrm>
            <a:off x="6922008" y="2039112"/>
            <a:ext cx="548640" cy="274320"/>
          </a:xfrm>
          <a:prstGeom prst="roundRect">
            <a:avLst>
              <a:gd name="adj" fmla="val 16667"/>
            </a:avLst>
          </a:prstGeom>
          <a:solidFill>
            <a:srgbClr val="FFFFFF"/>
          </a:solidFill>
          <a:ln w="15875">
            <a:solidFill>
              <a:srgbClr val="7C5CFF"/>
            </a:solidFill>
            <a:prstDash val="solid"/>
          </a:ln>
        </p:spPr>
      </p:sp>
      <p:sp>
        <p:nvSpPr>
          <p:cNvPr id="63" name="Text 58"/>
          <p:cNvSpPr txBox="1"/>
          <p:nvPr/>
        </p:nvSpPr>
        <p:spPr>
          <a:xfrm>
            <a:off x="6922008" y="2039112"/>
            <a:ext cx="548640" cy="274320"/>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ML</a:t>
            </a:r>
            <a:endParaRPr lang="en-US" sz="850" dirty="0"/>
          </a:p>
        </p:txBody>
      </p:sp>
      <p:sp>
        <p:nvSpPr>
          <p:cNvPr id="64" name="Shape 59"/>
          <p:cNvSpPr/>
          <p:nvPr/>
        </p:nvSpPr>
        <p:spPr>
          <a:xfrm>
            <a:off x="7562088" y="2176272"/>
            <a:ext cx="329184" cy="0"/>
          </a:xfrm>
          <a:prstGeom prst="line">
            <a:avLst/>
          </a:prstGeom>
          <a:noFill/>
          <a:ln w="22225">
            <a:solidFill>
              <a:srgbClr val="22A06B"/>
            </a:solidFill>
            <a:prstDash val="solid"/>
            <a:headEnd type="none"/>
            <a:tailEnd type="triangle"/>
          </a:ln>
        </p:spPr>
      </p:sp>
      <p:sp>
        <p:nvSpPr>
          <p:cNvPr id="65" name="Shape 60"/>
          <p:cNvSpPr/>
          <p:nvPr/>
        </p:nvSpPr>
        <p:spPr>
          <a:xfrm>
            <a:off x="7909560" y="2011680"/>
            <a:ext cx="594360" cy="329184"/>
          </a:xfrm>
          <a:prstGeom prst="roundRect">
            <a:avLst>
              <a:gd name="adj" fmla="val 13889"/>
            </a:avLst>
          </a:prstGeom>
          <a:solidFill>
            <a:srgbClr val="FFFFFF"/>
          </a:solidFill>
          <a:ln w="15875">
            <a:solidFill>
              <a:srgbClr val="22A06B"/>
            </a:solidFill>
            <a:prstDash val="solid"/>
          </a:ln>
        </p:spPr>
      </p:sp>
      <p:sp>
        <p:nvSpPr>
          <p:cNvPr id="66" name="Text 61"/>
          <p:cNvSpPr txBox="1"/>
          <p:nvPr/>
        </p:nvSpPr>
        <p:spPr>
          <a:xfrm>
            <a:off x="7909560" y="2011680"/>
            <a:ext cx="594360" cy="329184"/>
          </a:xfrm>
          <a:prstGeom prst="rect">
            <a:avLst/>
          </a:prstGeom>
          <a:noFill/>
          <a:ln/>
        </p:spPr>
        <p:txBody>
          <a:bodyPr wrap="square" lIns="0" tIns="0" rIns="0" bIns="0" rtlCol="0" anchor="ctr"/>
          <a:lstStyle/>
          <a:p>
            <a:pPr algn="ctr" indent="0" marL="0">
              <a:buNone/>
            </a:pPr>
            <a:r>
              <a:rPr lang="en-US" sz="850" b="1" dirty="0">
                <a:solidFill>
                  <a:srgbClr val="1A2B3C"/>
                </a:solidFill>
                <a:latin typeface="Calibri" pitchFamily="34" charset="0"/>
                <a:ea typeface="Calibri" pitchFamily="34" charset="-122"/>
                <a:cs typeface="Calibri" pitchFamily="34" charset="-120"/>
              </a:rPr>
              <a:t>Live</a:t>
            </a:r>
            <a:endParaRPr lang="en-US" sz="850" dirty="0"/>
          </a:p>
        </p:txBody>
      </p:sp>
      <p:sp>
        <p:nvSpPr>
          <p:cNvPr id="67" name="Text 62"/>
          <p:cNvSpPr txBox="1"/>
          <p:nvPr/>
        </p:nvSpPr>
        <p:spPr>
          <a:xfrm>
            <a:off x="7315200" y="2395728"/>
            <a:ext cx="1005840" cy="164592"/>
          </a:xfrm>
          <a:prstGeom prst="rect">
            <a:avLst/>
          </a:prstGeom>
          <a:noFill/>
          <a:ln/>
        </p:spPr>
        <p:txBody>
          <a:bodyPr wrap="square" lIns="0" tIns="0" rIns="0" bIns="0" rtlCol="0" anchor="t"/>
          <a:lstStyle/>
          <a:p>
            <a:pPr algn="ctr" indent="0" marL="0">
              <a:buNone/>
            </a:pPr>
            <a:r>
              <a:rPr lang="en-US" sz="750" b="1" dirty="0">
                <a:solidFill>
                  <a:srgbClr val="22A06B"/>
                </a:solidFill>
                <a:latin typeface="Calibri" pitchFamily="34" charset="0"/>
                <a:ea typeface="Calibri" pitchFamily="34" charset="-122"/>
                <a:cs typeface="Calibri" pitchFamily="34" charset="-120"/>
              </a:rPr>
              <a:t>KPIs ok</a:t>
            </a:r>
            <a:endParaRPr lang="en-US" sz="750" dirty="0"/>
          </a:p>
        </p:txBody>
      </p:sp>
      <p:sp>
        <p:nvSpPr>
          <p:cNvPr id="68" name="Text 63"/>
          <p:cNvSpPr txBox="1"/>
          <p:nvPr/>
        </p:nvSpPr>
        <p:spPr>
          <a:xfrm>
            <a:off x="6172200" y="2670048"/>
            <a:ext cx="2377440" cy="146304"/>
          </a:xfrm>
          <a:prstGeom prst="rect">
            <a:avLst/>
          </a:prstGeom>
          <a:noFill/>
          <a:ln/>
        </p:spPr>
        <p:txBody>
          <a:bodyPr wrap="square" lIns="0" tIns="0" rIns="0" bIns="0" rtlCol="0" anchor="t"/>
          <a:lstStyle/>
          <a:p>
            <a:pPr indent="0" marL="0">
              <a:buNone/>
            </a:pPr>
            <a:r>
              <a:rPr lang="en-US" sz="750" b="1" spc="100" kern="0" dirty="0">
                <a:solidFill>
                  <a:srgbClr val="E8912D"/>
                </a:solidFill>
                <a:latin typeface="Calibri" pitchFamily="34" charset="0"/>
                <a:ea typeface="Calibri" pitchFamily="34" charset="-122"/>
                <a:cs typeface="Calibri" pitchFamily="34" charset="-120"/>
              </a:rPr>
              <a:t>MADE FOR</a:t>
            </a:r>
            <a:endParaRPr lang="en-US" sz="750" dirty="0"/>
          </a:p>
        </p:txBody>
      </p:sp>
      <p:sp>
        <p:nvSpPr>
          <p:cNvPr id="69" name="Text 64"/>
          <p:cNvSpPr txBox="1"/>
          <p:nvPr/>
        </p:nvSpPr>
        <p:spPr>
          <a:xfrm>
            <a:off x="6172200" y="2825496"/>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Testing ML against simulators, isolated from live nets.</a:t>
            </a:r>
            <a:endParaRPr lang="en-US" sz="900" dirty="0"/>
          </a:p>
        </p:txBody>
      </p:sp>
      <p:sp>
        <p:nvSpPr>
          <p:cNvPr id="70" name="Text 65"/>
          <p:cNvSpPr txBox="1"/>
          <p:nvPr/>
        </p:nvSpPr>
        <p:spPr>
          <a:xfrm>
            <a:off x="6172200" y="3163824"/>
            <a:ext cx="2377440" cy="146304"/>
          </a:xfrm>
          <a:prstGeom prst="rect">
            <a:avLst/>
          </a:prstGeom>
          <a:noFill/>
          <a:ln/>
        </p:spPr>
        <p:txBody>
          <a:bodyPr wrap="square" lIns="0" tIns="0" rIns="0" bIns="0" rtlCol="0" anchor="t"/>
          <a:lstStyle/>
          <a:p>
            <a:pPr indent="0" marL="0">
              <a:buNone/>
            </a:pPr>
            <a:r>
              <a:rPr lang="en-US" sz="750" b="1" spc="100" kern="0" dirty="0">
                <a:solidFill>
                  <a:srgbClr val="E8912D"/>
                </a:solidFill>
                <a:latin typeface="Calibri" pitchFamily="34" charset="0"/>
                <a:ea typeface="Calibri" pitchFamily="34" charset="-122"/>
                <a:cs typeface="Calibri" pitchFamily="34" charset="-120"/>
              </a:rPr>
              <a:t>CAN DO</a:t>
            </a:r>
            <a:endParaRPr lang="en-US" sz="750" dirty="0"/>
          </a:p>
        </p:txBody>
      </p:sp>
      <p:sp>
        <p:nvSpPr>
          <p:cNvPr id="71" name="Text 66"/>
          <p:cNvSpPr txBox="1"/>
          <p:nvPr/>
        </p:nvSpPr>
        <p:spPr>
          <a:xfrm>
            <a:off x="6172200" y="3319272"/>
            <a:ext cx="2377440" cy="310896"/>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Sandbox architecture, reference points and APIs.</a:t>
            </a:r>
            <a:endParaRPr lang="en-US" sz="900" dirty="0"/>
          </a:p>
        </p:txBody>
      </p:sp>
      <p:sp>
        <p:nvSpPr>
          <p:cNvPr id="72" name="Text 67"/>
          <p:cNvSpPr txBox="1"/>
          <p:nvPr/>
        </p:nvSpPr>
        <p:spPr>
          <a:xfrm>
            <a:off x="6172200" y="3657600"/>
            <a:ext cx="2377440" cy="146304"/>
          </a:xfrm>
          <a:prstGeom prst="rect">
            <a:avLst/>
          </a:prstGeom>
          <a:noFill/>
          <a:ln/>
        </p:spPr>
        <p:txBody>
          <a:bodyPr wrap="square" lIns="0" tIns="0" rIns="0" bIns="0" rtlCol="0" anchor="t"/>
          <a:lstStyle/>
          <a:p>
            <a:pPr indent="0" marL="0">
              <a:buNone/>
            </a:pPr>
            <a:r>
              <a:rPr lang="en-US" sz="750" b="1" spc="100" kern="0" dirty="0">
                <a:solidFill>
                  <a:srgbClr val="E8912D"/>
                </a:solidFill>
                <a:latin typeface="Calibri" pitchFamily="34" charset="0"/>
                <a:ea typeface="Calibri" pitchFamily="34" charset="-122"/>
                <a:cs typeface="Calibri" pitchFamily="34" charset="-120"/>
              </a:rPr>
              <a:t>FOR OUR LINK</a:t>
            </a:r>
            <a:endParaRPr lang="en-US" sz="750" dirty="0"/>
          </a:p>
        </p:txBody>
      </p:sp>
      <p:sp>
        <p:nvSpPr>
          <p:cNvPr id="73" name="Text 68"/>
          <p:cNvSpPr txBox="1"/>
          <p:nvPr/>
        </p:nvSpPr>
        <p:spPr>
          <a:xfrm>
            <a:off x="6172200" y="3813048"/>
            <a:ext cx="2377440" cy="457200"/>
          </a:xfrm>
          <a:prstGeom prst="rect">
            <a:avLst/>
          </a:prstGeom>
          <a:noFill/>
          <a:ln/>
        </p:spPr>
        <p:txBody>
          <a:bodyPr wrap="square" lIns="0" tIns="0" rIns="0" bIns="0" rtlCol="0" anchor="t"/>
          <a:lstStyle/>
          <a:p>
            <a:pPr indent="0" marL="0">
              <a:buNone/>
            </a:pPr>
            <a:r>
              <a:rPr lang="en-US" sz="900" b="1" dirty="0">
                <a:solidFill>
                  <a:srgbClr val="1A2B3C"/>
                </a:solidFill>
                <a:latin typeface="Calibri" pitchFamily="34" charset="0"/>
                <a:ea typeface="Calibri" pitchFamily="34" charset="-122"/>
                <a:cs typeface="Calibri" pitchFamily="34" charset="-120"/>
              </a:rPr>
              <a:t>ns-3 + agents form the sandbox; only passing models reach TFS.</a:t>
            </a:r>
            <a:endParaRPr lang="en-US" sz="900" dirty="0"/>
          </a:p>
        </p:txBody>
      </p:sp>
      <p:sp>
        <p:nvSpPr>
          <p:cNvPr id="74" name="Shape 69"/>
          <p:cNvSpPr/>
          <p:nvPr/>
        </p:nvSpPr>
        <p:spPr>
          <a:xfrm>
            <a:off x="6144768" y="4206240"/>
            <a:ext cx="2432304" cy="548640"/>
          </a:xfrm>
          <a:prstGeom prst="roundRect">
            <a:avLst>
              <a:gd name="adj" fmla="val 10000"/>
            </a:avLst>
          </a:prstGeom>
          <a:solidFill>
            <a:srgbClr val="0B1D33"/>
          </a:solidFill>
          <a:ln w="12700">
            <a:solidFill>
              <a:srgbClr val="0B1D33"/>
            </a:solidFill>
            <a:prstDash val="solid"/>
          </a:ln>
        </p:spPr>
      </p:sp>
      <p:sp>
        <p:nvSpPr>
          <p:cNvPr id="75" name="Text 70"/>
          <p:cNvSpPr txBox="1"/>
          <p:nvPr/>
        </p:nvSpPr>
        <p:spPr>
          <a:xfrm>
            <a:off x="6236208" y="4206240"/>
            <a:ext cx="2286000" cy="548640"/>
          </a:xfrm>
          <a:prstGeom prst="rect">
            <a:avLst/>
          </a:prstGeom>
          <a:noFill/>
          <a:ln/>
        </p:spPr>
        <p:txBody>
          <a:bodyPr wrap="square" lIns="0" tIns="0" rIns="0" bIns="0" rtlCol="0" anchor="ctr"/>
          <a:lstStyle/>
          <a:p>
            <a:pPr indent="0" marL="0">
              <a:buNone/>
            </a:pPr>
            <a:r>
              <a:rPr lang="en-US" sz="750" dirty="0">
                <a:solidFill>
                  <a:srgbClr val="D6E4F0"/>
                </a:solidFill>
                <a:latin typeface="Courier New" pitchFamily="34" charset="0"/>
                <a:ea typeface="Courier New" pitchFamily="34" charset="-122"/>
                <a:cs typeface="Courier New" pitchFamily="34" charset="-120"/>
              </a:rPr>
              <a:t>sandbox: ns-3 storm + RL agent</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check: latency &lt;= 1.5 ms</a:t>
            </a:r>
            <a:endParaRPr lang="en-US" sz="750" dirty="0"/>
          </a:p>
          <a:p>
            <a:pPr indent="0" marL="0">
              <a:buNone/>
            </a:pPr>
            <a:r>
              <a:rPr lang="en-US" sz="750" dirty="0">
                <a:solidFill>
                  <a:srgbClr val="D6E4F0"/>
                </a:solidFill>
                <a:latin typeface="Courier New" pitchFamily="34" charset="0"/>
                <a:ea typeface="Courier New" pitchFamily="34" charset="-122"/>
                <a:cs typeface="Courier New" pitchFamily="34" charset="-120"/>
              </a:rPr>
              <a:t>pass -&gt; promote to TFS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WHAT-IF IN PRACTICE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A storm on the V-band link, tested before it happens</a:t>
            </a:r>
            <a:endParaRPr lang="en-US" sz="2400" dirty="0"/>
          </a:p>
        </p:txBody>
      </p:sp>
      <p:graphicFrame>
        <p:nvGraphicFramePr>
          <p:cNvPr id="4" name="Chart 0" descr=""/>
          <p:cNvGraphicFramePr/>
          <p:nvPr/>
        </p:nvGraphicFramePr>
        <p:xfrm>
          <a:off x="365760" y="114300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212080" y="1188720"/>
            <a:ext cx="3474720" cy="274320"/>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Change the twin recommends</a:t>
            </a:r>
            <a:endParaRPr lang="en-US" sz="1250" dirty="0"/>
          </a:p>
        </p:txBody>
      </p:sp>
      <p:sp>
        <p:nvSpPr>
          <p:cNvPr id="6" name="Text 3"/>
          <p:cNvSpPr txBox="1"/>
          <p:nvPr/>
        </p:nvSpPr>
        <p:spPr>
          <a:xfrm>
            <a:off x="5212080" y="1572768"/>
            <a:ext cx="1005840" cy="347472"/>
          </a:xfrm>
          <a:prstGeom prst="rect">
            <a:avLst/>
          </a:prstGeom>
          <a:noFill/>
          <a:ln/>
        </p:spPr>
        <p:txBody>
          <a:bodyPr wrap="square" lIns="0" tIns="0" rIns="0" bIns="0" rtlCol="0" anchor="ctr"/>
          <a:lstStyle/>
          <a:p>
            <a:pPr indent="0" marL="0">
              <a:buNone/>
            </a:pPr>
            <a:r>
              <a:rPr lang="en-US" sz="1100" b="1" dirty="0">
                <a:solidFill>
                  <a:srgbClr val="1A2B3C"/>
                </a:solidFill>
                <a:latin typeface="Calibri" pitchFamily="34" charset="0"/>
                <a:ea typeface="Calibri" pitchFamily="34" charset="-122"/>
                <a:cs typeface="Calibri" pitchFamily="34" charset="-120"/>
              </a:rPr>
              <a:t>ACM floor</a:t>
            </a:r>
            <a:endParaRPr lang="en-US" sz="1100" dirty="0"/>
          </a:p>
        </p:txBody>
      </p:sp>
      <p:sp>
        <p:nvSpPr>
          <p:cNvPr id="7" name="Shape 4"/>
          <p:cNvSpPr/>
          <p:nvPr/>
        </p:nvSpPr>
        <p:spPr>
          <a:xfrm>
            <a:off x="6263640" y="1572768"/>
            <a:ext cx="960120" cy="347472"/>
          </a:xfrm>
          <a:prstGeom prst="roundRect">
            <a:avLst>
              <a:gd name="adj" fmla="val 15789"/>
            </a:avLst>
          </a:prstGeom>
          <a:solidFill>
            <a:srgbClr val="ECEFF2"/>
          </a:solidFill>
          <a:ln w="12700">
            <a:solidFill>
              <a:srgbClr val="ECEFF2"/>
            </a:solidFill>
            <a:prstDash val="solid"/>
          </a:ln>
        </p:spPr>
      </p:sp>
      <p:sp>
        <p:nvSpPr>
          <p:cNvPr id="8" name="Text 5"/>
          <p:cNvSpPr txBox="1"/>
          <p:nvPr/>
        </p:nvSpPr>
        <p:spPr>
          <a:xfrm>
            <a:off x="6263640" y="1572768"/>
            <a:ext cx="960120" cy="347472"/>
          </a:xfrm>
          <a:prstGeom prst="rect">
            <a:avLst/>
          </a:prstGeom>
          <a:noFill/>
          <a:ln/>
        </p:spPr>
        <p:txBody>
          <a:bodyPr wrap="square" lIns="0" tIns="0" rIns="0" bIns="0" rtlCol="0" anchor="ctr"/>
          <a:lstStyle/>
          <a:p>
            <a:pPr algn="ctr" indent="0" marL="0">
              <a:buNone/>
            </a:pPr>
            <a:r>
              <a:rPr lang="en-US" sz="1050" dirty="0">
                <a:solidFill>
                  <a:srgbClr val="5A6B7D"/>
                </a:solidFill>
                <a:latin typeface="Calibri" pitchFamily="34" charset="0"/>
                <a:ea typeface="Calibri" pitchFamily="34" charset="-122"/>
                <a:cs typeface="Calibri" pitchFamily="34" charset="-120"/>
              </a:rPr>
              <a:t>MCS 0</a:t>
            </a:r>
            <a:endParaRPr lang="en-US" sz="1050" dirty="0"/>
          </a:p>
        </p:txBody>
      </p:sp>
      <p:sp>
        <p:nvSpPr>
          <p:cNvPr id="9" name="Shape 6"/>
          <p:cNvSpPr/>
          <p:nvPr/>
        </p:nvSpPr>
        <p:spPr>
          <a:xfrm>
            <a:off x="7269480" y="1746504"/>
            <a:ext cx="320040" cy="0"/>
          </a:xfrm>
          <a:prstGeom prst="line">
            <a:avLst/>
          </a:prstGeom>
          <a:noFill/>
          <a:ln w="22225">
            <a:solidFill>
              <a:srgbClr val="5A6B7D"/>
            </a:solidFill>
            <a:prstDash val="solid"/>
            <a:headEnd type="none"/>
            <a:tailEnd type="triangle"/>
          </a:ln>
        </p:spPr>
      </p:sp>
      <p:sp>
        <p:nvSpPr>
          <p:cNvPr id="10" name="Shape 7"/>
          <p:cNvSpPr/>
          <p:nvPr/>
        </p:nvSpPr>
        <p:spPr>
          <a:xfrm>
            <a:off x="7635240" y="1572768"/>
            <a:ext cx="1051560" cy="347472"/>
          </a:xfrm>
          <a:prstGeom prst="roundRect">
            <a:avLst>
              <a:gd name="adj" fmla="val 15789"/>
            </a:avLst>
          </a:prstGeom>
          <a:solidFill>
            <a:srgbClr val="DDF3E8"/>
          </a:solidFill>
          <a:ln w="12700">
            <a:solidFill>
              <a:srgbClr val="DDF3E8"/>
            </a:solidFill>
            <a:prstDash val="solid"/>
          </a:ln>
        </p:spPr>
      </p:sp>
      <p:sp>
        <p:nvSpPr>
          <p:cNvPr id="11" name="Text 8"/>
          <p:cNvSpPr txBox="1"/>
          <p:nvPr/>
        </p:nvSpPr>
        <p:spPr>
          <a:xfrm>
            <a:off x="7635240" y="1572768"/>
            <a:ext cx="1051560" cy="347472"/>
          </a:xfrm>
          <a:prstGeom prst="rect">
            <a:avLst/>
          </a:prstGeom>
          <a:noFill/>
          <a:ln/>
        </p:spPr>
        <p:txBody>
          <a:bodyPr wrap="square" lIns="0" tIns="0" rIns="0" bIns="0" rtlCol="0" anchor="ctr"/>
          <a:lstStyle/>
          <a:p>
            <a:pPr algn="ctr" indent="0" marL="0">
              <a:buNone/>
            </a:pPr>
            <a:r>
              <a:rPr lang="en-US" sz="1050" b="1" dirty="0">
                <a:solidFill>
                  <a:srgbClr val="157A50"/>
                </a:solidFill>
                <a:latin typeface="Calibri" pitchFamily="34" charset="0"/>
                <a:ea typeface="Calibri" pitchFamily="34" charset="-122"/>
                <a:cs typeface="Calibri" pitchFamily="34" charset="-120"/>
              </a:rPr>
              <a:t>MCS 4</a:t>
            </a:r>
            <a:endParaRPr lang="en-US" sz="1050" dirty="0"/>
          </a:p>
        </p:txBody>
      </p:sp>
      <p:sp>
        <p:nvSpPr>
          <p:cNvPr id="12" name="Text 9"/>
          <p:cNvSpPr txBox="1"/>
          <p:nvPr/>
        </p:nvSpPr>
        <p:spPr>
          <a:xfrm>
            <a:off x="5212080" y="2048256"/>
            <a:ext cx="1005840" cy="347472"/>
          </a:xfrm>
          <a:prstGeom prst="rect">
            <a:avLst/>
          </a:prstGeom>
          <a:noFill/>
          <a:ln/>
        </p:spPr>
        <p:txBody>
          <a:bodyPr wrap="square" lIns="0" tIns="0" rIns="0" bIns="0" rtlCol="0" anchor="ctr"/>
          <a:lstStyle/>
          <a:p>
            <a:pPr indent="0" marL="0">
              <a:buNone/>
            </a:pPr>
            <a:r>
              <a:rPr lang="en-US" sz="1100" b="1" dirty="0">
                <a:solidFill>
                  <a:srgbClr val="1A2B3C"/>
                </a:solidFill>
                <a:latin typeface="Calibri" pitchFamily="34" charset="0"/>
                <a:ea typeface="Calibri" pitchFamily="34" charset="-122"/>
                <a:cs typeface="Calibri" pitchFamily="34" charset="-120"/>
              </a:rPr>
              <a:t>QoS queue</a:t>
            </a:r>
            <a:endParaRPr lang="en-US" sz="1100" dirty="0"/>
          </a:p>
        </p:txBody>
      </p:sp>
      <p:sp>
        <p:nvSpPr>
          <p:cNvPr id="13" name="Shape 10"/>
          <p:cNvSpPr/>
          <p:nvPr/>
        </p:nvSpPr>
        <p:spPr>
          <a:xfrm>
            <a:off x="6263640" y="2048256"/>
            <a:ext cx="960120" cy="347472"/>
          </a:xfrm>
          <a:prstGeom prst="roundRect">
            <a:avLst>
              <a:gd name="adj" fmla="val 15789"/>
            </a:avLst>
          </a:prstGeom>
          <a:solidFill>
            <a:srgbClr val="ECEFF2"/>
          </a:solidFill>
          <a:ln w="12700">
            <a:solidFill>
              <a:srgbClr val="ECEFF2"/>
            </a:solidFill>
            <a:prstDash val="solid"/>
          </a:ln>
        </p:spPr>
      </p:sp>
      <p:sp>
        <p:nvSpPr>
          <p:cNvPr id="14" name="Text 11"/>
          <p:cNvSpPr txBox="1"/>
          <p:nvPr/>
        </p:nvSpPr>
        <p:spPr>
          <a:xfrm>
            <a:off x="6263640" y="2048256"/>
            <a:ext cx="960120" cy="347472"/>
          </a:xfrm>
          <a:prstGeom prst="rect">
            <a:avLst/>
          </a:prstGeom>
          <a:noFill/>
          <a:ln/>
        </p:spPr>
        <p:txBody>
          <a:bodyPr wrap="square" lIns="0" tIns="0" rIns="0" bIns="0" rtlCol="0" anchor="ctr"/>
          <a:lstStyle/>
          <a:p>
            <a:pPr algn="ctr" indent="0" marL="0">
              <a:buNone/>
            </a:pPr>
            <a:r>
              <a:rPr lang="en-US" sz="1050" dirty="0">
                <a:solidFill>
                  <a:srgbClr val="5A6B7D"/>
                </a:solidFill>
                <a:latin typeface="Calibri" pitchFamily="34" charset="0"/>
                <a:ea typeface="Calibri" pitchFamily="34" charset="-122"/>
                <a:cs typeface="Calibri" pitchFamily="34" charset="-120"/>
              </a:rPr>
              <a:t>FIFO</a:t>
            </a:r>
            <a:endParaRPr lang="en-US" sz="1050" dirty="0"/>
          </a:p>
        </p:txBody>
      </p:sp>
      <p:sp>
        <p:nvSpPr>
          <p:cNvPr id="15" name="Shape 12"/>
          <p:cNvSpPr/>
          <p:nvPr/>
        </p:nvSpPr>
        <p:spPr>
          <a:xfrm>
            <a:off x="7269480" y="2221992"/>
            <a:ext cx="320040" cy="0"/>
          </a:xfrm>
          <a:prstGeom prst="line">
            <a:avLst/>
          </a:prstGeom>
          <a:noFill/>
          <a:ln w="22225">
            <a:solidFill>
              <a:srgbClr val="5A6B7D"/>
            </a:solidFill>
            <a:prstDash val="solid"/>
            <a:headEnd type="none"/>
            <a:tailEnd type="triangle"/>
          </a:ln>
        </p:spPr>
      </p:sp>
      <p:sp>
        <p:nvSpPr>
          <p:cNvPr id="16" name="Shape 13"/>
          <p:cNvSpPr/>
          <p:nvPr/>
        </p:nvSpPr>
        <p:spPr>
          <a:xfrm>
            <a:off x="7635240" y="2048256"/>
            <a:ext cx="1051560" cy="347472"/>
          </a:xfrm>
          <a:prstGeom prst="roundRect">
            <a:avLst>
              <a:gd name="adj" fmla="val 15789"/>
            </a:avLst>
          </a:prstGeom>
          <a:solidFill>
            <a:srgbClr val="DDF3E8"/>
          </a:solidFill>
          <a:ln w="12700">
            <a:solidFill>
              <a:srgbClr val="DDF3E8"/>
            </a:solidFill>
            <a:prstDash val="solid"/>
          </a:ln>
        </p:spPr>
      </p:sp>
      <p:sp>
        <p:nvSpPr>
          <p:cNvPr id="17" name="Text 14"/>
          <p:cNvSpPr txBox="1"/>
          <p:nvPr/>
        </p:nvSpPr>
        <p:spPr>
          <a:xfrm>
            <a:off x="7635240" y="2048256"/>
            <a:ext cx="1051560" cy="347472"/>
          </a:xfrm>
          <a:prstGeom prst="rect">
            <a:avLst/>
          </a:prstGeom>
          <a:noFill/>
          <a:ln/>
        </p:spPr>
        <p:txBody>
          <a:bodyPr wrap="square" lIns="0" tIns="0" rIns="0" bIns="0" rtlCol="0" anchor="ctr"/>
          <a:lstStyle/>
          <a:p>
            <a:pPr algn="ctr" indent="0" marL="0">
              <a:buNone/>
            </a:pPr>
            <a:r>
              <a:rPr lang="en-US" sz="1050" b="1" dirty="0">
                <a:solidFill>
                  <a:srgbClr val="157A50"/>
                </a:solidFill>
                <a:latin typeface="Calibri" pitchFamily="34" charset="0"/>
                <a:ea typeface="Calibri" pitchFamily="34" charset="-122"/>
                <a:cs typeface="Calibri" pitchFamily="34" charset="-120"/>
              </a:rPr>
              <a:t>PCP 6</a:t>
            </a:r>
            <a:endParaRPr lang="en-US" sz="1050" dirty="0"/>
          </a:p>
        </p:txBody>
      </p:sp>
      <p:sp>
        <p:nvSpPr>
          <p:cNvPr id="18" name="Text 15"/>
          <p:cNvSpPr txBox="1"/>
          <p:nvPr/>
        </p:nvSpPr>
        <p:spPr>
          <a:xfrm>
            <a:off x="5212080" y="2523744"/>
            <a:ext cx="1005840" cy="347472"/>
          </a:xfrm>
          <a:prstGeom prst="rect">
            <a:avLst/>
          </a:prstGeom>
          <a:noFill/>
          <a:ln/>
        </p:spPr>
        <p:txBody>
          <a:bodyPr wrap="square" lIns="0" tIns="0" rIns="0" bIns="0" rtlCol="0" anchor="ctr"/>
          <a:lstStyle/>
          <a:p>
            <a:pPr indent="0" marL="0">
              <a:buNone/>
            </a:pPr>
            <a:r>
              <a:rPr lang="en-US" sz="1100" b="1" dirty="0">
                <a:solidFill>
                  <a:srgbClr val="1A2B3C"/>
                </a:solidFill>
                <a:latin typeface="Calibri" pitchFamily="34" charset="0"/>
                <a:ea typeface="Calibri" pitchFamily="34" charset="-122"/>
                <a:cs typeface="Calibri" pitchFamily="34" charset="-120"/>
              </a:rPr>
              <a:t>Carrier</a:t>
            </a:r>
            <a:endParaRPr lang="en-US" sz="1100" dirty="0"/>
          </a:p>
        </p:txBody>
      </p:sp>
      <p:sp>
        <p:nvSpPr>
          <p:cNvPr id="19" name="Shape 16"/>
          <p:cNvSpPr/>
          <p:nvPr/>
        </p:nvSpPr>
        <p:spPr>
          <a:xfrm>
            <a:off x="6263640" y="2523744"/>
            <a:ext cx="960120" cy="347472"/>
          </a:xfrm>
          <a:prstGeom prst="roundRect">
            <a:avLst>
              <a:gd name="adj" fmla="val 15789"/>
            </a:avLst>
          </a:prstGeom>
          <a:solidFill>
            <a:srgbClr val="ECEFF2"/>
          </a:solidFill>
          <a:ln w="12700">
            <a:solidFill>
              <a:srgbClr val="ECEFF2"/>
            </a:solidFill>
            <a:prstDash val="solid"/>
          </a:ln>
        </p:spPr>
      </p:sp>
      <p:sp>
        <p:nvSpPr>
          <p:cNvPr id="20" name="Text 17"/>
          <p:cNvSpPr txBox="1"/>
          <p:nvPr/>
        </p:nvSpPr>
        <p:spPr>
          <a:xfrm>
            <a:off x="6263640" y="2523744"/>
            <a:ext cx="960120" cy="347472"/>
          </a:xfrm>
          <a:prstGeom prst="rect">
            <a:avLst/>
          </a:prstGeom>
          <a:noFill/>
          <a:ln/>
        </p:spPr>
        <p:txBody>
          <a:bodyPr wrap="square" lIns="0" tIns="0" rIns="0" bIns="0" rtlCol="0" anchor="ctr"/>
          <a:lstStyle/>
          <a:p>
            <a:pPr algn="ctr" indent="0" marL="0">
              <a:buNone/>
            </a:pPr>
            <a:r>
              <a:rPr lang="en-US" sz="1050" dirty="0">
                <a:solidFill>
                  <a:srgbClr val="5A6B7D"/>
                </a:solidFill>
                <a:latin typeface="Calibri" pitchFamily="34" charset="0"/>
                <a:ea typeface="Calibri" pitchFamily="34" charset="-122"/>
                <a:cs typeface="Calibri" pitchFamily="34" charset="-120"/>
              </a:rPr>
              <a:t>60.48 GHz</a:t>
            </a:r>
            <a:endParaRPr lang="en-US" sz="1050" dirty="0"/>
          </a:p>
        </p:txBody>
      </p:sp>
      <p:sp>
        <p:nvSpPr>
          <p:cNvPr id="21" name="Shape 18"/>
          <p:cNvSpPr/>
          <p:nvPr/>
        </p:nvSpPr>
        <p:spPr>
          <a:xfrm>
            <a:off x="7269480" y="2697480"/>
            <a:ext cx="320040" cy="0"/>
          </a:xfrm>
          <a:prstGeom prst="line">
            <a:avLst/>
          </a:prstGeom>
          <a:noFill/>
          <a:ln w="22225">
            <a:solidFill>
              <a:srgbClr val="5A6B7D"/>
            </a:solidFill>
            <a:prstDash val="solid"/>
            <a:headEnd type="none"/>
            <a:tailEnd type="triangle"/>
          </a:ln>
        </p:spPr>
      </p:sp>
      <p:sp>
        <p:nvSpPr>
          <p:cNvPr id="22" name="Shape 19"/>
          <p:cNvSpPr/>
          <p:nvPr/>
        </p:nvSpPr>
        <p:spPr>
          <a:xfrm>
            <a:off x="7635240" y="2523744"/>
            <a:ext cx="1051560" cy="347472"/>
          </a:xfrm>
          <a:prstGeom prst="roundRect">
            <a:avLst>
              <a:gd name="adj" fmla="val 15789"/>
            </a:avLst>
          </a:prstGeom>
          <a:solidFill>
            <a:srgbClr val="DDF3E8"/>
          </a:solidFill>
          <a:ln w="12700">
            <a:solidFill>
              <a:srgbClr val="DDF3E8"/>
            </a:solidFill>
            <a:prstDash val="solid"/>
          </a:ln>
        </p:spPr>
      </p:sp>
      <p:sp>
        <p:nvSpPr>
          <p:cNvPr id="23" name="Text 20"/>
          <p:cNvSpPr txBox="1"/>
          <p:nvPr/>
        </p:nvSpPr>
        <p:spPr>
          <a:xfrm>
            <a:off x="7635240" y="2523744"/>
            <a:ext cx="1051560" cy="347472"/>
          </a:xfrm>
          <a:prstGeom prst="rect">
            <a:avLst/>
          </a:prstGeom>
          <a:noFill/>
          <a:ln/>
        </p:spPr>
        <p:txBody>
          <a:bodyPr wrap="square" lIns="0" tIns="0" rIns="0" bIns="0" rtlCol="0" anchor="ctr"/>
          <a:lstStyle/>
          <a:p>
            <a:pPr algn="ctr" indent="0" marL="0">
              <a:buNone/>
            </a:pPr>
            <a:r>
              <a:rPr lang="en-US" sz="1050" b="1" dirty="0">
                <a:solidFill>
                  <a:srgbClr val="157A50"/>
                </a:solidFill>
                <a:latin typeface="Calibri" pitchFamily="34" charset="0"/>
                <a:ea typeface="Calibri" pitchFamily="34" charset="-122"/>
                <a:cs typeface="Calibri" pitchFamily="34" charset="-120"/>
              </a:rPr>
              <a:t>64.80 GHz</a:t>
            </a:r>
            <a:endParaRPr lang="en-US" sz="1050" dirty="0"/>
          </a:p>
        </p:txBody>
      </p:sp>
      <p:sp>
        <p:nvSpPr>
          <p:cNvPr id="24" name="Shape 21"/>
          <p:cNvSpPr/>
          <p:nvPr/>
        </p:nvSpPr>
        <p:spPr>
          <a:xfrm>
            <a:off x="5212080" y="3154680"/>
            <a:ext cx="3474720" cy="1600200"/>
          </a:xfrm>
          <a:prstGeom prst="roundRect">
            <a:avLst>
              <a:gd name="adj" fmla="val 4571"/>
            </a:avLst>
          </a:prstGeom>
          <a:solidFill>
            <a:srgbClr val="F2F5F8"/>
          </a:solidFill>
          <a:ln w="12700">
            <a:solidFill>
              <a:srgbClr val="F2F5F8"/>
            </a:solidFill>
            <a:prstDash val="solid"/>
          </a:ln>
        </p:spPr>
      </p:sp>
      <p:sp>
        <p:nvSpPr>
          <p:cNvPr id="25" name="Text 22"/>
          <p:cNvSpPr txBox="1"/>
          <p:nvPr/>
        </p:nvSpPr>
        <p:spPr>
          <a:xfrm>
            <a:off x="5394960" y="3291840"/>
            <a:ext cx="3108960"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Predicted URLLC latency</a:t>
            </a:r>
            <a:endParaRPr lang="en-US" sz="1100" dirty="0"/>
          </a:p>
        </p:txBody>
      </p:sp>
      <p:sp>
        <p:nvSpPr>
          <p:cNvPr id="26" name="Text 23"/>
          <p:cNvSpPr txBox="1"/>
          <p:nvPr/>
        </p:nvSpPr>
        <p:spPr>
          <a:xfrm>
            <a:off x="5394960" y="3538728"/>
            <a:ext cx="3108960" cy="457200"/>
          </a:xfrm>
          <a:prstGeom prst="rect">
            <a:avLst/>
          </a:prstGeom>
          <a:noFill/>
          <a:ln/>
        </p:spPr>
        <p:txBody>
          <a:bodyPr wrap="square" lIns="0" tIns="0" rIns="0" bIns="0" rtlCol="0" anchor="ctr"/>
          <a:lstStyle/>
          <a:p>
            <a:pPr indent="0" marL="0">
              <a:buNone/>
            </a:pPr>
            <a:r>
              <a:rPr lang="en-US" sz="2400" b="1" dirty="0">
                <a:solidFill>
                  <a:srgbClr val="0FA3B1"/>
                </a:solidFill>
                <a:latin typeface="Arial" pitchFamily="34" charset="0"/>
                <a:ea typeface="Arial" pitchFamily="34" charset="-122"/>
                <a:cs typeface="Arial" pitchFamily="34" charset="-120"/>
              </a:rPr>
              <a:t>1.12 ms</a:t>
            </a:r>
            <a:pPr indent="0" marL="0">
              <a:buNone/>
            </a:pPr>
            <a:r>
              <a:rPr lang="en-US" sz="1100" dirty="0">
                <a:solidFill>
                  <a:srgbClr val="5A6B7D"/>
                </a:solidFill>
                <a:latin typeface="Arial" pitchFamily="34" charset="0"/>
                <a:ea typeface="Arial" pitchFamily="34" charset="-122"/>
                <a:cs typeface="Arial" pitchFamily="34" charset="-120"/>
              </a:rPr>
              <a:t>  of a 1.5 ms SLA</a:t>
            </a:r>
            <a:endParaRPr lang="en-US" sz="1100" dirty="0"/>
          </a:p>
        </p:txBody>
      </p:sp>
      <p:sp>
        <p:nvSpPr>
          <p:cNvPr id="27" name="Shape 24"/>
          <p:cNvSpPr/>
          <p:nvPr/>
        </p:nvSpPr>
        <p:spPr>
          <a:xfrm>
            <a:off x="5394960" y="4114800"/>
            <a:ext cx="3108960" cy="146304"/>
          </a:xfrm>
          <a:prstGeom prst="rect">
            <a:avLst/>
          </a:prstGeom>
          <a:solidFill>
            <a:srgbClr val="D5DDE5"/>
          </a:solidFill>
          <a:ln w="12700">
            <a:solidFill>
              <a:srgbClr val="D5DDE5"/>
            </a:solidFill>
            <a:prstDash val="solid"/>
          </a:ln>
        </p:spPr>
      </p:sp>
      <p:sp>
        <p:nvSpPr>
          <p:cNvPr id="28" name="Shape 25"/>
          <p:cNvSpPr/>
          <p:nvPr/>
        </p:nvSpPr>
        <p:spPr>
          <a:xfrm>
            <a:off x="5394960" y="4114800"/>
            <a:ext cx="2321357" cy="146304"/>
          </a:xfrm>
          <a:prstGeom prst="rect">
            <a:avLst/>
          </a:prstGeom>
          <a:solidFill>
            <a:srgbClr val="0FA3B1"/>
          </a:solidFill>
          <a:ln w="12700">
            <a:solidFill>
              <a:srgbClr val="0FA3B1"/>
            </a:solidFill>
            <a:prstDash val="solid"/>
          </a:ln>
        </p:spPr>
      </p:sp>
      <p:sp>
        <p:nvSpPr>
          <p:cNvPr id="29" name="Text 26"/>
          <p:cNvSpPr txBox="1"/>
          <p:nvPr/>
        </p:nvSpPr>
        <p:spPr>
          <a:xfrm>
            <a:off x="5394960" y="4343400"/>
            <a:ext cx="3108960" cy="228600"/>
          </a:xfrm>
          <a:prstGeom prst="rect">
            <a:avLst/>
          </a:prstGeom>
          <a:noFill/>
          <a:ln/>
        </p:spPr>
        <p:txBody>
          <a:bodyPr wrap="square" lIns="0" tIns="0" rIns="0" bIns="0" rtlCol="0" anchor="t"/>
          <a:lstStyle/>
          <a:p>
            <a:pPr indent="0" marL="0">
              <a:buNone/>
            </a:pPr>
            <a:r>
              <a:rPr lang="en-US" sz="950" dirty="0">
                <a:solidFill>
                  <a:srgbClr val="5A6B7D"/>
                </a:solidFill>
                <a:latin typeface="Calibri" pitchFamily="34" charset="0"/>
                <a:ea typeface="Calibri" pitchFamily="34" charset="-122"/>
                <a:cs typeface="Calibri" pitchFamily="34" charset="-120"/>
              </a:rPr>
              <a:t>25% headroom → change passes the latency gate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③ · TFS → HARDWARE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Stage → verify → commit, with automatic rollback</a:t>
            </a:r>
            <a:endParaRPr lang="en-US" sz="2400" dirty="0"/>
          </a:p>
        </p:txBody>
      </p:sp>
      <p:sp>
        <p:nvSpPr>
          <p:cNvPr id="4" name="Shape 2"/>
          <p:cNvSpPr/>
          <p:nvPr/>
        </p:nvSpPr>
        <p:spPr>
          <a:xfrm>
            <a:off x="457200" y="1188720"/>
            <a:ext cx="2514600" cy="2514600"/>
          </a:xfrm>
          <a:prstGeom prst="roundRect">
            <a:avLst>
              <a:gd name="adj" fmla="val 3636"/>
            </a:avLst>
          </a:prstGeom>
          <a:solidFill>
            <a:srgbClr val="F2F5F8"/>
          </a:solidFill>
          <a:ln w="12700">
            <a:solidFill>
              <a:srgbClr val="F2F5F8"/>
            </a:solidFill>
            <a:prstDash val="solid"/>
          </a:ln>
        </p:spPr>
      </p:sp>
      <p:sp>
        <p:nvSpPr>
          <p:cNvPr id="5" name="Shape 3"/>
          <p:cNvSpPr/>
          <p:nvPr/>
        </p:nvSpPr>
        <p:spPr>
          <a:xfrm>
            <a:off x="640080" y="1371600"/>
            <a:ext cx="457200" cy="457200"/>
          </a:xfrm>
          <a:prstGeom prst="ellipse">
            <a:avLst/>
          </a:prstGeom>
          <a:solidFill>
            <a:srgbClr val="7C5CFF"/>
          </a:solidFill>
          <a:ln w="12700">
            <a:solidFill>
              <a:srgbClr val="7C5CFF"/>
            </a:solidFill>
            <a:prstDash val="solid"/>
          </a:ln>
        </p:spPr>
      </p:sp>
      <p:pic>
        <p:nvPicPr>
          <p:cNvPr id="6" name="Image 0" descr="preencoded.png">    </p:cNvPr>
          <p:cNvPicPr>
            <a:picLocks noChangeAspect="1"/>
          </p:cNvPicPr>
          <p:nvPr/>
        </p:nvPicPr>
        <p:blipFill>
          <a:blip r:embed="rId1"/>
          <a:stretch>
            <a:fillRect/>
          </a:stretch>
        </p:blipFill>
        <p:spPr>
          <a:xfrm>
            <a:off x="754380" y="1485900"/>
            <a:ext cx="228600" cy="228600"/>
          </a:xfrm>
          <a:prstGeom prst="rect">
            <a:avLst/>
          </a:prstGeom>
        </p:spPr>
      </p:pic>
      <p:sp>
        <p:nvSpPr>
          <p:cNvPr id="7" name="Text 4"/>
          <p:cNvSpPr txBox="1"/>
          <p:nvPr/>
        </p:nvSpPr>
        <p:spPr>
          <a:xfrm>
            <a:off x="1234440" y="1389888"/>
            <a:ext cx="1645920" cy="182880"/>
          </a:xfrm>
          <a:prstGeom prst="rect">
            <a:avLst/>
          </a:prstGeom>
          <a:noFill/>
          <a:ln/>
        </p:spPr>
        <p:txBody>
          <a:bodyPr wrap="square" lIns="0" tIns="0" rIns="0" bIns="0" rtlCol="0" anchor="t"/>
          <a:lstStyle/>
          <a:p>
            <a:pPr indent="0" marL="0">
              <a:buNone/>
            </a:pPr>
            <a:r>
              <a:rPr lang="en-US" sz="900" b="1" spc="50" kern="0" dirty="0">
                <a:solidFill>
                  <a:srgbClr val="7C5CFF"/>
                </a:solidFill>
                <a:latin typeface="Calibri" pitchFamily="34" charset="0"/>
                <a:ea typeface="Calibri" pitchFamily="34" charset="-122"/>
                <a:cs typeface="Calibri" pitchFamily="34" charset="-120"/>
              </a:rPr>
              <a:t>STAGE 1</a:t>
            </a:r>
            <a:endParaRPr lang="en-US" sz="900" dirty="0"/>
          </a:p>
        </p:txBody>
      </p:sp>
      <p:sp>
        <p:nvSpPr>
          <p:cNvPr id="8" name="Text 5"/>
          <p:cNvSpPr txBox="1"/>
          <p:nvPr/>
        </p:nvSpPr>
        <p:spPr>
          <a:xfrm>
            <a:off x="1234440" y="1572768"/>
            <a:ext cx="164592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Stage the candidate</a:t>
            </a:r>
            <a:endParaRPr lang="en-US" sz="1150" dirty="0"/>
          </a:p>
        </p:txBody>
      </p:sp>
      <p:pic>
        <p:nvPicPr>
          <p:cNvPr id="9" name="Image 1" descr="preencoded.png">    </p:cNvPr>
          <p:cNvPicPr>
            <a:picLocks noChangeAspect="1"/>
          </p:cNvPicPr>
          <p:nvPr/>
        </p:nvPicPr>
        <p:blipFill>
          <a:blip r:embed="rId2"/>
          <a:stretch>
            <a:fillRect/>
          </a:stretch>
        </p:blipFill>
        <p:spPr>
          <a:xfrm>
            <a:off x="658368" y="2112264"/>
            <a:ext cx="164592" cy="164592"/>
          </a:xfrm>
          <a:prstGeom prst="rect">
            <a:avLst/>
          </a:prstGeom>
        </p:spPr>
      </p:pic>
      <p:sp>
        <p:nvSpPr>
          <p:cNvPr id="10" name="Text 6"/>
          <p:cNvSpPr txBox="1"/>
          <p:nvPr/>
        </p:nvSpPr>
        <p:spPr>
          <a:xfrm>
            <a:off x="914400" y="2057400"/>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Decision engine output becomes YANG config</a:t>
            </a:r>
            <a:endParaRPr lang="en-US" sz="1050" dirty="0"/>
          </a:p>
        </p:txBody>
      </p:sp>
      <p:pic>
        <p:nvPicPr>
          <p:cNvPr id="11" name="Image 2" descr="preencoded.png">    </p:cNvPr>
          <p:cNvPicPr>
            <a:picLocks noChangeAspect="1"/>
          </p:cNvPicPr>
          <p:nvPr/>
        </p:nvPicPr>
        <p:blipFill>
          <a:blip r:embed="rId3"/>
          <a:stretch>
            <a:fillRect/>
          </a:stretch>
        </p:blipFill>
        <p:spPr>
          <a:xfrm>
            <a:off x="658368" y="2496312"/>
            <a:ext cx="164592" cy="164592"/>
          </a:xfrm>
          <a:prstGeom prst="rect">
            <a:avLst/>
          </a:prstGeom>
        </p:spPr>
      </p:pic>
      <p:sp>
        <p:nvSpPr>
          <p:cNvPr id="12" name="Text 7"/>
          <p:cNvSpPr txBox="1"/>
          <p:nvPr/>
        </p:nvSpPr>
        <p:spPr>
          <a:xfrm>
            <a:off x="914400" y="2441448"/>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Held in the TFS candidate datastore, not live</a:t>
            </a:r>
            <a:endParaRPr lang="en-US" sz="1050" dirty="0"/>
          </a:p>
        </p:txBody>
      </p:sp>
      <p:pic>
        <p:nvPicPr>
          <p:cNvPr id="13" name="Image 3" descr="preencoded.png">    </p:cNvPr>
          <p:cNvPicPr>
            <a:picLocks noChangeAspect="1"/>
          </p:cNvPicPr>
          <p:nvPr/>
        </p:nvPicPr>
        <p:blipFill>
          <a:blip r:embed="rId4"/>
          <a:stretch>
            <a:fillRect/>
          </a:stretch>
        </p:blipFill>
        <p:spPr>
          <a:xfrm>
            <a:off x="658368" y="2880360"/>
            <a:ext cx="164592" cy="164592"/>
          </a:xfrm>
          <a:prstGeom prst="rect">
            <a:avLst/>
          </a:prstGeom>
        </p:spPr>
      </p:pic>
      <p:sp>
        <p:nvSpPr>
          <p:cNvPr id="14" name="Text 8"/>
          <p:cNvSpPr txBox="1"/>
          <p:nvPr/>
        </p:nvSpPr>
        <p:spPr>
          <a:xfrm>
            <a:off x="914400" y="2825496"/>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Diff checked against the running config</a:t>
            </a:r>
            <a:endParaRPr lang="en-US" sz="1050" dirty="0"/>
          </a:p>
        </p:txBody>
      </p:sp>
      <p:sp>
        <p:nvSpPr>
          <p:cNvPr id="15" name="Shape 9"/>
          <p:cNvSpPr/>
          <p:nvPr/>
        </p:nvSpPr>
        <p:spPr>
          <a:xfrm>
            <a:off x="3017520" y="2446020"/>
            <a:ext cx="251460" cy="0"/>
          </a:xfrm>
          <a:prstGeom prst="line">
            <a:avLst/>
          </a:prstGeom>
          <a:noFill/>
          <a:ln w="22225">
            <a:solidFill>
              <a:srgbClr val="0B1D33"/>
            </a:solidFill>
            <a:prstDash val="solid"/>
            <a:headEnd type="none"/>
            <a:tailEnd type="triangle"/>
          </a:ln>
        </p:spPr>
      </p:sp>
      <p:sp>
        <p:nvSpPr>
          <p:cNvPr id="16" name="Shape 10"/>
          <p:cNvSpPr/>
          <p:nvPr/>
        </p:nvSpPr>
        <p:spPr>
          <a:xfrm>
            <a:off x="3314700" y="1188720"/>
            <a:ext cx="2514600" cy="2514600"/>
          </a:xfrm>
          <a:prstGeom prst="roundRect">
            <a:avLst>
              <a:gd name="adj" fmla="val 3636"/>
            </a:avLst>
          </a:prstGeom>
          <a:solidFill>
            <a:srgbClr val="F2F5F8"/>
          </a:solidFill>
          <a:ln w="12700">
            <a:solidFill>
              <a:srgbClr val="F2F5F8"/>
            </a:solidFill>
            <a:prstDash val="solid"/>
          </a:ln>
        </p:spPr>
      </p:sp>
      <p:sp>
        <p:nvSpPr>
          <p:cNvPr id="17" name="Shape 11"/>
          <p:cNvSpPr/>
          <p:nvPr/>
        </p:nvSpPr>
        <p:spPr>
          <a:xfrm>
            <a:off x="3497580" y="1371600"/>
            <a:ext cx="457200" cy="457200"/>
          </a:xfrm>
          <a:prstGeom prst="ellipse">
            <a:avLst/>
          </a:prstGeom>
          <a:solidFill>
            <a:srgbClr val="0FA3B1"/>
          </a:solidFill>
          <a:ln w="12700">
            <a:solidFill>
              <a:srgbClr val="0FA3B1"/>
            </a:solidFill>
            <a:prstDash val="solid"/>
          </a:ln>
        </p:spPr>
      </p:sp>
      <p:pic>
        <p:nvPicPr>
          <p:cNvPr id="18" name="Image 4" descr="preencoded.png">    </p:cNvPr>
          <p:cNvPicPr>
            <a:picLocks noChangeAspect="1"/>
          </p:cNvPicPr>
          <p:nvPr/>
        </p:nvPicPr>
        <p:blipFill>
          <a:blip r:embed="rId5"/>
          <a:stretch>
            <a:fillRect/>
          </a:stretch>
        </p:blipFill>
        <p:spPr>
          <a:xfrm>
            <a:off x="3611880" y="1485900"/>
            <a:ext cx="228600" cy="228600"/>
          </a:xfrm>
          <a:prstGeom prst="rect">
            <a:avLst/>
          </a:prstGeom>
        </p:spPr>
      </p:pic>
      <p:sp>
        <p:nvSpPr>
          <p:cNvPr id="19" name="Text 12"/>
          <p:cNvSpPr txBox="1"/>
          <p:nvPr/>
        </p:nvSpPr>
        <p:spPr>
          <a:xfrm>
            <a:off x="4091940" y="1389888"/>
            <a:ext cx="1645920" cy="182880"/>
          </a:xfrm>
          <a:prstGeom prst="rect">
            <a:avLst/>
          </a:prstGeom>
          <a:noFill/>
          <a:ln/>
        </p:spPr>
        <p:txBody>
          <a:bodyPr wrap="square" lIns="0" tIns="0" rIns="0" bIns="0" rtlCol="0" anchor="t"/>
          <a:lstStyle/>
          <a:p>
            <a:pPr indent="0" marL="0">
              <a:buNone/>
            </a:pPr>
            <a:r>
              <a:rPr lang="en-US" sz="900" b="1" spc="50" kern="0" dirty="0">
                <a:solidFill>
                  <a:srgbClr val="0FA3B1"/>
                </a:solidFill>
                <a:latin typeface="Calibri" pitchFamily="34" charset="0"/>
                <a:ea typeface="Calibri" pitchFamily="34" charset="-122"/>
                <a:cs typeface="Calibri" pitchFamily="34" charset="-120"/>
              </a:rPr>
              <a:t>STAGE 2 · TS 28.561</a:t>
            </a:r>
            <a:endParaRPr lang="en-US" sz="900" dirty="0"/>
          </a:p>
        </p:txBody>
      </p:sp>
      <p:sp>
        <p:nvSpPr>
          <p:cNvPr id="20" name="Text 13"/>
          <p:cNvSpPr txBox="1"/>
          <p:nvPr/>
        </p:nvSpPr>
        <p:spPr>
          <a:xfrm>
            <a:off x="4091940" y="1572768"/>
            <a:ext cx="164592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Pre-flight gates</a:t>
            </a:r>
            <a:endParaRPr lang="en-US" sz="1150" dirty="0"/>
          </a:p>
        </p:txBody>
      </p:sp>
      <p:pic>
        <p:nvPicPr>
          <p:cNvPr id="21" name="Image 5" descr="preencoded.png">    </p:cNvPr>
          <p:cNvPicPr>
            <a:picLocks noChangeAspect="1"/>
          </p:cNvPicPr>
          <p:nvPr/>
        </p:nvPicPr>
        <p:blipFill>
          <a:blip r:embed="rId6"/>
          <a:stretch>
            <a:fillRect/>
          </a:stretch>
        </p:blipFill>
        <p:spPr>
          <a:xfrm>
            <a:off x="3515868" y="2112264"/>
            <a:ext cx="164592" cy="164592"/>
          </a:xfrm>
          <a:prstGeom prst="rect">
            <a:avLst/>
          </a:prstGeom>
        </p:spPr>
      </p:pic>
      <p:sp>
        <p:nvSpPr>
          <p:cNvPr id="22" name="Text 14"/>
          <p:cNvSpPr txBox="1"/>
          <p:nvPr/>
        </p:nvSpPr>
        <p:spPr>
          <a:xfrm>
            <a:off x="3771900" y="2057400"/>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Latency 1.12 ms ≤ 1.5 ms</a:t>
            </a:r>
            <a:endParaRPr lang="en-US" sz="1050" dirty="0"/>
          </a:p>
        </p:txBody>
      </p:sp>
      <p:pic>
        <p:nvPicPr>
          <p:cNvPr id="23" name="Image 6" descr="preencoded.png">    </p:cNvPr>
          <p:cNvPicPr>
            <a:picLocks noChangeAspect="1"/>
          </p:cNvPicPr>
          <p:nvPr/>
        </p:nvPicPr>
        <p:blipFill>
          <a:blip r:embed="rId7"/>
          <a:stretch>
            <a:fillRect/>
          </a:stretch>
        </p:blipFill>
        <p:spPr>
          <a:xfrm>
            <a:off x="3515868" y="2496312"/>
            <a:ext cx="164592" cy="164592"/>
          </a:xfrm>
          <a:prstGeom prst="rect">
            <a:avLst/>
          </a:prstGeom>
        </p:spPr>
      </p:pic>
      <p:sp>
        <p:nvSpPr>
          <p:cNvPr id="24" name="Text 15"/>
          <p:cNvSpPr txBox="1"/>
          <p:nvPr/>
        </p:nvSpPr>
        <p:spPr>
          <a:xfrm>
            <a:off x="3771900" y="2441448"/>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Buffer occupancy &lt; 40%</a:t>
            </a:r>
            <a:endParaRPr lang="en-US" sz="1050" dirty="0"/>
          </a:p>
        </p:txBody>
      </p:sp>
      <p:pic>
        <p:nvPicPr>
          <p:cNvPr id="25" name="Image 7" descr="preencoded.png">    </p:cNvPr>
          <p:cNvPicPr>
            <a:picLocks noChangeAspect="1"/>
          </p:cNvPicPr>
          <p:nvPr/>
        </p:nvPicPr>
        <p:blipFill>
          <a:blip r:embed="rId8"/>
          <a:stretch>
            <a:fillRect/>
          </a:stretch>
        </p:blipFill>
        <p:spPr>
          <a:xfrm>
            <a:off x="3515868" y="2880360"/>
            <a:ext cx="164592" cy="164592"/>
          </a:xfrm>
          <a:prstGeom prst="rect">
            <a:avLst/>
          </a:prstGeom>
        </p:spPr>
      </p:pic>
      <p:sp>
        <p:nvSpPr>
          <p:cNvPr id="26" name="Text 16"/>
          <p:cNvSpPr txBox="1"/>
          <p:nvPr/>
        </p:nvSpPr>
        <p:spPr>
          <a:xfrm>
            <a:off x="3771900" y="2825496"/>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MH-T261 supports MCS 4</a:t>
            </a:r>
            <a:endParaRPr lang="en-US" sz="1050" dirty="0"/>
          </a:p>
        </p:txBody>
      </p:sp>
      <p:pic>
        <p:nvPicPr>
          <p:cNvPr id="27" name="Image 8" descr="preencoded.png">    </p:cNvPr>
          <p:cNvPicPr>
            <a:picLocks noChangeAspect="1"/>
          </p:cNvPicPr>
          <p:nvPr/>
        </p:nvPicPr>
        <p:blipFill>
          <a:blip r:embed="rId9"/>
          <a:stretch>
            <a:fillRect/>
          </a:stretch>
        </p:blipFill>
        <p:spPr>
          <a:xfrm>
            <a:off x="3515868" y="3264408"/>
            <a:ext cx="164592" cy="164592"/>
          </a:xfrm>
          <a:prstGeom prst="rect">
            <a:avLst/>
          </a:prstGeom>
        </p:spPr>
      </p:pic>
      <p:sp>
        <p:nvSpPr>
          <p:cNvPr id="28" name="Text 17"/>
          <p:cNvSpPr txBox="1"/>
          <p:nvPr/>
        </p:nvSpPr>
        <p:spPr>
          <a:xfrm>
            <a:off x="3771900" y="3209544"/>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64.80 GHz inside V-band mask</a:t>
            </a:r>
            <a:endParaRPr lang="en-US" sz="1050" dirty="0"/>
          </a:p>
        </p:txBody>
      </p:sp>
      <p:sp>
        <p:nvSpPr>
          <p:cNvPr id="29" name="Shape 18"/>
          <p:cNvSpPr/>
          <p:nvPr/>
        </p:nvSpPr>
        <p:spPr>
          <a:xfrm>
            <a:off x="5875020" y="2446020"/>
            <a:ext cx="251460" cy="0"/>
          </a:xfrm>
          <a:prstGeom prst="line">
            <a:avLst/>
          </a:prstGeom>
          <a:noFill/>
          <a:ln w="22225">
            <a:solidFill>
              <a:srgbClr val="0B1D33"/>
            </a:solidFill>
            <a:prstDash val="solid"/>
            <a:headEnd type="none"/>
            <a:tailEnd type="triangle"/>
          </a:ln>
        </p:spPr>
      </p:sp>
      <p:sp>
        <p:nvSpPr>
          <p:cNvPr id="30" name="Shape 19"/>
          <p:cNvSpPr/>
          <p:nvPr/>
        </p:nvSpPr>
        <p:spPr>
          <a:xfrm>
            <a:off x="6172200" y="1188720"/>
            <a:ext cx="2514600" cy="2514600"/>
          </a:xfrm>
          <a:prstGeom prst="roundRect">
            <a:avLst>
              <a:gd name="adj" fmla="val 3636"/>
            </a:avLst>
          </a:prstGeom>
          <a:solidFill>
            <a:srgbClr val="F2F5F8"/>
          </a:solidFill>
          <a:ln w="12700">
            <a:solidFill>
              <a:srgbClr val="F2F5F8"/>
            </a:solidFill>
            <a:prstDash val="solid"/>
          </a:ln>
        </p:spPr>
      </p:sp>
      <p:sp>
        <p:nvSpPr>
          <p:cNvPr id="31" name="Shape 20"/>
          <p:cNvSpPr/>
          <p:nvPr/>
        </p:nvSpPr>
        <p:spPr>
          <a:xfrm>
            <a:off x="6355080" y="1371600"/>
            <a:ext cx="457200" cy="457200"/>
          </a:xfrm>
          <a:prstGeom prst="ellipse">
            <a:avLst/>
          </a:prstGeom>
          <a:solidFill>
            <a:srgbClr val="22A06B"/>
          </a:solidFill>
          <a:ln w="12700">
            <a:solidFill>
              <a:srgbClr val="22A06B"/>
            </a:solidFill>
            <a:prstDash val="solid"/>
          </a:ln>
        </p:spPr>
      </p:sp>
      <p:pic>
        <p:nvPicPr>
          <p:cNvPr id="32" name="Image 9" descr="preencoded.png">    </p:cNvPr>
          <p:cNvPicPr>
            <a:picLocks noChangeAspect="1"/>
          </p:cNvPicPr>
          <p:nvPr/>
        </p:nvPicPr>
        <p:blipFill>
          <a:blip r:embed="rId10"/>
          <a:stretch>
            <a:fillRect/>
          </a:stretch>
        </p:blipFill>
        <p:spPr>
          <a:xfrm>
            <a:off x="6469380" y="1485900"/>
            <a:ext cx="228600" cy="228600"/>
          </a:xfrm>
          <a:prstGeom prst="rect">
            <a:avLst/>
          </a:prstGeom>
        </p:spPr>
      </p:pic>
      <p:sp>
        <p:nvSpPr>
          <p:cNvPr id="33" name="Text 21"/>
          <p:cNvSpPr txBox="1"/>
          <p:nvPr/>
        </p:nvSpPr>
        <p:spPr>
          <a:xfrm>
            <a:off x="6949440" y="1389888"/>
            <a:ext cx="1645920" cy="182880"/>
          </a:xfrm>
          <a:prstGeom prst="rect">
            <a:avLst/>
          </a:prstGeom>
          <a:noFill/>
          <a:ln/>
        </p:spPr>
        <p:txBody>
          <a:bodyPr wrap="square" lIns="0" tIns="0" rIns="0" bIns="0" rtlCol="0" anchor="t"/>
          <a:lstStyle/>
          <a:p>
            <a:pPr indent="0" marL="0">
              <a:buNone/>
            </a:pPr>
            <a:r>
              <a:rPr lang="en-US" sz="900" b="1" spc="50" kern="0" dirty="0">
                <a:solidFill>
                  <a:srgbClr val="22A06B"/>
                </a:solidFill>
                <a:latin typeface="Calibri" pitchFamily="34" charset="0"/>
                <a:ea typeface="Calibri" pitchFamily="34" charset="-122"/>
                <a:cs typeface="Calibri" pitchFamily="34" charset="-120"/>
              </a:rPr>
              <a:t>STAGE 3 · RESTCONF</a:t>
            </a:r>
            <a:endParaRPr lang="en-US" sz="900" dirty="0"/>
          </a:p>
        </p:txBody>
      </p:sp>
      <p:sp>
        <p:nvSpPr>
          <p:cNvPr id="34" name="Text 22"/>
          <p:cNvSpPr txBox="1"/>
          <p:nvPr/>
        </p:nvSpPr>
        <p:spPr>
          <a:xfrm>
            <a:off x="6949440" y="1572768"/>
            <a:ext cx="164592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Two-phase commit</a:t>
            </a:r>
            <a:endParaRPr lang="en-US" sz="1150" dirty="0"/>
          </a:p>
        </p:txBody>
      </p:sp>
      <p:pic>
        <p:nvPicPr>
          <p:cNvPr id="35" name="Image 10" descr="preencoded.png">    </p:cNvPr>
          <p:cNvPicPr>
            <a:picLocks noChangeAspect="1"/>
          </p:cNvPicPr>
          <p:nvPr/>
        </p:nvPicPr>
        <p:blipFill>
          <a:blip r:embed="rId11"/>
          <a:stretch>
            <a:fillRect/>
          </a:stretch>
        </p:blipFill>
        <p:spPr>
          <a:xfrm>
            <a:off x="6373368" y="2112264"/>
            <a:ext cx="164592" cy="164592"/>
          </a:xfrm>
          <a:prstGeom prst="rect">
            <a:avLst/>
          </a:prstGeom>
        </p:spPr>
      </p:pic>
      <p:sp>
        <p:nvSpPr>
          <p:cNvPr id="36" name="Text 23"/>
          <p:cNvSpPr txBox="1"/>
          <p:nvPr/>
        </p:nvSpPr>
        <p:spPr>
          <a:xfrm>
            <a:off x="6629400" y="2057400"/>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Prepare: PATCH the candidate</a:t>
            </a:r>
            <a:endParaRPr lang="en-US" sz="1050" dirty="0"/>
          </a:p>
        </p:txBody>
      </p:sp>
      <p:pic>
        <p:nvPicPr>
          <p:cNvPr id="37" name="Image 11" descr="preencoded.png">    </p:cNvPr>
          <p:cNvPicPr>
            <a:picLocks noChangeAspect="1"/>
          </p:cNvPicPr>
          <p:nvPr/>
        </p:nvPicPr>
        <p:blipFill>
          <a:blip r:embed="rId12"/>
          <a:stretch>
            <a:fillRect/>
          </a:stretch>
        </p:blipFill>
        <p:spPr>
          <a:xfrm>
            <a:off x="6373368" y="2496312"/>
            <a:ext cx="164592" cy="164592"/>
          </a:xfrm>
          <a:prstGeom prst="rect">
            <a:avLst/>
          </a:prstGeom>
        </p:spPr>
      </p:pic>
      <p:sp>
        <p:nvSpPr>
          <p:cNvPr id="38" name="Text 24"/>
          <p:cNvSpPr txBox="1"/>
          <p:nvPr/>
        </p:nvSpPr>
        <p:spPr>
          <a:xfrm>
            <a:off x="6629400" y="2441448"/>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Commit: POST ietf-netconf:commit</a:t>
            </a:r>
            <a:endParaRPr lang="en-US" sz="1050" dirty="0"/>
          </a:p>
        </p:txBody>
      </p:sp>
      <p:pic>
        <p:nvPicPr>
          <p:cNvPr id="39" name="Image 12" descr="preencoded.png">    </p:cNvPr>
          <p:cNvPicPr>
            <a:picLocks noChangeAspect="1"/>
          </p:cNvPicPr>
          <p:nvPr/>
        </p:nvPicPr>
        <p:blipFill>
          <a:blip r:embed="rId13"/>
          <a:stretch>
            <a:fillRect/>
          </a:stretch>
        </p:blipFill>
        <p:spPr>
          <a:xfrm>
            <a:off x="6373368" y="2880360"/>
            <a:ext cx="164592" cy="164592"/>
          </a:xfrm>
          <a:prstGeom prst="rect">
            <a:avLst/>
          </a:prstGeom>
        </p:spPr>
      </p:pic>
      <p:sp>
        <p:nvSpPr>
          <p:cNvPr id="40" name="Text 25"/>
          <p:cNvSpPr txBox="1"/>
          <p:nvPr/>
        </p:nvSpPr>
        <p:spPr>
          <a:xfrm>
            <a:off x="6629400" y="2825496"/>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Verify: poll telemetry</a:t>
            </a:r>
            <a:endParaRPr lang="en-US" sz="1050" dirty="0"/>
          </a:p>
        </p:txBody>
      </p:sp>
      <p:sp>
        <p:nvSpPr>
          <p:cNvPr id="41" name="Shape 26"/>
          <p:cNvSpPr/>
          <p:nvPr/>
        </p:nvSpPr>
        <p:spPr>
          <a:xfrm>
            <a:off x="7429500" y="3703320"/>
            <a:ext cx="0" cy="274320"/>
          </a:xfrm>
          <a:prstGeom prst="line">
            <a:avLst/>
          </a:prstGeom>
          <a:noFill/>
          <a:ln w="19050">
            <a:solidFill>
              <a:srgbClr val="D64545"/>
            </a:solidFill>
            <a:prstDash val="dash"/>
          </a:ln>
        </p:spPr>
      </p:sp>
      <p:sp>
        <p:nvSpPr>
          <p:cNvPr id="42" name="Shape 27"/>
          <p:cNvSpPr/>
          <p:nvPr/>
        </p:nvSpPr>
        <p:spPr>
          <a:xfrm>
            <a:off x="1714500" y="3977640"/>
            <a:ext cx="5715000" cy="0"/>
          </a:xfrm>
          <a:prstGeom prst="line">
            <a:avLst/>
          </a:prstGeom>
          <a:noFill/>
          <a:ln w="19050">
            <a:solidFill>
              <a:srgbClr val="D64545"/>
            </a:solidFill>
            <a:prstDash val="dash"/>
          </a:ln>
        </p:spPr>
      </p:sp>
      <p:sp>
        <p:nvSpPr>
          <p:cNvPr id="43" name="Shape 28"/>
          <p:cNvSpPr/>
          <p:nvPr/>
        </p:nvSpPr>
        <p:spPr>
          <a:xfrm flipV="1">
            <a:off x="1714500" y="3703320"/>
            <a:ext cx="0" cy="274320"/>
          </a:xfrm>
          <a:prstGeom prst="line">
            <a:avLst/>
          </a:prstGeom>
          <a:noFill/>
          <a:ln w="22225">
            <a:solidFill>
              <a:srgbClr val="D64545"/>
            </a:solidFill>
            <a:prstDash val="solid"/>
            <a:headEnd type="none"/>
            <a:tailEnd type="triangle"/>
          </a:ln>
        </p:spPr>
      </p:sp>
      <p:sp>
        <p:nvSpPr>
          <p:cNvPr id="44" name="Shape 29"/>
          <p:cNvSpPr/>
          <p:nvPr/>
        </p:nvSpPr>
        <p:spPr>
          <a:xfrm>
            <a:off x="2926080" y="3840480"/>
            <a:ext cx="3291840" cy="274320"/>
          </a:xfrm>
          <a:prstGeom prst="rect">
            <a:avLst/>
          </a:prstGeom>
          <a:solidFill>
            <a:srgbClr val="FFFFFF"/>
          </a:solidFill>
          <a:ln w="12700">
            <a:solidFill>
              <a:srgbClr val="FFFFFF"/>
            </a:solidFill>
            <a:prstDash val="solid"/>
          </a:ln>
        </p:spPr>
      </p:sp>
      <p:sp>
        <p:nvSpPr>
          <p:cNvPr id="45" name="Text 30"/>
          <p:cNvSpPr txBox="1"/>
          <p:nvPr/>
        </p:nvSpPr>
        <p:spPr>
          <a:xfrm>
            <a:off x="2926080" y="3840480"/>
            <a:ext cx="3291840" cy="274320"/>
          </a:xfrm>
          <a:prstGeom prst="rect">
            <a:avLst/>
          </a:prstGeom>
          <a:noFill/>
          <a:ln/>
        </p:spPr>
        <p:txBody>
          <a:bodyPr wrap="square" lIns="0" tIns="0" rIns="0" bIns="0" rtlCol="0" anchor="ctr"/>
          <a:lstStyle/>
          <a:p>
            <a:pPr algn="ctr" indent="0" marL="0">
              <a:buNone/>
            </a:pPr>
            <a:r>
              <a:rPr lang="en-US" sz="1000" b="1" dirty="0">
                <a:solidFill>
                  <a:srgbClr val="D64545"/>
                </a:solidFill>
                <a:latin typeface="Calibri" pitchFamily="34" charset="0"/>
                <a:ea typeface="Calibri" pitchFamily="34" charset="-122"/>
                <a:cs typeface="Calibri" pitchFamily="34" charset="-120"/>
              </a:rPr>
              <a:t>Health check fails → automatic rollback</a:t>
            </a:r>
            <a:endParaRPr lang="en-US" sz="1000" dirty="0"/>
          </a:p>
        </p:txBody>
      </p:sp>
      <p:sp>
        <p:nvSpPr>
          <p:cNvPr id="46" name="Shape 31"/>
          <p:cNvSpPr/>
          <p:nvPr/>
        </p:nvSpPr>
        <p:spPr>
          <a:xfrm>
            <a:off x="457200" y="4251960"/>
            <a:ext cx="8229600" cy="548640"/>
          </a:xfrm>
          <a:prstGeom prst="roundRect">
            <a:avLst>
              <a:gd name="adj" fmla="val 13333"/>
            </a:avLst>
          </a:prstGeom>
          <a:solidFill>
            <a:srgbClr val="DDF3E8"/>
          </a:solidFill>
          <a:ln w="12700">
            <a:solidFill>
              <a:srgbClr val="DDF3E8"/>
            </a:solidFill>
            <a:prstDash val="solid"/>
          </a:ln>
        </p:spPr>
      </p:sp>
      <p:pic>
        <p:nvPicPr>
          <p:cNvPr id="47" name="Image 13" descr="preencoded.png">    </p:cNvPr>
          <p:cNvPicPr>
            <a:picLocks noChangeAspect="1"/>
          </p:cNvPicPr>
          <p:nvPr/>
        </p:nvPicPr>
        <p:blipFill>
          <a:blip r:embed="rId14"/>
          <a:stretch>
            <a:fillRect/>
          </a:stretch>
        </p:blipFill>
        <p:spPr>
          <a:xfrm>
            <a:off x="658368" y="4389120"/>
            <a:ext cx="274320" cy="274320"/>
          </a:xfrm>
          <a:prstGeom prst="rect">
            <a:avLst/>
          </a:prstGeom>
        </p:spPr>
      </p:pic>
      <p:sp>
        <p:nvSpPr>
          <p:cNvPr id="48" name="Text 32"/>
          <p:cNvSpPr txBox="1"/>
          <p:nvPr/>
        </p:nvSpPr>
        <p:spPr>
          <a:xfrm>
            <a:off x="1097280" y="4251960"/>
            <a:ext cx="7406640" cy="548640"/>
          </a:xfrm>
          <a:prstGeom prst="rect">
            <a:avLst/>
          </a:prstGeom>
          <a:noFill/>
          <a:ln/>
        </p:spPr>
        <p:txBody>
          <a:bodyPr wrap="square" lIns="0" tIns="0" rIns="0" bIns="0" rtlCol="0" anchor="ctr"/>
          <a:lstStyle/>
          <a:p>
            <a:pPr indent="0" marL="0">
              <a:buNone/>
            </a:pPr>
            <a:r>
              <a:rPr lang="en-US" sz="1150" b="1" dirty="0">
                <a:solidFill>
                  <a:srgbClr val="157A50"/>
                </a:solidFill>
                <a:latin typeface="Calibri" pitchFamily="34" charset="0"/>
                <a:ea typeface="Calibri" pitchFamily="34" charset="-122"/>
                <a:cs typeface="Calibri" pitchFamily="34" charset="-120"/>
              </a:rPr>
              <a:t>Zero-outage by design: </a:t>
            </a:r>
            <a:pPr indent="0" marL="0">
              <a:buNone/>
            </a:pPr>
            <a:r>
              <a:rPr lang="en-US" sz="1150" dirty="0">
                <a:solidFill>
                  <a:srgbClr val="1A2B3C"/>
                </a:solidFill>
                <a:latin typeface="Calibri" pitchFamily="34" charset="0"/>
                <a:ea typeface="Calibri" pitchFamily="34" charset="-122"/>
                <a:cs typeface="Calibri" pitchFamily="34" charset="-120"/>
              </a:rPr>
              <a:t>bad configurations are rejected in software before they can touch customer traffic.</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END-TO-END</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One closed loop, seconds instead of hours</a:t>
            </a:r>
            <a:endParaRPr lang="en-US" sz="2400" dirty="0"/>
          </a:p>
        </p:txBody>
      </p:sp>
      <p:sp>
        <p:nvSpPr>
          <p:cNvPr id="4" name="Shape 2"/>
          <p:cNvSpPr/>
          <p:nvPr/>
        </p:nvSpPr>
        <p:spPr>
          <a:xfrm>
            <a:off x="1554480" y="1737360"/>
            <a:ext cx="2560320" cy="2560320"/>
          </a:xfrm>
          <a:prstGeom prst="ellipse">
            <a:avLst/>
          </a:prstGeom>
          <a:solidFill>
            <a:srgbClr val="FFFFFF"/>
          </a:solidFill>
          <a:ln w="31750">
            <a:solidFill>
              <a:srgbClr val="D5DDE5"/>
            </a:solidFill>
            <a:prstDash val="solid"/>
          </a:ln>
        </p:spPr>
      </p:sp>
      <p:sp>
        <p:nvSpPr>
          <p:cNvPr id="5" name="Text 3"/>
          <p:cNvSpPr txBox="1"/>
          <p:nvPr/>
        </p:nvSpPr>
        <p:spPr>
          <a:xfrm>
            <a:off x="1920240" y="2651760"/>
            <a:ext cx="1828800" cy="457200"/>
          </a:xfrm>
          <a:prstGeom prst="rect">
            <a:avLst/>
          </a:prstGeom>
          <a:noFill/>
          <a:ln/>
        </p:spPr>
        <p:txBody>
          <a:bodyPr wrap="square" lIns="0" tIns="0" rIns="0" bIns="0" rtlCol="0" anchor="ctr"/>
          <a:lstStyle/>
          <a:p>
            <a:pPr algn="ctr" indent="0" marL="0">
              <a:buNone/>
            </a:pPr>
            <a:r>
              <a:rPr lang="en-US" sz="2600" b="1" dirty="0">
                <a:solidFill>
                  <a:srgbClr val="0B1D33"/>
                </a:solidFill>
                <a:latin typeface="Arial" pitchFamily="34" charset="0"/>
                <a:ea typeface="Arial" pitchFamily="34" charset="-122"/>
                <a:cs typeface="Arial" pitchFamily="34" charset="-120"/>
              </a:rPr>
              <a:t>≈ 2 s</a:t>
            </a:r>
            <a:endParaRPr lang="en-US" sz="2600" dirty="0"/>
          </a:p>
        </p:txBody>
      </p:sp>
      <p:sp>
        <p:nvSpPr>
          <p:cNvPr id="6" name="Text 4"/>
          <p:cNvSpPr txBox="1"/>
          <p:nvPr/>
        </p:nvSpPr>
        <p:spPr>
          <a:xfrm>
            <a:off x="1920240" y="3108960"/>
            <a:ext cx="1828800" cy="274320"/>
          </a:xfrm>
          <a:prstGeom prst="rect">
            <a:avLst/>
          </a:prstGeom>
          <a:noFill/>
          <a:ln/>
        </p:spPr>
        <p:txBody>
          <a:bodyPr wrap="square" lIns="0" tIns="0" rIns="0" bIns="0" rtlCol="0" anchor="t"/>
          <a:lstStyle/>
          <a:p>
            <a:pPr algn="ctr" indent="0" marL="0">
              <a:buNone/>
            </a:pPr>
            <a:r>
              <a:rPr lang="en-US" sz="1100" dirty="0">
                <a:solidFill>
                  <a:srgbClr val="5A6B7D"/>
                </a:solidFill>
                <a:latin typeface="Calibri" pitchFamily="34" charset="0"/>
                <a:ea typeface="Calibri" pitchFamily="34" charset="-122"/>
                <a:cs typeface="Calibri" pitchFamily="34" charset="-120"/>
              </a:rPr>
              <a:t>per loop</a:t>
            </a:r>
            <a:endParaRPr lang="en-US" sz="1100" dirty="0"/>
          </a:p>
        </p:txBody>
      </p:sp>
      <p:sp>
        <p:nvSpPr>
          <p:cNvPr id="7" name="Shape 5"/>
          <p:cNvSpPr/>
          <p:nvPr/>
        </p:nvSpPr>
        <p:spPr>
          <a:xfrm>
            <a:off x="2551176" y="1453896"/>
            <a:ext cx="566928" cy="566928"/>
          </a:xfrm>
          <a:prstGeom prst="ellipse">
            <a:avLst/>
          </a:prstGeom>
          <a:solidFill>
            <a:srgbClr val="7C5CFF"/>
          </a:solidFill>
          <a:ln w="12700">
            <a:solidFill>
              <a:srgbClr val="7C5CFF"/>
            </a:solidFill>
            <a:prstDash val="solid"/>
          </a:ln>
        </p:spPr>
      </p:sp>
      <p:pic>
        <p:nvPicPr>
          <p:cNvPr id="8" name="Image 0" descr="preencoded.png">    </p:cNvPr>
          <p:cNvPicPr>
            <a:picLocks noChangeAspect="1"/>
          </p:cNvPicPr>
          <p:nvPr/>
        </p:nvPicPr>
        <p:blipFill>
          <a:blip r:embed="rId1"/>
          <a:stretch>
            <a:fillRect/>
          </a:stretch>
        </p:blipFill>
        <p:spPr>
          <a:xfrm>
            <a:off x="2692908" y="1595628"/>
            <a:ext cx="283464" cy="283464"/>
          </a:xfrm>
          <a:prstGeom prst="rect">
            <a:avLst/>
          </a:prstGeom>
        </p:spPr>
      </p:pic>
      <p:sp>
        <p:nvSpPr>
          <p:cNvPr id="9" name="Text 6"/>
          <p:cNvSpPr txBox="1"/>
          <p:nvPr/>
        </p:nvSpPr>
        <p:spPr>
          <a:xfrm>
            <a:off x="3209544" y="1490472"/>
            <a:ext cx="1143000" cy="246888"/>
          </a:xfrm>
          <a:prstGeom prst="rect">
            <a:avLst/>
          </a:prstGeom>
          <a:noFill/>
          <a:ln/>
        </p:spPr>
        <p:txBody>
          <a:bodyPr wrap="square" lIns="0" tIns="0" rIns="0" bIns="0" rtlCol="0" anchor="t"/>
          <a:lstStyle/>
          <a:p>
            <a:pPr algn="l" indent="0" marL="0">
              <a:buNone/>
            </a:pPr>
            <a:r>
              <a:rPr lang="en-US" sz="1100" b="1" dirty="0">
                <a:solidFill>
                  <a:srgbClr val="1A2B3C"/>
                </a:solidFill>
                <a:latin typeface="Arial" pitchFamily="34" charset="0"/>
                <a:ea typeface="Arial" pitchFamily="34" charset="-122"/>
                <a:cs typeface="Arial" pitchFamily="34" charset="-120"/>
              </a:rPr>
              <a:t>1 Intent</a:t>
            </a:r>
            <a:endParaRPr lang="en-US" sz="1100" dirty="0"/>
          </a:p>
        </p:txBody>
      </p:sp>
      <p:sp>
        <p:nvSpPr>
          <p:cNvPr id="10" name="Text 7"/>
          <p:cNvSpPr txBox="1"/>
          <p:nvPr/>
        </p:nvSpPr>
        <p:spPr>
          <a:xfrm>
            <a:off x="3209544" y="1728216"/>
            <a:ext cx="1143000" cy="228600"/>
          </a:xfrm>
          <a:prstGeom prst="rect">
            <a:avLst/>
          </a:prstGeom>
          <a:noFill/>
          <a:ln/>
        </p:spPr>
        <p:txBody>
          <a:bodyPr wrap="square" lIns="0" tIns="0" rIns="0" bIns="0" rtlCol="0" anchor="t"/>
          <a:lstStyle/>
          <a:p>
            <a:pPr algn="l" indent="0" marL="0">
              <a:buNone/>
            </a:pPr>
            <a:r>
              <a:rPr lang="en-US" sz="950" dirty="0">
                <a:solidFill>
                  <a:srgbClr val="5A6B7D"/>
                </a:solidFill>
                <a:latin typeface="Calibri" pitchFamily="34" charset="0"/>
                <a:ea typeface="Calibri" pitchFamily="34" charset="-122"/>
                <a:cs typeface="Calibri" pitchFamily="34" charset="-120"/>
              </a:rPr>
              <a:t>TMF921</a:t>
            </a:r>
            <a:endParaRPr lang="en-US" sz="950" dirty="0"/>
          </a:p>
        </p:txBody>
      </p:sp>
      <p:sp>
        <p:nvSpPr>
          <p:cNvPr id="11" name="Shape 8"/>
          <p:cNvSpPr/>
          <p:nvPr/>
        </p:nvSpPr>
        <p:spPr>
          <a:xfrm>
            <a:off x="3768681" y="2338465"/>
            <a:ext cx="566928" cy="566928"/>
          </a:xfrm>
          <a:prstGeom prst="ellipse">
            <a:avLst/>
          </a:prstGeom>
          <a:solidFill>
            <a:srgbClr val="E8912D"/>
          </a:solidFill>
          <a:ln w="12700">
            <a:solidFill>
              <a:srgbClr val="E8912D"/>
            </a:solidFill>
            <a:prstDash val="solid"/>
          </a:ln>
        </p:spPr>
      </p:sp>
      <p:pic>
        <p:nvPicPr>
          <p:cNvPr id="12" name="Image 1" descr="preencoded.png">    </p:cNvPr>
          <p:cNvPicPr>
            <a:picLocks noChangeAspect="1"/>
          </p:cNvPicPr>
          <p:nvPr/>
        </p:nvPicPr>
        <p:blipFill>
          <a:blip r:embed="rId2"/>
          <a:stretch>
            <a:fillRect/>
          </a:stretch>
        </p:blipFill>
        <p:spPr>
          <a:xfrm>
            <a:off x="3910413" y="2480197"/>
            <a:ext cx="283464" cy="283464"/>
          </a:xfrm>
          <a:prstGeom prst="rect">
            <a:avLst/>
          </a:prstGeom>
        </p:spPr>
      </p:pic>
      <p:sp>
        <p:nvSpPr>
          <p:cNvPr id="13" name="Text 9"/>
          <p:cNvSpPr txBox="1"/>
          <p:nvPr/>
        </p:nvSpPr>
        <p:spPr>
          <a:xfrm>
            <a:off x="4427049" y="2375041"/>
            <a:ext cx="1143000" cy="246888"/>
          </a:xfrm>
          <a:prstGeom prst="rect">
            <a:avLst/>
          </a:prstGeom>
          <a:noFill/>
          <a:ln/>
        </p:spPr>
        <p:txBody>
          <a:bodyPr wrap="square" lIns="0" tIns="0" rIns="0" bIns="0" rtlCol="0" anchor="t"/>
          <a:lstStyle/>
          <a:p>
            <a:pPr algn="l" indent="0" marL="0">
              <a:buNone/>
            </a:pPr>
            <a:r>
              <a:rPr lang="en-US" sz="1100" b="1" dirty="0">
                <a:solidFill>
                  <a:srgbClr val="1A2B3C"/>
                </a:solidFill>
                <a:latin typeface="Arial" pitchFamily="34" charset="0"/>
                <a:ea typeface="Arial" pitchFamily="34" charset="-122"/>
                <a:cs typeface="Arial" pitchFamily="34" charset="-120"/>
              </a:rPr>
              <a:t>2 Simulate</a:t>
            </a:r>
            <a:endParaRPr lang="en-US" sz="1100" dirty="0"/>
          </a:p>
        </p:txBody>
      </p:sp>
      <p:sp>
        <p:nvSpPr>
          <p:cNvPr id="14" name="Text 10"/>
          <p:cNvSpPr txBox="1"/>
          <p:nvPr/>
        </p:nvSpPr>
        <p:spPr>
          <a:xfrm>
            <a:off x="4427049" y="2612785"/>
            <a:ext cx="1143000" cy="228600"/>
          </a:xfrm>
          <a:prstGeom prst="rect">
            <a:avLst/>
          </a:prstGeom>
          <a:noFill/>
          <a:ln/>
        </p:spPr>
        <p:txBody>
          <a:bodyPr wrap="square" lIns="0" tIns="0" rIns="0" bIns="0" rtlCol="0" anchor="t"/>
          <a:lstStyle/>
          <a:p>
            <a:pPr algn="l" indent="0" marL="0">
              <a:buNone/>
            </a:pPr>
            <a:r>
              <a:rPr lang="en-US" sz="950" dirty="0">
                <a:solidFill>
                  <a:srgbClr val="5A6B7D"/>
                </a:solidFill>
                <a:latin typeface="Calibri" pitchFamily="34" charset="0"/>
                <a:ea typeface="Calibri" pitchFamily="34" charset="-122"/>
                <a:cs typeface="Calibri" pitchFamily="34" charset="-120"/>
              </a:rPr>
              <a:t>ns-3 what-if</a:t>
            </a:r>
            <a:endParaRPr lang="en-US" sz="950" dirty="0"/>
          </a:p>
        </p:txBody>
      </p:sp>
      <p:sp>
        <p:nvSpPr>
          <p:cNvPr id="15" name="Shape 11"/>
          <p:cNvSpPr/>
          <p:nvPr/>
        </p:nvSpPr>
        <p:spPr>
          <a:xfrm>
            <a:off x="3303635" y="3769727"/>
            <a:ext cx="566928" cy="566928"/>
          </a:xfrm>
          <a:prstGeom prst="ellipse">
            <a:avLst/>
          </a:prstGeom>
          <a:solidFill>
            <a:srgbClr val="0FA3B1"/>
          </a:solidFill>
          <a:ln w="12700">
            <a:solidFill>
              <a:srgbClr val="0FA3B1"/>
            </a:solidFill>
            <a:prstDash val="solid"/>
          </a:ln>
        </p:spPr>
      </p:sp>
      <p:pic>
        <p:nvPicPr>
          <p:cNvPr id="16" name="Image 2" descr="preencoded.png">    </p:cNvPr>
          <p:cNvPicPr>
            <a:picLocks noChangeAspect="1"/>
          </p:cNvPicPr>
          <p:nvPr/>
        </p:nvPicPr>
        <p:blipFill>
          <a:blip r:embed="rId3"/>
          <a:stretch>
            <a:fillRect/>
          </a:stretch>
        </p:blipFill>
        <p:spPr>
          <a:xfrm>
            <a:off x="3445367" y="3911459"/>
            <a:ext cx="283464" cy="283464"/>
          </a:xfrm>
          <a:prstGeom prst="rect">
            <a:avLst/>
          </a:prstGeom>
        </p:spPr>
      </p:pic>
      <p:sp>
        <p:nvSpPr>
          <p:cNvPr id="17" name="Text 12"/>
          <p:cNvSpPr txBox="1"/>
          <p:nvPr/>
        </p:nvSpPr>
        <p:spPr>
          <a:xfrm>
            <a:off x="3962003" y="3806303"/>
            <a:ext cx="1143000" cy="246888"/>
          </a:xfrm>
          <a:prstGeom prst="rect">
            <a:avLst/>
          </a:prstGeom>
          <a:noFill/>
          <a:ln/>
        </p:spPr>
        <p:txBody>
          <a:bodyPr wrap="square" lIns="0" tIns="0" rIns="0" bIns="0" rtlCol="0" anchor="t"/>
          <a:lstStyle/>
          <a:p>
            <a:pPr algn="l" indent="0" marL="0">
              <a:buNone/>
            </a:pPr>
            <a:r>
              <a:rPr lang="en-US" sz="1100" b="1" dirty="0">
                <a:solidFill>
                  <a:srgbClr val="1A2B3C"/>
                </a:solidFill>
                <a:latin typeface="Arial" pitchFamily="34" charset="0"/>
                <a:ea typeface="Arial" pitchFamily="34" charset="-122"/>
                <a:cs typeface="Arial" pitchFamily="34" charset="-120"/>
              </a:rPr>
              <a:t>3 Verify</a:t>
            </a:r>
            <a:endParaRPr lang="en-US" sz="1100" dirty="0"/>
          </a:p>
        </p:txBody>
      </p:sp>
      <p:sp>
        <p:nvSpPr>
          <p:cNvPr id="18" name="Text 13"/>
          <p:cNvSpPr txBox="1"/>
          <p:nvPr/>
        </p:nvSpPr>
        <p:spPr>
          <a:xfrm>
            <a:off x="3962003" y="4044047"/>
            <a:ext cx="1143000" cy="228600"/>
          </a:xfrm>
          <a:prstGeom prst="rect">
            <a:avLst/>
          </a:prstGeom>
          <a:noFill/>
          <a:ln/>
        </p:spPr>
        <p:txBody>
          <a:bodyPr wrap="square" lIns="0" tIns="0" rIns="0" bIns="0" rtlCol="0" anchor="t"/>
          <a:lstStyle/>
          <a:p>
            <a:pPr algn="l" indent="0" marL="0">
              <a:buNone/>
            </a:pPr>
            <a:r>
              <a:rPr lang="en-US" sz="950" dirty="0">
                <a:solidFill>
                  <a:srgbClr val="5A6B7D"/>
                </a:solidFill>
                <a:latin typeface="Calibri" pitchFamily="34" charset="0"/>
                <a:ea typeface="Calibri" pitchFamily="34" charset="-122"/>
                <a:cs typeface="Calibri" pitchFamily="34" charset="-120"/>
              </a:rPr>
              <a:t>TS 28.561 gates</a:t>
            </a:r>
            <a:endParaRPr lang="en-US" sz="950" dirty="0"/>
          </a:p>
        </p:txBody>
      </p:sp>
      <p:sp>
        <p:nvSpPr>
          <p:cNvPr id="19" name="Shape 14"/>
          <p:cNvSpPr/>
          <p:nvPr/>
        </p:nvSpPr>
        <p:spPr>
          <a:xfrm>
            <a:off x="1798717" y="3769727"/>
            <a:ext cx="566928" cy="566928"/>
          </a:xfrm>
          <a:prstGeom prst="ellipse">
            <a:avLst/>
          </a:prstGeom>
          <a:solidFill>
            <a:srgbClr val="22A06B"/>
          </a:solidFill>
          <a:ln w="12700">
            <a:solidFill>
              <a:srgbClr val="22A06B"/>
            </a:solidFill>
            <a:prstDash val="solid"/>
          </a:ln>
        </p:spPr>
      </p:sp>
      <p:pic>
        <p:nvPicPr>
          <p:cNvPr id="20" name="Image 3" descr="preencoded.png">    </p:cNvPr>
          <p:cNvPicPr>
            <a:picLocks noChangeAspect="1"/>
          </p:cNvPicPr>
          <p:nvPr/>
        </p:nvPicPr>
        <p:blipFill>
          <a:blip r:embed="rId4"/>
          <a:stretch>
            <a:fillRect/>
          </a:stretch>
        </p:blipFill>
        <p:spPr>
          <a:xfrm>
            <a:off x="1940449" y="3911459"/>
            <a:ext cx="283464" cy="283464"/>
          </a:xfrm>
          <a:prstGeom prst="rect">
            <a:avLst/>
          </a:prstGeom>
        </p:spPr>
      </p:pic>
      <p:sp>
        <p:nvSpPr>
          <p:cNvPr id="21" name="Text 15"/>
          <p:cNvSpPr txBox="1"/>
          <p:nvPr/>
        </p:nvSpPr>
        <p:spPr>
          <a:xfrm>
            <a:off x="756301" y="3806303"/>
            <a:ext cx="950976" cy="246888"/>
          </a:xfrm>
          <a:prstGeom prst="rect">
            <a:avLst/>
          </a:prstGeom>
          <a:noFill/>
          <a:ln/>
        </p:spPr>
        <p:txBody>
          <a:bodyPr wrap="square" lIns="0" tIns="0" rIns="0" bIns="0" rtlCol="0" anchor="t"/>
          <a:lstStyle/>
          <a:p>
            <a:pPr algn="r" indent="0" marL="0">
              <a:buNone/>
            </a:pPr>
            <a:r>
              <a:rPr lang="en-US" sz="1100" b="1" dirty="0">
                <a:solidFill>
                  <a:srgbClr val="1A2B3C"/>
                </a:solidFill>
                <a:latin typeface="Arial" pitchFamily="34" charset="0"/>
                <a:ea typeface="Arial" pitchFamily="34" charset="-122"/>
                <a:cs typeface="Arial" pitchFamily="34" charset="-120"/>
              </a:rPr>
              <a:t>4 Actuate</a:t>
            </a:r>
            <a:endParaRPr lang="en-US" sz="1100" dirty="0"/>
          </a:p>
        </p:txBody>
      </p:sp>
      <p:sp>
        <p:nvSpPr>
          <p:cNvPr id="22" name="Text 16"/>
          <p:cNvSpPr txBox="1"/>
          <p:nvPr/>
        </p:nvSpPr>
        <p:spPr>
          <a:xfrm>
            <a:off x="756301" y="4044047"/>
            <a:ext cx="950976" cy="228600"/>
          </a:xfrm>
          <a:prstGeom prst="rect">
            <a:avLst/>
          </a:prstGeom>
          <a:noFill/>
          <a:ln/>
        </p:spPr>
        <p:txBody>
          <a:bodyPr wrap="square" lIns="0" tIns="0" rIns="0" bIns="0" rtlCol="0" anchor="t"/>
          <a:lstStyle/>
          <a:p>
            <a:pPr algn="r" indent="0" marL="0">
              <a:buNone/>
            </a:pPr>
            <a:r>
              <a:rPr lang="en-US" sz="950" dirty="0">
                <a:solidFill>
                  <a:srgbClr val="5A6B7D"/>
                </a:solidFill>
                <a:latin typeface="Calibri" pitchFamily="34" charset="0"/>
                <a:ea typeface="Calibri" pitchFamily="34" charset="-122"/>
                <a:cs typeface="Calibri" pitchFamily="34" charset="-120"/>
              </a:rPr>
              <a:t>RESTCONF 2PC</a:t>
            </a:r>
            <a:endParaRPr lang="en-US" sz="950" dirty="0"/>
          </a:p>
        </p:txBody>
      </p:sp>
      <p:sp>
        <p:nvSpPr>
          <p:cNvPr id="23" name="Shape 17"/>
          <p:cNvSpPr/>
          <p:nvPr/>
        </p:nvSpPr>
        <p:spPr>
          <a:xfrm>
            <a:off x="1333671" y="2338465"/>
            <a:ext cx="566928" cy="566928"/>
          </a:xfrm>
          <a:prstGeom prst="ellipse">
            <a:avLst/>
          </a:prstGeom>
          <a:solidFill>
            <a:srgbClr val="14304F"/>
          </a:solidFill>
          <a:ln w="12700">
            <a:solidFill>
              <a:srgbClr val="14304F"/>
            </a:solidFill>
            <a:prstDash val="solid"/>
          </a:ln>
        </p:spPr>
      </p:sp>
      <p:pic>
        <p:nvPicPr>
          <p:cNvPr id="24" name="Image 4" descr="preencoded.png">    </p:cNvPr>
          <p:cNvPicPr>
            <a:picLocks noChangeAspect="1"/>
          </p:cNvPicPr>
          <p:nvPr/>
        </p:nvPicPr>
        <p:blipFill>
          <a:blip r:embed="rId5"/>
          <a:stretch>
            <a:fillRect/>
          </a:stretch>
        </p:blipFill>
        <p:spPr>
          <a:xfrm>
            <a:off x="1475403" y="2480197"/>
            <a:ext cx="283464" cy="283464"/>
          </a:xfrm>
          <a:prstGeom prst="rect">
            <a:avLst/>
          </a:prstGeom>
        </p:spPr>
      </p:pic>
      <p:sp>
        <p:nvSpPr>
          <p:cNvPr id="25" name="Text 18"/>
          <p:cNvSpPr txBox="1"/>
          <p:nvPr/>
        </p:nvSpPr>
        <p:spPr>
          <a:xfrm>
            <a:off x="291255" y="2375041"/>
            <a:ext cx="950976" cy="246888"/>
          </a:xfrm>
          <a:prstGeom prst="rect">
            <a:avLst/>
          </a:prstGeom>
          <a:noFill/>
          <a:ln/>
        </p:spPr>
        <p:txBody>
          <a:bodyPr wrap="square" lIns="0" tIns="0" rIns="0" bIns="0" rtlCol="0" anchor="t"/>
          <a:lstStyle/>
          <a:p>
            <a:pPr algn="r" indent="0" marL="0">
              <a:buNone/>
            </a:pPr>
            <a:r>
              <a:rPr lang="en-US" sz="1100" b="1" dirty="0">
                <a:solidFill>
                  <a:srgbClr val="1A2B3C"/>
                </a:solidFill>
                <a:latin typeface="Arial" pitchFamily="34" charset="0"/>
                <a:ea typeface="Arial" pitchFamily="34" charset="-122"/>
                <a:cs typeface="Arial" pitchFamily="34" charset="-120"/>
              </a:rPr>
              <a:t>5 Monitor</a:t>
            </a:r>
            <a:endParaRPr lang="en-US" sz="1100" dirty="0"/>
          </a:p>
        </p:txBody>
      </p:sp>
      <p:sp>
        <p:nvSpPr>
          <p:cNvPr id="26" name="Text 19"/>
          <p:cNvSpPr txBox="1"/>
          <p:nvPr/>
        </p:nvSpPr>
        <p:spPr>
          <a:xfrm>
            <a:off x="291255" y="2612785"/>
            <a:ext cx="950976" cy="228600"/>
          </a:xfrm>
          <a:prstGeom prst="rect">
            <a:avLst/>
          </a:prstGeom>
          <a:noFill/>
          <a:ln/>
        </p:spPr>
        <p:txBody>
          <a:bodyPr wrap="square" lIns="0" tIns="0" rIns="0" bIns="0" rtlCol="0" anchor="t"/>
          <a:lstStyle/>
          <a:p>
            <a:pPr algn="r" indent="0" marL="0">
              <a:buNone/>
            </a:pPr>
            <a:r>
              <a:rPr lang="en-US" sz="950" dirty="0">
                <a:solidFill>
                  <a:srgbClr val="5A6B7D"/>
                </a:solidFill>
                <a:latin typeface="Calibri" pitchFamily="34" charset="0"/>
                <a:ea typeface="Calibri" pitchFamily="34" charset="-122"/>
                <a:cs typeface="Calibri" pitchFamily="34" charset="-120"/>
              </a:rPr>
              <a:t>live telemetry</a:t>
            </a:r>
            <a:endParaRPr lang="en-US" sz="950" dirty="0"/>
          </a:p>
        </p:txBody>
      </p:sp>
      <p:sp>
        <p:nvSpPr>
          <p:cNvPr id="27" name="Text 20"/>
          <p:cNvSpPr txBox="1"/>
          <p:nvPr/>
        </p:nvSpPr>
        <p:spPr>
          <a:xfrm>
            <a:off x="5394960" y="1234440"/>
            <a:ext cx="3291840" cy="274320"/>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Where the ~2 s go</a:t>
            </a:r>
            <a:endParaRPr lang="en-US" sz="1250" dirty="0"/>
          </a:p>
        </p:txBody>
      </p:sp>
      <p:sp>
        <p:nvSpPr>
          <p:cNvPr id="28" name="Shape 21"/>
          <p:cNvSpPr/>
          <p:nvPr/>
        </p:nvSpPr>
        <p:spPr>
          <a:xfrm>
            <a:off x="5394960" y="1645920"/>
            <a:ext cx="1720735" cy="384048"/>
          </a:xfrm>
          <a:prstGeom prst="rect">
            <a:avLst/>
          </a:prstGeom>
          <a:solidFill>
            <a:srgbClr val="E8912D"/>
          </a:solidFill>
          <a:ln w="12700">
            <a:solidFill>
              <a:srgbClr val="FFFFFF"/>
            </a:solidFill>
            <a:prstDash val="solid"/>
          </a:ln>
        </p:spPr>
      </p:sp>
      <p:sp>
        <p:nvSpPr>
          <p:cNvPr id="29" name="Shape 22"/>
          <p:cNvSpPr/>
          <p:nvPr/>
        </p:nvSpPr>
        <p:spPr>
          <a:xfrm>
            <a:off x="7115695" y="1645920"/>
            <a:ext cx="1122218" cy="384048"/>
          </a:xfrm>
          <a:prstGeom prst="rect">
            <a:avLst/>
          </a:prstGeom>
          <a:solidFill>
            <a:srgbClr val="0FA3B1"/>
          </a:solidFill>
          <a:ln w="12700">
            <a:solidFill>
              <a:srgbClr val="0FA3B1"/>
            </a:solidFill>
            <a:prstDash val="solid"/>
          </a:ln>
        </p:spPr>
      </p:sp>
      <p:sp>
        <p:nvSpPr>
          <p:cNvPr id="30" name="Shape 23"/>
          <p:cNvSpPr/>
          <p:nvPr/>
        </p:nvSpPr>
        <p:spPr>
          <a:xfrm>
            <a:off x="8237913" y="1645920"/>
            <a:ext cx="448887" cy="384048"/>
          </a:xfrm>
          <a:prstGeom prst="rect">
            <a:avLst/>
          </a:prstGeom>
          <a:solidFill>
            <a:srgbClr val="7CCAD2"/>
          </a:solidFill>
          <a:ln w="12700">
            <a:solidFill>
              <a:srgbClr val="7CCAD2"/>
            </a:solidFill>
            <a:prstDash val="solid"/>
          </a:ln>
        </p:spPr>
      </p:sp>
      <p:sp>
        <p:nvSpPr>
          <p:cNvPr id="31" name="Text 24"/>
          <p:cNvSpPr txBox="1"/>
          <p:nvPr/>
        </p:nvSpPr>
        <p:spPr>
          <a:xfrm>
            <a:off x="5394960" y="1645920"/>
            <a:ext cx="1720735"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1.15 s</a:t>
            </a:r>
            <a:endParaRPr lang="en-US" sz="1100" dirty="0"/>
          </a:p>
        </p:txBody>
      </p:sp>
      <p:sp>
        <p:nvSpPr>
          <p:cNvPr id="32" name="Text 25"/>
          <p:cNvSpPr txBox="1"/>
          <p:nvPr/>
        </p:nvSpPr>
        <p:spPr>
          <a:xfrm>
            <a:off x="8237913" y="1645920"/>
            <a:ext cx="448887"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+0.3</a:t>
            </a:r>
            <a:endParaRPr lang="en-US" sz="900" dirty="0"/>
          </a:p>
        </p:txBody>
      </p:sp>
      <p:sp>
        <p:nvSpPr>
          <p:cNvPr id="33" name="Text 26"/>
          <p:cNvSpPr txBox="1"/>
          <p:nvPr/>
        </p:nvSpPr>
        <p:spPr>
          <a:xfrm>
            <a:off x="7115695" y="1645920"/>
            <a:ext cx="112221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0.75 s</a:t>
            </a:r>
            <a:endParaRPr lang="en-US" sz="1050" dirty="0"/>
          </a:p>
        </p:txBody>
      </p:sp>
      <p:sp>
        <p:nvSpPr>
          <p:cNvPr id="34" name="Text 27"/>
          <p:cNvSpPr txBox="1"/>
          <p:nvPr/>
        </p:nvSpPr>
        <p:spPr>
          <a:xfrm>
            <a:off x="5394960" y="2084832"/>
            <a:ext cx="1720735" cy="228600"/>
          </a:xfrm>
          <a:prstGeom prst="rect">
            <a:avLst/>
          </a:prstGeom>
          <a:noFill/>
          <a:ln/>
        </p:spPr>
        <p:txBody>
          <a:bodyPr wrap="square" lIns="0" tIns="0" rIns="0" bIns="0" rtlCol="0" anchor="t"/>
          <a:lstStyle/>
          <a:p>
            <a:pPr indent="0" marL="0">
              <a:buNone/>
            </a:pPr>
            <a:r>
              <a:rPr lang="en-US" sz="950" dirty="0">
                <a:solidFill>
                  <a:srgbClr val="5A6B7D"/>
                </a:solidFill>
                <a:latin typeface="Calibri" pitchFamily="34" charset="0"/>
                <a:ea typeface="Calibri" pitchFamily="34" charset="-122"/>
                <a:cs typeface="Calibri" pitchFamily="34" charset="-120"/>
              </a:rPr>
              <a:t>ns-3 what-if (Tier 4)</a:t>
            </a:r>
            <a:endParaRPr lang="en-US" sz="950" dirty="0"/>
          </a:p>
        </p:txBody>
      </p:sp>
      <p:sp>
        <p:nvSpPr>
          <p:cNvPr id="35" name="Text 28"/>
          <p:cNvSpPr txBox="1"/>
          <p:nvPr/>
        </p:nvSpPr>
        <p:spPr>
          <a:xfrm>
            <a:off x="7115695" y="2084832"/>
            <a:ext cx="1571105" cy="228600"/>
          </a:xfrm>
          <a:prstGeom prst="rect">
            <a:avLst/>
          </a:prstGeom>
          <a:noFill/>
          <a:ln/>
        </p:spPr>
        <p:txBody>
          <a:bodyPr wrap="square" lIns="0" tIns="0" rIns="0" bIns="0" rtlCol="0" anchor="t"/>
          <a:lstStyle/>
          <a:p>
            <a:pPr algn="r" indent="0" marL="0">
              <a:buNone/>
            </a:pPr>
            <a:r>
              <a:rPr lang="en-US" sz="950" dirty="0">
                <a:solidFill>
                  <a:srgbClr val="5A6B7D"/>
                </a:solidFill>
                <a:latin typeface="Calibri" pitchFamily="34" charset="0"/>
                <a:ea typeface="Calibri" pitchFamily="34" charset="-122"/>
                <a:cs typeface="Calibri" pitchFamily="34" charset="-120"/>
              </a:rPr>
              <a:t>reconcile · verify · commit</a:t>
            </a:r>
            <a:endParaRPr lang="en-US" sz="950" dirty="0"/>
          </a:p>
        </p:txBody>
      </p:sp>
      <p:sp>
        <p:nvSpPr>
          <p:cNvPr id="36" name="Shape 29"/>
          <p:cNvSpPr/>
          <p:nvPr/>
        </p:nvSpPr>
        <p:spPr>
          <a:xfrm>
            <a:off x="5394960" y="2697480"/>
            <a:ext cx="3291840" cy="960120"/>
          </a:xfrm>
          <a:prstGeom prst="roundRect">
            <a:avLst>
              <a:gd name="adj" fmla="val 7619"/>
            </a:avLst>
          </a:prstGeom>
          <a:solidFill>
            <a:srgbClr val="F2F5F8"/>
          </a:solidFill>
          <a:ln w="12700">
            <a:solidFill>
              <a:srgbClr val="F2F5F8"/>
            </a:solidFill>
            <a:prstDash val="solid"/>
          </a:ln>
        </p:spPr>
      </p:sp>
      <p:sp>
        <p:nvSpPr>
          <p:cNvPr id="37" name="Text 30"/>
          <p:cNvSpPr txBox="1"/>
          <p:nvPr/>
        </p:nvSpPr>
        <p:spPr>
          <a:xfrm>
            <a:off x="5577840" y="2770632"/>
            <a:ext cx="2926080" cy="502920"/>
          </a:xfrm>
          <a:prstGeom prst="rect">
            <a:avLst/>
          </a:prstGeom>
          <a:noFill/>
          <a:ln/>
        </p:spPr>
        <p:txBody>
          <a:bodyPr wrap="square" lIns="0" tIns="0" rIns="0" bIns="0" rtlCol="0" anchor="ctr"/>
          <a:lstStyle/>
          <a:p>
            <a:pPr indent="0" marL="0">
              <a:buNone/>
            </a:pPr>
            <a:r>
              <a:rPr lang="en-US" sz="2600" b="1" dirty="0">
                <a:solidFill>
                  <a:srgbClr val="9AA7B4"/>
                </a:solidFill>
                <a:latin typeface="Arial" pitchFamily="34" charset="0"/>
                <a:ea typeface="Arial" pitchFamily="34" charset="-122"/>
                <a:cs typeface="Arial" pitchFamily="34" charset="-120"/>
              </a:rPr>
              <a:t>hours</a:t>
            </a:r>
            <a:endParaRPr lang="en-US" sz="2600" dirty="0"/>
          </a:p>
        </p:txBody>
      </p:sp>
      <p:sp>
        <p:nvSpPr>
          <p:cNvPr id="38" name="Text 31"/>
          <p:cNvSpPr txBox="1"/>
          <p:nvPr/>
        </p:nvSpPr>
        <p:spPr>
          <a:xfrm>
            <a:off x="5577840" y="3291840"/>
            <a:ext cx="2926080" cy="274320"/>
          </a:xfrm>
          <a:prstGeom prst="rect">
            <a:avLst/>
          </a:prstGeom>
          <a:noFill/>
          <a:ln/>
        </p:spPr>
        <p:txBody>
          <a:bodyPr wrap="square" lIns="0" tIns="0" rIns="0" bIns="0" rtlCol="0" anchor="t"/>
          <a:lstStyle/>
          <a:p>
            <a:pPr indent="0" marL="0">
              <a:buNone/>
            </a:pPr>
            <a:r>
              <a:rPr lang="en-US" sz="1100" dirty="0">
                <a:solidFill>
                  <a:srgbClr val="1A2B3C"/>
                </a:solidFill>
                <a:latin typeface="Calibri" pitchFamily="34" charset="0"/>
                <a:ea typeface="Calibri" pitchFamily="34" charset="-122"/>
                <a:cs typeface="Calibri" pitchFamily="34" charset="-120"/>
              </a:rPr>
              <a:t>manual CLI troubleshooting</a:t>
            </a:r>
            <a:endParaRPr lang="en-US" sz="1100" dirty="0"/>
          </a:p>
        </p:txBody>
      </p:sp>
      <p:sp>
        <p:nvSpPr>
          <p:cNvPr id="39" name="Shape 32"/>
          <p:cNvSpPr/>
          <p:nvPr/>
        </p:nvSpPr>
        <p:spPr>
          <a:xfrm>
            <a:off x="5394960" y="3794760"/>
            <a:ext cx="3291840" cy="960120"/>
          </a:xfrm>
          <a:prstGeom prst="roundRect">
            <a:avLst>
              <a:gd name="adj" fmla="val 7619"/>
            </a:avLst>
          </a:prstGeom>
          <a:solidFill>
            <a:srgbClr val="F2F5F8"/>
          </a:solidFill>
          <a:ln w="12700">
            <a:solidFill>
              <a:srgbClr val="F2F5F8"/>
            </a:solidFill>
            <a:prstDash val="solid"/>
          </a:ln>
        </p:spPr>
      </p:sp>
      <p:sp>
        <p:nvSpPr>
          <p:cNvPr id="40" name="Text 33"/>
          <p:cNvSpPr txBox="1"/>
          <p:nvPr/>
        </p:nvSpPr>
        <p:spPr>
          <a:xfrm>
            <a:off x="5577840" y="3867912"/>
            <a:ext cx="2926080" cy="502920"/>
          </a:xfrm>
          <a:prstGeom prst="rect">
            <a:avLst/>
          </a:prstGeom>
          <a:noFill/>
          <a:ln/>
        </p:spPr>
        <p:txBody>
          <a:bodyPr wrap="square" lIns="0" tIns="0" rIns="0" bIns="0" rtlCol="0" anchor="ctr"/>
          <a:lstStyle/>
          <a:p>
            <a:pPr indent="0" marL="0">
              <a:buNone/>
            </a:pPr>
            <a:r>
              <a:rPr lang="en-US" sz="2600" b="1" dirty="0">
                <a:solidFill>
                  <a:srgbClr val="0FA3B1"/>
                </a:solidFill>
                <a:latin typeface="Arial" pitchFamily="34" charset="0"/>
                <a:ea typeface="Arial" pitchFamily="34" charset="-122"/>
                <a:cs typeface="Arial" pitchFamily="34" charset="-120"/>
              </a:rPr>
              <a:t>1.9–2.2 s</a:t>
            </a:r>
            <a:endParaRPr lang="en-US" sz="2600" dirty="0"/>
          </a:p>
        </p:txBody>
      </p:sp>
      <p:sp>
        <p:nvSpPr>
          <p:cNvPr id="41" name="Text 34"/>
          <p:cNvSpPr txBox="1"/>
          <p:nvPr/>
        </p:nvSpPr>
        <p:spPr>
          <a:xfrm>
            <a:off x="5577840" y="4389120"/>
            <a:ext cx="2926080" cy="274320"/>
          </a:xfrm>
          <a:prstGeom prst="rect">
            <a:avLst/>
          </a:prstGeom>
          <a:noFill/>
          <a:ln/>
        </p:spPr>
        <p:txBody>
          <a:bodyPr wrap="square" lIns="0" tIns="0" rIns="0" bIns="0" rtlCol="0" anchor="t"/>
          <a:lstStyle/>
          <a:p>
            <a:pPr indent="0" marL="0">
              <a:buNone/>
            </a:pPr>
            <a:r>
              <a:rPr lang="en-US" sz="1100" dirty="0">
                <a:solidFill>
                  <a:srgbClr val="1A2B3C"/>
                </a:solidFill>
                <a:latin typeface="Calibri" pitchFamily="34" charset="0"/>
                <a:ea typeface="Calibri" pitchFamily="34" charset="-122"/>
                <a:cs typeface="Calibri" pitchFamily="34" charset="-120"/>
              </a:rPr>
              <a:t>autonomous closed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0FA3B1"/>
                </a:solidFill>
                <a:latin typeface="Arial" pitchFamily="34" charset="0"/>
                <a:ea typeface="Arial" pitchFamily="34" charset="-122"/>
                <a:cs typeface="Arial" pitchFamily="34" charset="-120"/>
              </a:rPr>
              <a:t>SUMMARY</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What the adapters deliver</a:t>
            </a:r>
            <a:endParaRPr lang="en-US" sz="2600" dirty="0"/>
          </a:p>
        </p:txBody>
      </p:sp>
      <p:sp>
        <p:nvSpPr>
          <p:cNvPr id="4" name="Shape 2"/>
          <p:cNvSpPr/>
          <p:nvPr/>
        </p:nvSpPr>
        <p:spPr>
          <a:xfrm>
            <a:off x="457200" y="1280160"/>
            <a:ext cx="502920" cy="502920"/>
          </a:xfrm>
          <a:prstGeom prst="ellipse">
            <a:avLst/>
          </a:prstGeom>
          <a:solidFill>
            <a:srgbClr val="0FA3B1"/>
          </a:solidFill>
          <a:ln w="12700">
            <a:solidFill>
              <a:srgbClr val="0FA3B1"/>
            </a:solidFill>
            <a:prstDash val="solid"/>
          </a:ln>
        </p:spPr>
      </p:sp>
      <p:pic>
        <p:nvPicPr>
          <p:cNvPr id="5" name="Image 0" descr="preencoded.png">    </p:cNvPr>
          <p:cNvPicPr>
            <a:picLocks noChangeAspect="1"/>
          </p:cNvPicPr>
          <p:nvPr/>
        </p:nvPicPr>
        <p:blipFill>
          <a:blip r:embed="rId1"/>
          <a:stretch>
            <a:fillRect/>
          </a:stretch>
        </p:blipFill>
        <p:spPr>
          <a:xfrm>
            <a:off x="582930" y="1405890"/>
            <a:ext cx="251460" cy="251460"/>
          </a:xfrm>
          <a:prstGeom prst="rect">
            <a:avLst/>
          </a:prstGeom>
        </p:spPr>
      </p:pic>
      <p:sp>
        <p:nvSpPr>
          <p:cNvPr id="6" name="Text 3"/>
          <p:cNvSpPr txBox="1"/>
          <p:nvPr/>
        </p:nvSpPr>
        <p:spPr>
          <a:xfrm>
            <a:off x="457200" y="1901952"/>
            <a:ext cx="256032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Zero-risk what-if</a:t>
            </a:r>
            <a:endParaRPr lang="en-US" sz="1300" dirty="0"/>
          </a:p>
        </p:txBody>
      </p:sp>
      <p:sp>
        <p:nvSpPr>
          <p:cNvPr id="7" name="Text 4"/>
          <p:cNvSpPr txBox="1"/>
          <p:nvPr/>
        </p:nvSpPr>
        <p:spPr>
          <a:xfrm>
            <a:off x="457200" y="2194560"/>
            <a:ext cx="2560320" cy="685800"/>
          </a:xfrm>
          <a:prstGeom prst="rect">
            <a:avLst/>
          </a:prstGeom>
          <a:noFill/>
          <a:ln/>
        </p:spPr>
        <p:txBody>
          <a:bodyPr wrap="square" lIns="0" tIns="0" rIns="0" bIns="0" rtlCol="0" anchor="t"/>
          <a:lstStyle/>
          <a:p>
            <a:pPr indent="0" marL="0">
              <a:buNone/>
            </a:pPr>
            <a:r>
              <a:rPr lang="en-US" sz="1050" dirty="0">
                <a:solidFill>
                  <a:srgbClr val="C9D6E3"/>
                </a:solidFill>
                <a:latin typeface="Calibri" pitchFamily="34" charset="0"/>
                <a:ea typeface="Calibri" pitchFamily="34" charset="-122"/>
                <a:cs typeface="Calibri" pitchFamily="34" charset="-120"/>
              </a:rPr>
              <a:t>Surges, rain fade and fibre cuts are tested in a µs-accurate twin, never on live circuits.</a:t>
            </a:r>
            <a:endParaRPr lang="en-US" sz="1050" dirty="0"/>
          </a:p>
        </p:txBody>
      </p:sp>
      <p:sp>
        <p:nvSpPr>
          <p:cNvPr id="8" name="Shape 5"/>
          <p:cNvSpPr/>
          <p:nvPr/>
        </p:nvSpPr>
        <p:spPr>
          <a:xfrm>
            <a:off x="3291840" y="1280160"/>
            <a:ext cx="502920" cy="502920"/>
          </a:xfrm>
          <a:prstGeom prst="ellipse">
            <a:avLst/>
          </a:prstGeom>
          <a:solidFill>
            <a:srgbClr val="7C5CFF"/>
          </a:solidFill>
          <a:ln w="12700">
            <a:solidFill>
              <a:srgbClr val="7C5CFF"/>
            </a:solidFill>
            <a:prstDash val="solid"/>
          </a:ln>
        </p:spPr>
      </p:sp>
      <p:pic>
        <p:nvPicPr>
          <p:cNvPr id="9" name="Image 1" descr="preencoded.png">    </p:cNvPr>
          <p:cNvPicPr>
            <a:picLocks noChangeAspect="1"/>
          </p:cNvPicPr>
          <p:nvPr/>
        </p:nvPicPr>
        <p:blipFill>
          <a:blip r:embed="rId2"/>
          <a:stretch>
            <a:fillRect/>
          </a:stretch>
        </p:blipFill>
        <p:spPr>
          <a:xfrm>
            <a:off x="3417570" y="1405890"/>
            <a:ext cx="251460" cy="251460"/>
          </a:xfrm>
          <a:prstGeom prst="rect">
            <a:avLst/>
          </a:prstGeom>
        </p:spPr>
      </p:pic>
      <p:sp>
        <p:nvSpPr>
          <p:cNvPr id="10" name="Text 6"/>
          <p:cNvSpPr txBox="1"/>
          <p:nvPr/>
        </p:nvSpPr>
        <p:spPr>
          <a:xfrm>
            <a:off x="3291840" y="1901952"/>
            <a:ext cx="256032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Multi-vendor, open</a:t>
            </a:r>
            <a:endParaRPr lang="en-US" sz="1300" dirty="0"/>
          </a:p>
        </p:txBody>
      </p:sp>
      <p:sp>
        <p:nvSpPr>
          <p:cNvPr id="11" name="Text 7"/>
          <p:cNvSpPr txBox="1"/>
          <p:nvPr/>
        </p:nvSpPr>
        <p:spPr>
          <a:xfrm>
            <a:off x="3291840" y="2194560"/>
            <a:ext cx="2560320" cy="685800"/>
          </a:xfrm>
          <a:prstGeom prst="rect">
            <a:avLst/>
          </a:prstGeom>
          <a:noFill/>
          <a:ln/>
        </p:spPr>
        <p:txBody>
          <a:bodyPr wrap="square" lIns="0" tIns="0" rIns="0" bIns="0" rtlCol="0" anchor="t"/>
          <a:lstStyle/>
          <a:p>
            <a:pPr indent="0" marL="0">
              <a:buNone/>
            </a:pPr>
            <a:r>
              <a:rPr lang="en-US" sz="1050" dirty="0">
                <a:solidFill>
                  <a:srgbClr val="C9D6E3"/>
                </a:solidFill>
                <a:latin typeface="Calibri" pitchFamily="34" charset="0"/>
                <a:ea typeface="Calibri" pitchFamily="34" charset="-122"/>
                <a:cs typeface="Calibri" pitchFamily="34" charset="-120"/>
              </a:rPr>
              <a:t>TMF921, 3GPP TS 28.561, ITU-T Y.3090, RESTCONF/YANG: no proprietary lock-in.</a:t>
            </a:r>
            <a:endParaRPr lang="en-US" sz="1050" dirty="0"/>
          </a:p>
        </p:txBody>
      </p:sp>
      <p:sp>
        <p:nvSpPr>
          <p:cNvPr id="12" name="Shape 8"/>
          <p:cNvSpPr/>
          <p:nvPr/>
        </p:nvSpPr>
        <p:spPr>
          <a:xfrm>
            <a:off x="6126480" y="1280160"/>
            <a:ext cx="502920" cy="502920"/>
          </a:xfrm>
          <a:prstGeom prst="ellipse">
            <a:avLst/>
          </a:prstGeom>
          <a:solidFill>
            <a:srgbClr val="E8912D"/>
          </a:solidFill>
          <a:ln w="12700">
            <a:solidFill>
              <a:srgbClr val="E8912D"/>
            </a:solidFill>
            <a:prstDash val="solid"/>
          </a:ln>
        </p:spPr>
      </p:sp>
      <p:pic>
        <p:nvPicPr>
          <p:cNvPr id="13" name="Image 2" descr="preencoded.png">    </p:cNvPr>
          <p:cNvPicPr>
            <a:picLocks noChangeAspect="1"/>
          </p:cNvPicPr>
          <p:nvPr/>
        </p:nvPicPr>
        <p:blipFill>
          <a:blip r:embed="rId3"/>
          <a:stretch>
            <a:fillRect/>
          </a:stretch>
        </p:blipFill>
        <p:spPr>
          <a:xfrm>
            <a:off x="6252210" y="1405890"/>
            <a:ext cx="251460" cy="251460"/>
          </a:xfrm>
          <a:prstGeom prst="rect">
            <a:avLst/>
          </a:prstGeom>
        </p:spPr>
      </p:pic>
      <p:sp>
        <p:nvSpPr>
          <p:cNvPr id="14" name="Text 9"/>
          <p:cNvSpPr txBox="1"/>
          <p:nvPr/>
        </p:nvSpPr>
        <p:spPr>
          <a:xfrm>
            <a:off x="6126480" y="1901952"/>
            <a:ext cx="256032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Seconds-scale self-healing</a:t>
            </a:r>
            <a:endParaRPr lang="en-US" sz="1300" dirty="0"/>
          </a:p>
        </p:txBody>
      </p:sp>
      <p:sp>
        <p:nvSpPr>
          <p:cNvPr id="15" name="Text 10"/>
          <p:cNvSpPr txBox="1"/>
          <p:nvPr/>
        </p:nvSpPr>
        <p:spPr>
          <a:xfrm>
            <a:off x="6126480" y="2194560"/>
            <a:ext cx="2560320" cy="685800"/>
          </a:xfrm>
          <a:prstGeom prst="rect">
            <a:avLst/>
          </a:prstGeom>
          <a:noFill/>
          <a:ln/>
        </p:spPr>
        <p:txBody>
          <a:bodyPr wrap="square" lIns="0" tIns="0" rIns="0" bIns="0" rtlCol="0" anchor="t"/>
          <a:lstStyle/>
          <a:p>
            <a:pPr indent="0" marL="0">
              <a:buNone/>
            </a:pPr>
            <a:r>
              <a:rPr lang="en-US" sz="1050" dirty="0">
                <a:solidFill>
                  <a:srgbClr val="C9D6E3"/>
                </a:solidFill>
                <a:latin typeface="Calibri" pitchFamily="34" charset="0"/>
                <a:ea typeface="Calibri" pitchFamily="34" charset="-122"/>
                <a:cs typeface="Calibri" pitchFamily="34" charset="-120"/>
              </a:rPr>
              <a:t>Intent to verified change in ≈2 s, replacing hours of manual CLI work.</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291840"/>
          <a:ext cx="8229600" cy="914400"/>
        </p:xfrm>
        <a:graphic>
          <a:graphicData uri="http://schemas.openxmlformats.org/drawingml/2006/table">
            <a:tbl>
              <a:tblPr/>
              <a:tblGrid>
                <a:gridCol w="1371600"/>
                <a:gridCol w="4846320"/>
                <a:gridCol w="2011680"/>
              </a:tblGrid>
              <a:tr h="274320">
                <a:tc>
                  <a:txBody>
                    <a:bodyPr/>
                    <a:lstStyle/>
                    <a:p>
                      <a:pPr indent="0" marL="0">
                        <a:buNone/>
                      </a:pPr>
                      <a:r>
                        <a:rPr lang="en-US" sz="900" b="1" dirty="0">
                          <a:solidFill>
                            <a:srgbClr val="8FA3B8"/>
                          </a:solidFill>
                          <a:latin typeface="Arial" pitchFamily="34" charset="0"/>
                          <a:ea typeface="Arial" pitchFamily="34" charset="-122"/>
                          <a:cs typeface="Arial" pitchFamily="34" charset="-120"/>
                        </a:rPr>
                        <a:t>ADAPTER</a:t>
                      </a:r>
                      <a:endParaRPr lang="en-US" sz="900" dirty="0">
                        <a:latin typeface="Arial" charset="0"/>
                        <a:ea typeface="Arial" charset="0"/>
                        <a:cs typeface="Arial"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0B1D33"/>
                    </a:solidFill>
                  </a:tcPr>
                </a:tc>
                <a:tc>
                  <a:txBody>
                    <a:bodyPr/>
                    <a:lstStyle/>
                    <a:p>
                      <a:pPr indent="0" marL="0">
                        <a:buNone/>
                      </a:pPr>
                      <a:r>
                        <a:rPr lang="en-US" sz="900" b="1" dirty="0">
                          <a:solidFill>
                            <a:srgbClr val="8FA3B8"/>
                          </a:solidFill>
                          <a:latin typeface="Arial" pitchFamily="34" charset="0"/>
                          <a:ea typeface="Arial" pitchFamily="34" charset="-122"/>
                          <a:cs typeface="Arial" pitchFamily="34" charset="-120"/>
                        </a:rPr>
                        <a:t>TRANSLATES</a:t>
                      </a:r>
                      <a:endParaRPr lang="en-US" sz="900" dirty="0">
                        <a:latin typeface="Arial" charset="0"/>
                        <a:ea typeface="Arial" charset="0"/>
                        <a:cs typeface="Arial"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0B1D33"/>
                    </a:solidFill>
                  </a:tcPr>
                </a:tc>
                <a:tc>
                  <a:txBody>
                    <a:bodyPr/>
                    <a:lstStyle/>
                    <a:p>
                      <a:pPr indent="0" marL="0">
                        <a:buNone/>
                      </a:pPr>
                      <a:r>
                        <a:rPr lang="en-US" sz="900" b="1" dirty="0">
                          <a:solidFill>
                            <a:srgbClr val="8FA3B8"/>
                          </a:solidFill>
                          <a:latin typeface="Arial" pitchFamily="34" charset="0"/>
                          <a:ea typeface="Arial" pitchFamily="34" charset="-122"/>
                          <a:cs typeface="Arial" pitchFamily="34" charset="-120"/>
                        </a:rPr>
                        <a:t>STANDARD</a:t>
                      </a:r>
                      <a:endParaRPr lang="en-US" sz="900" dirty="0">
                        <a:latin typeface="Arial" charset="0"/>
                        <a:ea typeface="Arial" charset="0"/>
                        <a:cs typeface="Arial"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0B1D33"/>
                    </a:solidFill>
                  </a:tcPr>
                </a:tc>
              </a:tr>
              <a:tr h="384048">
                <a:tc>
                  <a:txBody>
                    <a:bodyPr/>
                    <a:lstStyle/>
                    <a:p>
                      <a:pPr indent="0" marL="0">
                        <a:buNone/>
                      </a:pPr>
                      <a:r>
                        <a:rPr lang="en-US" sz="1050" b="1" dirty="0">
                          <a:solidFill>
                            <a:srgbClr val="B8A8FF"/>
                          </a:solidFill>
                          <a:latin typeface="Calibri" pitchFamily="34" charset="0"/>
                          <a:ea typeface="Calibri" pitchFamily="34" charset="-122"/>
                          <a:cs typeface="Calibri" pitchFamily="34" charset="-120"/>
                        </a:rPr>
                        <a:t>① Intent</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Natural language / SLA bounds → TFS service &amp; CSPF requests</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TM Forum TMF921</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r>
              <a:tr h="384048">
                <a:tc>
                  <a:txBody>
                    <a:bodyPr/>
                    <a:lstStyle/>
                    <a:p>
                      <a:pPr indent="0" marL="0">
                        <a:buNone/>
                      </a:pPr>
                      <a:r>
                        <a:rPr lang="en-US" sz="1050" b="1" dirty="0">
                          <a:solidFill>
                            <a:srgbClr val="F5B96E"/>
                          </a:solidFill>
                          <a:latin typeface="Calibri" pitchFamily="34" charset="0"/>
                          <a:ea typeface="Calibri" pitchFamily="34" charset="-122"/>
                          <a:cs typeface="Calibri" pitchFamily="34" charset="-120"/>
                        </a:rPr>
                        <a:t>② Simulation</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Live TFS graph → scoped ns-3 run → µs traces</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TS 28.561 · Y.3092</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r>
              <a:tr h="384048">
                <a:tc>
                  <a:txBody>
                    <a:bodyPr/>
                    <a:lstStyle/>
                    <a:p>
                      <a:pPr indent="0" marL="0">
                        <a:buNone/>
                      </a:pPr>
                      <a:r>
                        <a:rPr lang="en-US" sz="1050" b="1" dirty="0">
                          <a:solidFill>
                            <a:srgbClr val="6FD3A4"/>
                          </a:solidFill>
                          <a:latin typeface="Calibri" pitchFamily="34" charset="0"/>
                          <a:ea typeface="Calibri" pitchFamily="34" charset="-122"/>
                          <a:cs typeface="Calibri" pitchFamily="34" charset="-120"/>
                        </a:rPr>
                        <a:t>③ Southbound</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Candidate diff → gated two-phase commit on MH-T261</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RFC 8040 / 7950</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Twin Adapters &amp; Standards</dc:title>
  <dc:subject>PptxGenJS Presentation</dc:subject>
  <dc:creator>PptxGenJS</dc:creator>
  <cp:lastModifiedBy>PptxGenJS</cp:lastModifiedBy>
  <cp:revision>1</cp:revision>
  <dcterms:created xsi:type="dcterms:W3CDTF">2026-09-30T07:22:48Z</dcterms:created>
  <dcterms:modified xsi:type="dcterms:W3CDTF">2026-09-30T07:22:48Z</dcterms:modified>
</cp:coreProperties>
</file>